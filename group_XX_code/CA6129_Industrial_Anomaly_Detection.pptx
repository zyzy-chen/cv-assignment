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956" autoAdjust="0"/>
  </p:normalViewPr>
  <p:slideViewPr>
    <p:cSldViewPr snapToGrid="0">
      <p:cViewPr varScale="1">
        <p:scale>
          <a:sx n="86" d="100"/>
          <a:sy n="86"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PaDiM</c:v>
          </c:tx>
          <c:spPr>
            <a:solidFill>
              <a:srgbClr val="3F729B"/>
            </a:solidFill>
          </c:spPr>
          <c:invertIfNegative val="0"/>
          <c:cat>
            <c:strRef>
              <c:f>'Chart Data'!$A$2:$A$7</c:f>
              <c:strCache>
                <c:ptCount val="6"/>
                <c:pt idx="0">
                  <c:v>bottle</c:v>
                </c:pt>
                <c:pt idx="1">
                  <c:v>cable</c:v>
                </c:pt>
                <c:pt idx="2">
                  <c:v>capsule</c:v>
                </c:pt>
                <c:pt idx="3">
                  <c:v>screw</c:v>
                </c:pt>
                <c:pt idx="4">
                  <c:v>tile</c:v>
                </c:pt>
                <c:pt idx="5">
                  <c:v>wood</c:v>
                </c:pt>
              </c:strCache>
            </c:strRef>
          </c:cat>
          <c:val>
            <c:numRef>
              <c:f>'Chart Data'!$B$2:$B$7</c:f>
              <c:numCache>
                <c:formatCode>0%</c:formatCode>
                <c:ptCount val="6"/>
                <c:pt idx="0">
                  <c:v>0.99470899470899998</c:v>
                </c:pt>
                <c:pt idx="1">
                  <c:v>0.795102448776</c:v>
                </c:pt>
                <c:pt idx="2">
                  <c:v>0.86105571067700004</c:v>
                </c:pt>
                <c:pt idx="3">
                  <c:v>0.67513834802200001</c:v>
                </c:pt>
                <c:pt idx="4">
                  <c:v>0.94552669552699997</c:v>
                </c:pt>
                <c:pt idx="5">
                  <c:v>0.98508771929799999</c:v>
                </c:pt>
              </c:numCache>
            </c:numRef>
          </c:val>
          <c:extLst>
            <c:ext xmlns:c16="http://schemas.microsoft.com/office/drawing/2014/chart" uri="{C3380CC4-5D6E-409C-BE32-E72D297353CC}">
              <c16:uniqueId val="{00000000-28C8-4A3D-AD28-9521DD45A363}"/>
            </c:ext>
          </c:extLst>
        </c:ser>
        <c:ser>
          <c:idx val="1"/>
          <c:order val="1"/>
          <c:tx>
            <c:v>PatchCore</c:v>
          </c:tx>
          <c:spPr>
            <a:solidFill>
              <a:srgbClr val="C77735"/>
            </a:solidFill>
          </c:spPr>
          <c:invertIfNegative val="0"/>
          <c:cat>
            <c:strRef>
              <c:f>'Chart Data'!$C$2:$C$7</c:f>
              <c:strCache>
                <c:ptCount val="6"/>
                <c:pt idx="0">
                  <c:v>bottle</c:v>
                </c:pt>
                <c:pt idx="1">
                  <c:v>cable</c:v>
                </c:pt>
                <c:pt idx="2">
                  <c:v>capsule</c:v>
                </c:pt>
                <c:pt idx="3">
                  <c:v>screw</c:v>
                </c:pt>
                <c:pt idx="4">
                  <c:v>tile</c:v>
                </c:pt>
                <c:pt idx="5">
                  <c:v>wood</c:v>
                </c:pt>
              </c:strCache>
            </c:strRef>
          </c:cat>
          <c:val>
            <c:numRef>
              <c:f>'Chart Data'!$D$2:$D$7</c:f>
              <c:numCache>
                <c:formatCode>0%</c:formatCode>
                <c:ptCount val="6"/>
                <c:pt idx="0">
                  <c:v>1</c:v>
                </c:pt>
                <c:pt idx="1">
                  <c:v>0.96420539730099997</c:v>
                </c:pt>
                <c:pt idx="2">
                  <c:v>0.95638877808800005</c:v>
                </c:pt>
                <c:pt idx="3">
                  <c:v>0.86807405889199996</c:v>
                </c:pt>
                <c:pt idx="4">
                  <c:v>0.99170274170299999</c:v>
                </c:pt>
                <c:pt idx="5">
                  <c:v>0.99064327485400006</c:v>
                </c:pt>
              </c:numCache>
            </c:numRef>
          </c:val>
          <c:extLst>
            <c:ext xmlns:c16="http://schemas.microsoft.com/office/drawing/2014/chart" uri="{C3380CC4-5D6E-409C-BE32-E72D297353CC}">
              <c16:uniqueId val="{00000001-28C8-4A3D-AD28-9521DD45A363}"/>
            </c:ext>
          </c:extLst>
        </c:ser>
        <c:dLbls>
          <c:showLegendKey val="0"/>
          <c:showVal val="0"/>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EE5EB"/>
            </a:solidFill>
          </a:ln>
        </c:spPr>
        <c:txPr>
          <a:bodyPr anchorCtr="1"/>
          <a:lstStyle/>
          <a:p>
            <a:pPr>
              <a:defRPr sz="1350">
                <a:solidFill>
                  <a:srgbClr val="586A7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EE5EB"/>
              </a:solidFill>
              <a:prstDash val="solid"/>
            </a:ln>
          </c:spPr>
        </c:majorGridlines>
        <c:numFmt formatCode="0%" sourceLinked="1"/>
        <c:majorTickMark val="none"/>
        <c:minorTickMark val="none"/>
        <c:tickLblPos val="nextTo"/>
        <c:spPr>
          <a:ln w="0">
            <a:noFill/>
          </a:ln>
        </c:spPr>
        <c:txPr>
          <a:bodyPr anchorCtr="1"/>
          <a:lstStyle/>
          <a:p>
            <a:pPr>
              <a:defRPr sz="1350">
                <a:solidFill>
                  <a:srgbClr val="586A79"/>
                </a:solidFill>
                <a:latin typeface="Arial"/>
                <a:ea typeface="Arial"/>
                <a:cs typeface="Arial"/>
              </a:defRPr>
            </a:pPr>
            <a:endParaRPr lang="zh-CN"/>
          </a:p>
        </c:txPr>
        <c:crossAx val="48650112"/>
        <c:crosses val="autoZero"/>
        <c:crossBetween val="between"/>
        <c:majorUnit val="0.2"/>
      </c:valAx>
      <c:spPr>
        <a:solidFill>
          <a:srgbClr val="FFFFFF"/>
        </a:solidFill>
        <a:ln w="0">
          <a:noFill/>
        </a:ln>
      </c:spPr>
    </c:plotArea>
    <c:legend>
      <c:legendPos val="b"/>
      <c:overlay val="0"/>
      <c:txPr>
        <a:bodyPr anchorCtr="1"/>
        <a:lstStyle/>
        <a:p>
          <a:pPr>
            <a:defRPr sz="1500">
              <a:solidFill>
                <a:srgbClr val="173047"/>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PaDiM</c:v>
          </c:tx>
          <c:spPr>
            <a:solidFill>
              <a:srgbClr val="3F729B"/>
            </a:solidFill>
          </c:spPr>
          <c:invertIfNegative val="0"/>
          <c:cat>
            <c:strRef>
              <c:f>'Chart Data'!$A$2:$A$7</c:f>
              <c:strCache>
                <c:ptCount val="6"/>
                <c:pt idx="0">
                  <c:v>bottle</c:v>
                </c:pt>
                <c:pt idx="1">
                  <c:v>cable</c:v>
                </c:pt>
                <c:pt idx="2">
                  <c:v>capsule</c:v>
                </c:pt>
                <c:pt idx="3">
                  <c:v>screw</c:v>
                </c:pt>
                <c:pt idx="4">
                  <c:v>tile</c:v>
                </c:pt>
                <c:pt idx="5">
                  <c:v>wood</c:v>
                </c:pt>
              </c:strCache>
            </c:strRef>
          </c:cat>
          <c:val>
            <c:numRef>
              <c:f>'Chart Data'!$B$2:$B$7</c:f>
              <c:numCache>
                <c:formatCode>0%</c:formatCode>
                <c:ptCount val="6"/>
                <c:pt idx="0">
                  <c:v>0.73788459472500001</c:v>
                </c:pt>
                <c:pt idx="1">
                  <c:v>0.35377060613799999</c:v>
                </c:pt>
                <c:pt idx="2">
                  <c:v>0.37643904245999998</c:v>
                </c:pt>
                <c:pt idx="3">
                  <c:v>6.3949798971000005E-2</c:v>
                </c:pt>
                <c:pt idx="4">
                  <c:v>0.36415525474100002</c:v>
                </c:pt>
                <c:pt idx="5">
                  <c:v>0.41068837158499999</c:v>
                </c:pt>
              </c:numCache>
            </c:numRef>
          </c:val>
          <c:extLst>
            <c:ext xmlns:c16="http://schemas.microsoft.com/office/drawing/2014/chart" uri="{C3380CC4-5D6E-409C-BE32-E72D297353CC}">
              <c16:uniqueId val="{00000000-6BAD-4BFF-B4DE-5F84970AC77A}"/>
            </c:ext>
          </c:extLst>
        </c:ser>
        <c:ser>
          <c:idx val="1"/>
          <c:order val="1"/>
          <c:tx>
            <c:v>PatchCore</c:v>
          </c:tx>
          <c:spPr>
            <a:solidFill>
              <a:srgbClr val="C77735"/>
            </a:solidFill>
          </c:spPr>
          <c:invertIfNegative val="0"/>
          <c:cat>
            <c:strRef>
              <c:f>'Chart Data'!$C$2:$C$7</c:f>
              <c:strCache>
                <c:ptCount val="6"/>
                <c:pt idx="0">
                  <c:v>bottle</c:v>
                </c:pt>
                <c:pt idx="1">
                  <c:v>cable</c:v>
                </c:pt>
                <c:pt idx="2">
                  <c:v>capsule</c:v>
                </c:pt>
                <c:pt idx="3">
                  <c:v>screw</c:v>
                </c:pt>
                <c:pt idx="4">
                  <c:v>tile</c:v>
                </c:pt>
                <c:pt idx="5">
                  <c:v>wood</c:v>
                </c:pt>
              </c:strCache>
            </c:strRef>
          </c:cat>
          <c:val>
            <c:numRef>
              <c:f>'Chart Data'!$D$2:$D$7</c:f>
              <c:numCache>
                <c:formatCode>0%</c:formatCode>
                <c:ptCount val="6"/>
                <c:pt idx="0">
                  <c:v>0.72918031420700002</c:v>
                </c:pt>
                <c:pt idx="1">
                  <c:v>0.66627075320399998</c:v>
                </c:pt>
                <c:pt idx="2">
                  <c:v>0.44077098434</c:v>
                </c:pt>
                <c:pt idx="3">
                  <c:v>0.24280379182100001</c:v>
                </c:pt>
                <c:pt idx="4">
                  <c:v>0.43769331020800001</c:v>
                </c:pt>
                <c:pt idx="5">
                  <c:v>0.418289070747</c:v>
                </c:pt>
              </c:numCache>
            </c:numRef>
          </c:val>
          <c:extLst>
            <c:ext xmlns:c16="http://schemas.microsoft.com/office/drawing/2014/chart" uri="{C3380CC4-5D6E-409C-BE32-E72D297353CC}">
              <c16:uniqueId val="{00000001-6BAD-4BFF-B4DE-5F84970AC77A}"/>
            </c:ext>
          </c:extLst>
        </c:ser>
        <c:dLbls>
          <c:showLegendKey val="0"/>
          <c:showVal val="0"/>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EE5EB"/>
            </a:solidFill>
          </a:ln>
        </c:spPr>
        <c:txPr>
          <a:bodyPr anchorCtr="1"/>
          <a:lstStyle/>
          <a:p>
            <a:pPr>
              <a:defRPr sz="1350">
                <a:solidFill>
                  <a:srgbClr val="586A7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EE5EB"/>
              </a:solidFill>
              <a:prstDash val="solid"/>
            </a:ln>
          </c:spPr>
        </c:majorGridlines>
        <c:numFmt formatCode="0%" sourceLinked="1"/>
        <c:majorTickMark val="none"/>
        <c:minorTickMark val="none"/>
        <c:tickLblPos val="nextTo"/>
        <c:spPr>
          <a:ln w="0">
            <a:noFill/>
          </a:ln>
        </c:spPr>
        <c:txPr>
          <a:bodyPr anchorCtr="1"/>
          <a:lstStyle/>
          <a:p>
            <a:pPr>
              <a:defRPr sz="1350">
                <a:solidFill>
                  <a:srgbClr val="586A79"/>
                </a:solidFill>
                <a:latin typeface="Arial"/>
                <a:ea typeface="Arial"/>
                <a:cs typeface="Arial"/>
              </a:defRPr>
            </a:pPr>
            <a:endParaRPr lang="zh-CN"/>
          </a:p>
        </c:txPr>
        <c:crossAx val="48650112"/>
        <c:crosses val="autoZero"/>
        <c:crossBetween val="between"/>
        <c:majorUnit val="0.2"/>
      </c:valAx>
      <c:spPr>
        <a:solidFill>
          <a:srgbClr val="FFFFFF"/>
        </a:solidFill>
        <a:ln w="0">
          <a:noFill/>
        </a:ln>
      </c:spPr>
    </c:plotArea>
    <c:legend>
      <c:legendPos val="b"/>
      <c:overlay val="0"/>
      <c:txPr>
        <a:bodyPr anchorCtr="1"/>
        <a:lstStyle/>
        <a:p>
          <a:pPr>
            <a:defRPr sz="1500">
              <a:solidFill>
                <a:srgbClr val="173047"/>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Cable</c:v>
          </c:tx>
          <c:spPr>
            <a:ln w="28575">
              <a:solidFill>
                <a:srgbClr val="C77735"/>
              </a:solidFill>
              <a:prstDash val="solid"/>
            </a:ln>
          </c:spPr>
          <c:marker>
            <c:symbol val="circle"/>
            <c:size val="10"/>
            <c:spPr>
              <a:solidFill>
                <a:srgbClr val="C77735"/>
              </a:solidFill>
            </c:spPr>
          </c:marker>
          <c:dLbls>
            <c:numFmt formatCode="0.0%" sourceLinked="0"/>
            <c:spPr>
              <a:noFill/>
              <a:ln>
                <a:noFill/>
              </a:ln>
              <a:effectLst/>
            </c:spPr>
            <c:txPr>
              <a:bodyPr anchorCtr="1"/>
              <a:lstStyle/>
              <a:p>
                <a:pPr>
                  <a:defRPr sz="1425">
                    <a:solidFill>
                      <a:srgbClr val="173047"/>
                    </a:solidFill>
                    <a:latin typeface="Arial"/>
                    <a:ea typeface="Arial"/>
                    <a:cs typeface="Arial"/>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Data'!$A$2:$A$4</c:f>
              <c:numCache>
                <c:formatCode>General</c:formatCode>
                <c:ptCount val="3"/>
                <c:pt idx="0">
                  <c:v>20</c:v>
                </c:pt>
                <c:pt idx="1">
                  <c:v>50</c:v>
                </c:pt>
                <c:pt idx="2">
                  <c:v>100</c:v>
                </c:pt>
              </c:numCache>
            </c:numRef>
          </c:cat>
          <c:val>
            <c:numRef>
              <c:f>'Chart Data'!$B$2:$B$4</c:f>
              <c:numCache>
                <c:formatCode>0%</c:formatCode>
                <c:ptCount val="3"/>
                <c:pt idx="0">
                  <c:v>0.91379310344800002</c:v>
                </c:pt>
                <c:pt idx="1">
                  <c:v>0.95296101949000001</c:v>
                </c:pt>
                <c:pt idx="2">
                  <c:v>0.96964017990999996</c:v>
                </c:pt>
              </c:numCache>
            </c:numRef>
          </c:val>
          <c:smooth val="0"/>
          <c:extLst>
            <c:ext xmlns:c16="http://schemas.microsoft.com/office/drawing/2014/chart" uri="{C3380CC4-5D6E-409C-BE32-E72D297353CC}">
              <c16:uniqueId val="{00000000-1FFE-43D4-85C3-E004CA04EF69}"/>
            </c:ext>
          </c:extLst>
        </c:ser>
        <c:ser>
          <c:idx val="1"/>
          <c:order val="1"/>
          <c:tx>
            <c:v>Screw</c:v>
          </c:tx>
          <c:spPr>
            <a:ln w="28575">
              <a:solidFill>
                <a:srgbClr val="8C4318"/>
              </a:solidFill>
              <a:prstDash val="dash"/>
            </a:ln>
          </c:spPr>
          <c:marker>
            <c:symbol val="square"/>
            <c:size val="9"/>
            <c:spPr>
              <a:solidFill>
                <a:srgbClr val="8C4318"/>
              </a:solidFill>
            </c:spPr>
          </c:marker>
          <c:dLbls>
            <c:numFmt formatCode="0.0%" sourceLinked="0"/>
            <c:spPr>
              <a:noFill/>
              <a:ln>
                <a:noFill/>
              </a:ln>
              <a:effectLst/>
            </c:spPr>
            <c:txPr>
              <a:bodyPr anchorCtr="1"/>
              <a:lstStyle/>
              <a:p>
                <a:pPr>
                  <a:defRPr sz="1425">
                    <a:solidFill>
                      <a:srgbClr val="173047"/>
                    </a:solidFill>
                    <a:latin typeface="Arial"/>
                    <a:ea typeface="Arial"/>
                    <a:cs typeface="Arial"/>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Data'!$C$2:$C$4</c:f>
              <c:numCache>
                <c:formatCode>General</c:formatCode>
                <c:ptCount val="3"/>
                <c:pt idx="0">
                  <c:v>20</c:v>
                </c:pt>
                <c:pt idx="1">
                  <c:v>50</c:v>
                </c:pt>
                <c:pt idx="2">
                  <c:v>100</c:v>
                </c:pt>
              </c:numCache>
            </c:numRef>
          </c:cat>
          <c:val>
            <c:numRef>
              <c:f>'Chart Data'!$D$2:$D$4</c:f>
              <c:numCache>
                <c:formatCode>0%</c:formatCode>
                <c:ptCount val="3"/>
                <c:pt idx="0">
                  <c:v>0.56261529001800004</c:v>
                </c:pt>
                <c:pt idx="1">
                  <c:v>0.78007788481200002</c:v>
                </c:pt>
                <c:pt idx="2">
                  <c:v>0.86411149825800004</c:v>
                </c:pt>
              </c:numCache>
            </c:numRef>
          </c:val>
          <c:smooth val="0"/>
          <c:extLst>
            <c:ext xmlns:c16="http://schemas.microsoft.com/office/drawing/2014/chart" uri="{C3380CC4-5D6E-409C-BE32-E72D297353CC}">
              <c16:uniqueId val="{00000001-1FFE-43D4-85C3-E004CA04EF69}"/>
            </c:ext>
          </c:extLst>
        </c:ser>
        <c:dLbls>
          <c:dLblPos val="t"/>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n-US" sz="1650">
                    <a:solidFill>
                      <a:srgbClr val="586A79"/>
                    </a:solidFill>
                    <a:latin typeface="Arial"/>
                    <a:ea typeface="Arial"/>
                    <a:cs typeface="Arial"/>
                  </a:rPr>
                  <a:t>Normal training images</a:t>
                </a:r>
              </a:p>
            </c:rich>
          </c:tx>
          <c:overlay val="0"/>
        </c:title>
        <c:numFmt formatCode="General" sourceLinked="1"/>
        <c:majorTickMark val="none"/>
        <c:minorTickMark val="none"/>
        <c:tickLblPos val="nextTo"/>
        <c:spPr>
          <a:ln w="9525">
            <a:solidFill>
              <a:srgbClr val="DEE5EB"/>
            </a:solidFill>
          </a:ln>
        </c:spPr>
        <c:txPr>
          <a:bodyPr anchorCtr="1"/>
          <a:lstStyle/>
          <a:p>
            <a:pPr>
              <a:defRPr sz="1350">
                <a:solidFill>
                  <a:srgbClr val="586A7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
          <c:min val="0.5"/>
        </c:scaling>
        <c:delete val="0"/>
        <c:axPos val="l"/>
        <c:majorGridlines>
          <c:spPr>
            <a:ln w="9525">
              <a:solidFill>
                <a:srgbClr val="DEE5EB"/>
              </a:solidFill>
              <a:prstDash val="solid"/>
            </a:ln>
          </c:spPr>
        </c:majorGridlines>
        <c:numFmt formatCode="0%" sourceLinked="1"/>
        <c:majorTickMark val="none"/>
        <c:minorTickMark val="none"/>
        <c:tickLblPos val="nextTo"/>
        <c:spPr>
          <a:ln w="0">
            <a:noFill/>
          </a:ln>
        </c:spPr>
        <c:txPr>
          <a:bodyPr anchorCtr="1"/>
          <a:lstStyle/>
          <a:p>
            <a:pPr>
              <a:defRPr sz="1350">
                <a:solidFill>
                  <a:srgbClr val="586A79"/>
                </a:solidFill>
                <a:latin typeface="Arial"/>
                <a:ea typeface="Arial"/>
                <a:cs typeface="Arial"/>
              </a:defRPr>
            </a:pPr>
            <a:endParaRPr lang="zh-CN"/>
          </a:p>
        </c:txPr>
        <c:crossAx val="48650112"/>
        <c:crosses val="autoZero"/>
        <c:crossBetween val="between"/>
        <c:majorUnit val="0.1"/>
      </c:valAx>
      <c:spPr>
        <a:solidFill>
          <a:srgbClr val="FFFFFF"/>
        </a:solidFill>
        <a:ln w="0">
          <a:noFill/>
        </a:ln>
      </c:spPr>
    </c:plotArea>
    <c:legend>
      <c:legendPos val="b"/>
      <c:overlay val="0"/>
      <c:txPr>
        <a:bodyPr anchorCtr="1"/>
        <a:lstStyle/>
        <a:p>
          <a:pPr>
            <a:defRPr sz="1575">
              <a:solidFill>
                <a:srgbClr val="173047"/>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Cable</c:v>
          </c:tx>
          <c:spPr>
            <a:ln w="28575">
              <a:solidFill>
                <a:srgbClr val="3F729B"/>
              </a:solidFill>
              <a:prstDash val="solid"/>
            </a:ln>
          </c:spPr>
          <c:marker>
            <c:symbol val="circle"/>
            <c:size val="9"/>
            <c:spPr>
              <a:solidFill>
                <a:srgbClr val="3F729B"/>
              </a:solidFill>
            </c:spPr>
          </c:marker>
          <c:cat>
            <c:numRef>
              <c:f>'Chart Data'!$A$2:$A$4</c:f>
              <c:numCache>
                <c:formatCode>General</c:formatCode>
                <c:ptCount val="3"/>
                <c:pt idx="0">
                  <c:v>50</c:v>
                </c:pt>
                <c:pt idx="1">
                  <c:v>100</c:v>
                </c:pt>
                <c:pt idx="2">
                  <c:v>200</c:v>
                </c:pt>
              </c:numCache>
            </c:numRef>
          </c:cat>
          <c:val>
            <c:numRef>
              <c:f>'Chart Data'!$B$2:$B$4</c:f>
              <c:numCache>
                <c:formatCode>0%</c:formatCode>
                <c:ptCount val="3"/>
                <c:pt idx="0">
                  <c:v>0.76255622188899996</c:v>
                </c:pt>
                <c:pt idx="1">
                  <c:v>0.78841829085500004</c:v>
                </c:pt>
                <c:pt idx="2">
                  <c:v>0.78691904048000005</c:v>
                </c:pt>
              </c:numCache>
            </c:numRef>
          </c:val>
          <c:smooth val="1"/>
          <c:extLst>
            <c:ext xmlns:c16="http://schemas.microsoft.com/office/drawing/2014/chart" uri="{C3380CC4-5D6E-409C-BE32-E72D297353CC}">
              <c16:uniqueId val="{00000000-2C3C-48DF-A6DC-CBC183F09B40}"/>
            </c:ext>
          </c:extLst>
        </c:ser>
        <c:ser>
          <c:idx val="1"/>
          <c:order val="1"/>
          <c:tx>
            <c:v>Screw</c:v>
          </c:tx>
          <c:spPr>
            <a:ln w="28575">
              <a:solidFill>
                <a:srgbClr val="183F63"/>
              </a:solidFill>
              <a:prstDash val="dash"/>
            </a:ln>
          </c:spPr>
          <c:marker>
            <c:symbol val="square"/>
            <c:size val="9"/>
            <c:spPr>
              <a:solidFill>
                <a:srgbClr val="183F63"/>
              </a:solidFill>
            </c:spPr>
          </c:marker>
          <c:cat>
            <c:numRef>
              <c:f>'Chart Data'!$C$2:$C$4</c:f>
              <c:numCache>
                <c:formatCode>General</c:formatCode>
                <c:ptCount val="3"/>
                <c:pt idx="0">
                  <c:v>50</c:v>
                </c:pt>
                <c:pt idx="1">
                  <c:v>100</c:v>
                </c:pt>
                <c:pt idx="2">
                  <c:v>200</c:v>
                </c:pt>
              </c:numCache>
            </c:numRef>
          </c:cat>
          <c:val>
            <c:numRef>
              <c:f>'Chart Data'!$D$2:$D$4</c:f>
              <c:numCache>
                <c:formatCode>0%</c:formatCode>
                <c:ptCount val="3"/>
                <c:pt idx="0">
                  <c:v>0.64172986267700005</c:v>
                </c:pt>
                <c:pt idx="1">
                  <c:v>0.67554826808799995</c:v>
                </c:pt>
                <c:pt idx="2">
                  <c:v>0.65730682516899996</c:v>
                </c:pt>
              </c:numCache>
            </c:numRef>
          </c:val>
          <c:smooth val="1"/>
          <c:extLst>
            <c:ext xmlns:c16="http://schemas.microsoft.com/office/drawing/2014/chart" uri="{C3380CC4-5D6E-409C-BE32-E72D297353CC}">
              <c16:uniqueId val="{00000001-2C3C-48DF-A6DC-CBC183F09B40}"/>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EE5EB"/>
            </a:solidFill>
          </a:ln>
        </c:spPr>
        <c:txPr>
          <a:bodyPr anchorCtr="1"/>
          <a:lstStyle/>
          <a:p>
            <a:pPr>
              <a:defRPr sz="1350">
                <a:solidFill>
                  <a:srgbClr val="586A7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
          <c:min val="0.5"/>
        </c:scaling>
        <c:delete val="0"/>
        <c:axPos val="l"/>
        <c:majorGridlines>
          <c:spPr>
            <a:ln w="9525">
              <a:solidFill>
                <a:srgbClr val="DEE5EB"/>
              </a:solidFill>
              <a:prstDash val="solid"/>
            </a:ln>
          </c:spPr>
        </c:majorGridlines>
        <c:numFmt formatCode="0%" sourceLinked="1"/>
        <c:majorTickMark val="none"/>
        <c:minorTickMark val="none"/>
        <c:tickLblPos val="nextTo"/>
        <c:spPr>
          <a:ln w="0">
            <a:noFill/>
          </a:ln>
        </c:spPr>
        <c:txPr>
          <a:bodyPr anchorCtr="1"/>
          <a:lstStyle/>
          <a:p>
            <a:pPr>
              <a:defRPr sz="1350">
                <a:solidFill>
                  <a:srgbClr val="586A79"/>
                </a:solidFill>
                <a:latin typeface="Arial"/>
                <a:ea typeface="Arial"/>
                <a:cs typeface="Arial"/>
              </a:defRPr>
            </a:pPr>
            <a:endParaRPr lang="zh-CN"/>
          </a:p>
        </c:txPr>
        <c:crossAx val="48650112"/>
        <c:crosses val="autoZero"/>
        <c:crossBetween val="between"/>
        <c:majorUnit val="0.1"/>
      </c:valAx>
      <c:spPr>
        <a:solidFill>
          <a:srgbClr val="FFFFFF"/>
        </a:solidFill>
        <a:ln w="0">
          <a:noFill/>
        </a:ln>
      </c:spPr>
    </c:plotArea>
    <c:legend>
      <c:legendPos val="b"/>
      <c:overlay val="0"/>
      <c:txPr>
        <a:bodyPr anchorCtr="1"/>
        <a:lstStyle/>
        <a:p>
          <a:pPr>
            <a:defRPr sz="1575">
              <a:solidFill>
                <a:srgbClr val="173047"/>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Cable</c:v>
          </c:tx>
          <c:spPr>
            <a:ln w="28575">
              <a:solidFill>
                <a:srgbClr val="C77735"/>
              </a:solidFill>
              <a:prstDash val="solid"/>
            </a:ln>
          </c:spPr>
          <c:marker>
            <c:symbol val="circle"/>
            <c:size val="9"/>
            <c:spPr>
              <a:solidFill>
                <a:srgbClr val="C77735"/>
              </a:solidFill>
            </c:spPr>
          </c:marker>
          <c:cat>
            <c:strRef>
              <c:f>'Chart Data'!$A$2:$A$4</c:f>
              <c:strCache>
                <c:ptCount val="3"/>
                <c:pt idx="0">
                  <c:v>1%</c:v>
                </c:pt>
                <c:pt idx="1">
                  <c:v>5%</c:v>
                </c:pt>
                <c:pt idx="2">
                  <c:v>10%</c:v>
                </c:pt>
              </c:strCache>
            </c:strRef>
          </c:cat>
          <c:val>
            <c:numRef>
              <c:f>'Chart Data'!$B$2:$B$4</c:f>
              <c:numCache>
                <c:formatCode>0%</c:formatCode>
                <c:ptCount val="3"/>
                <c:pt idx="0">
                  <c:v>0.97994752623699999</c:v>
                </c:pt>
                <c:pt idx="1">
                  <c:v>0.96964017990999996</c:v>
                </c:pt>
                <c:pt idx="2">
                  <c:v>0.97020239880100001</c:v>
                </c:pt>
              </c:numCache>
            </c:numRef>
          </c:val>
          <c:smooth val="1"/>
          <c:extLst>
            <c:ext xmlns:c16="http://schemas.microsoft.com/office/drawing/2014/chart" uri="{C3380CC4-5D6E-409C-BE32-E72D297353CC}">
              <c16:uniqueId val="{00000000-BEA8-4D00-A949-4175D42BCE49}"/>
            </c:ext>
          </c:extLst>
        </c:ser>
        <c:ser>
          <c:idx val="1"/>
          <c:order val="1"/>
          <c:tx>
            <c:v>Screw</c:v>
          </c:tx>
          <c:spPr>
            <a:ln w="28575">
              <a:solidFill>
                <a:srgbClr val="8C4318"/>
              </a:solidFill>
              <a:prstDash val="dash"/>
            </a:ln>
          </c:spPr>
          <c:marker>
            <c:symbol val="square"/>
            <c:size val="9"/>
            <c:spPr>
              <a:solidFill>
                <a:srgbClr val="8C4318"/>
              </a:solidFill>
            </c:spPr>
          </c:marker>
          <c:cat>
            <c:strRef>
              <c:f>'Chart Data'!$C$2:$C$4</c:f>
              <c:strCache>
                <c:ptCount val="3"/>
                <c:pt idx="0">
                  <c:v>1%</c:v>
                </c:pt>
                <c:pt idx="1">
                  <c:v>5%</c:v>
                </c:pt>
                <c:pt idx="2">
                  <c:v>10%</c:v>
                </c:pt>
              </c:strCache>
            </c:strRef>
          </c:cat>
          <c:val>
            <c:numRef>
              <c:f>'Chart Data'!$D$2:$D$4</c:f>
              <c:numCache>
                <c:formatCode>0%</c:formatCode>
                <c:ptCount val="3"/>
                <c:pt idx="0">
                  <c:v>0.84648493543799996</c:v>
                </c:pt>
                <c:pt idx="1">
                  <c:v>0.86411149825800004</c:v>
                </c:pt>
                <c:pt idx="2">
                  <c:v>0.87968846074999996</c:v>
                </c:pt>
              </c:numCache>
            </c:numRef>
          </c:val>
          <c:smooth val="1"/>
          <c:extLst>
            <c:ext xmlns:c16="http://schemas.microsoft.com/office/drawing/2014/chart" uri="{C3380CC4-5D6E-409C-BE32-E72D297353CC}">
              <c16:uniqueId val="{00000001-BEA8-4D00-A949-4175D42BCE49}"/>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EE5EB"/>
            </a:solidFill>
          </a:ln>
        </c:spPr>
        <c:txPr>
          <a:bodyPr anchorCtr="1"/>
          <a:lstStyle/>
          <a:p>
            <a:pPr>
              <a:defRPr sz="1350">
                <a:solidFill>
                  <a:srgbClr val="586A79"/>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
          <c:min val="0.5"/>
        </c:scaling>
        <c:delete val="0"/>
        <c:axPos val="l"/>
        <c:majorGridlines>
          <c:spPr>
            <a:ln w="9525">
              <a:solidFill>
                <a:srgbClr val="DEE5EB"/>
              </a:solidFill>
              <a:prstDash val="solid"/>
            </a:ln>
          </c:spPr>
        </c:majorGridlines>
        <c:numFmt formatCode="0%" sourceLinked="1"/>
        <c:majorTickMark val="none"/>
        <c:minorTickMark val="none"/>
        <c:tickLblPos val="nextTo"/>
        <c:spPr>
          <a:ln w="0">
            <a:noFill/>
          </a:ln>
        </c:spPr>
        <c:txPr>
          <a:bodyPr anchorCtr="1"/>
          <a:lstStyle/>
          <a:p>
            <a:pPr>
              <a:defRPr sz="1350">
                <a:solidFill>
                  <a:srgbClr val="586A79"/>
                </a:solidFill>
                <a:latin typeface="Arial"/>
                <a:ea typeface="Arial"/>
                <a:cs typeface="Arial"/>
              </a:defRPr>
            </a:pPr>
            <a:endParaRPr lang="zh-CN"/>
          </a:p>
        </c:txPr>
        <c:crossAx val="48650112"/>
        <c:crosses val="autoZero"/>
        <c:crossBetween val="between"/>
        <c:majorUnit val="0.1"/>
      </c:valAx>
      <c:spPr>
        <a:solidFill>
          <a:srgbClr val="FFFFFF"/>
        </a:solidFill>
        <a:ln w="0">
          <a:noFill/>
        </a:ln>
      </c:spPr>
    </c:plotArea>
    <c:legend>
      <c:legendPos val="b"/>
      <c:overlay val="0"/>
      <c:txPr>
        <a:bodyPr anchorCtr="1"/>
        <a:lstStyle/>
        <a:p>
          <a:pPr>
            <a:defRPr sz="1575">
              <a:solidFill>
                <a:srgbClr val="173047"/>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A</a:t>
            </a:r>
          </a:p>
          <a:p>
            <a:r>
              <a:rPr dirty="0"/>
              <a:t>Target duration: 15 seconds</a:t>
            </a:r>
          </a:p>
          <a:p>
            <a:endParaRPr lang="en-US" dirty="0"/>
          </a:p>
          <a:p>
            <a:r>
              <a:rPr dirty="0"/>
              <a:t>Good morning. Our project compares </a:t>
            </a:r>
            <a:r>
              <a:rPr dirty="0" err="1"/>
              <a:t>PaDiM</a:t>
            </a:r>
            <a:r>
              <a:rPr dirty="0"/>
              <a:t> and </a:t>
            </a:r>
            <a:r>
              <a:rPr dirty="0" err="1"/>
              <a:t>PatchCore</a:t>
            </a:r>
            <a:r>
              <a:rPr dirty="0"/>
              <a:t> for industrial anomaly detection using only normal training images. We ask which method detects defects more accurately, and what limits its reliability.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A</a:t>
            </a:r>
          </a:p>
          <a:p>
            <a:r>
              <a:rPr dirty="0"/>
              <a:t>Target duration: 40 seconds</a:t>
            </a:r>
            <a:endParaRPr lang="en-US" dirty="0"/>
          </a:p>
          <a:p>
            <a:endParaRPr lang="en-US" dirty="0"/>
          </a:p>
          <a:p>
            <a:r>
              <a:rPr dirty="0"/>
              <a:t>We evaluate two tasks: detecting whether an image is anomalous, and locating defective pixels. Our main study covers six </a:t>
            </a:r>
            <a:r>
              <a:rPr dirty="0" err="1"/>
              <a:t>MVTec</a:t>
            </a:r>
            <a:r>
              <a:rPr dirty="0"/>
              <a:t> AD categories, including manufactured objects and textures. We also test juice bottles and screw bags from </a:t>
            </a:r>
            <a:r>
              <a:rPr dirty="0" err="1"/>
              <a:t>MVTec</a:t>
            </a:r>
            <a:r>
              <a:rPr dirty="0"/>
              <a:t> LOCO, separating structural defects from logical anomalies, such as incorrect object arrangements. Both methods use identical normal training subsets. The main baseline uses one hundred images and three seeds. Thresholds come only from normal development images. This creates a controlled comparison before we examine the methods.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A</a:t>
            </a:r>
          </a:p>
          <a:p>
            <a:r>
              <a:rPr dirty="0"/>
              <a:t>Target duration: 45 seconds</a:t>
            </a:r>
            <a:endParaRPr lang="en-US" dirty="0"/>
          </a:p>
          <a:p>
            <a:endParaRPr lang="en-US" dirty="0"/>
          </a:p>
          <a:p>
            <a:r>
              <a:rPr dirty="0"/>
              <a:t>Both methods use the same frozen ImageNet ResNet18 backbone, so we do not train a new neural network. </a:t>
            </a:r>
            <a:r>
              <a:rPr dirty="0" err="1"/>
              <a:t>PaDiM</a:t>
            </a:r>
            <a:r>
              <a:rPr dirty="0"/>
              <a:t> combines features from three layers, selects one hundred channels, and fits a Gaussian distribution at each spatial position. Its anomaly score is the </a:t>
            </a:r>
            <a:r>
              <a:rPr dirty="0" err="1"/>
              <a:t>Mahalanobis</a:t>
            </a:r>
            <a:r>
              <a:rPr dirty="0"/>
              <a:t> distance from that normal distribution. </a:t>
            </a:r>
            <a:r>
              <a:rPr dirty="0" err="1"/>
              <a:t>PatchCore</a:t>
            </a:r>
            <a:r>
              <a:rPr dirty="0"/>
              <a:t> instead stores representative normal patch features in a memory bank. We retain five percent using greedy coreset selection, then score test patches by their nearest normal neighbor. Both produce heatmaps and image scores. I will now hand over to Member B for the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B</a:t>
            </a:r>
          </a:p>
          <a:p>
            <a:r>
              <a:rPr dirty="0"/>
              <a:t>Target duration: 50 seconds</a:t>
            </a:r>
            <a:endParaRPr lang="en-US" dirty="0"/>
          </a:p>
          <a:p>
            <a:endParaRPr lang="en-US" dirty="0"/>
          </a:p>
          <a:p>
            <a:r>
              <a:rPr dirty="0"/>
              <a:t>The main comparison uses native image scores. We average the six categories equally, then report the mean and standard deviation across three seeds. Image AUROC measures how well scores rank anomalous images above normal ones. </a:t>
            </a:r>
            <a:r>
              <a:rPr dirty="0" err="1"/>
              <a:t>PatchCore</a:t>
            </a:r>
            <a:r>
              <a:rPr dirty="0"/>
              <a:t> reaches ninety-six point one eight percent, compared with eighty-seven point six one for </a:t>
            </a:r>
            <a:r>
              <a:rPr dirty="0" err="1"/>
              <a:t>PaDiM</a:t>
            </a:r>
            <a:r>
              <a:rPr dirty="0"/>
              <a:t>. Pixel average precision summarizes localization precision and recall, which matters because defective pixels are relatively rare. It improves from thirty-eight point four five to forty-eight point nine two percent. These results favor </a:t>
            </a:r>
            <a:r>
              <a:rPr dirty="0" err="1"/>
              <a:t>PatchCore</a:t>
            </a:r>
            <a:r>
              <a:rPr dirty="0"/>
              <a:t> in our setting, although localization remains imperfect. Next, we examine training coverage and memory selection.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B</a:t>
            </a:r>
          </a:p>
          <a:p>
            <a:r>
              <a:rPr dirty="0"/>
              <a:t>Target duration: 40 seconds</a:t>
            </a:r>
            <a:endParaRPr lang="en-US" dirty="0"/>
          </a:p>
          <a:p>
            <a:endParaRPr lang="en-US" dirty="0"/>
          </a:p>
          <a:p>
            <a:r>
              <a:rPr dirty="0"/>
              <a:t>On cable and screw, our single-seed few-shot study shows that more normal examples can help substantially. As training grows from twenty to one hundred images, </a:t>
            </a:r>
            <a:r>
              <a:rPr dirty="0" err="1"/>
              <a:t>PatchCore's</a:t>
            </a:r>
            <a:r>
              <a:rPr dirty="0"/>
              <a:t> image AUROC rises from about ninety-one to ninety-seven percent on cable, and from fifty-six to eighty-six percent on screw. Across three seeds on these categories, replacing the coreset with an equally sized random memory bank reduces AUROC by sixteen point six five percentage points on average. These are focused comparisons. Member C will now discuss how image scoring affects reliability.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C</a:t>
            </a:r>
          </a:p>
          <a:p>
            <a:r>
              <a:rPr dirty="0"/>
              <a:t>Target duration: 40 seconds</a:t>
            </a:r>
            <a:endParaRPr lang="en-US" dirty="0"/>
          </a:p>
          <a:p>
            <a:endParaRPr lang="en-US" dirty="0"/>
          </a:p>
          <a:p>
            <a:r>
              <a:rPr dirty="0"/>
              <a:t>We change how a heatmap becomes one image score by averaging its highest one percent of values. Compared with </a:t>
            </a:r>
            <a:r>
              <a:rPr dirty="0" err="1"/>
              <a:t>PatchCore's</a:t>
            </a:r>
            <a:r>
              <a:rPr dirty="0"/>
              <a:t> native score, this raises image AUROC from ninety-six point one eight to ninety-six point eight six percent. However, the normal false-positive rate rises from ten point six five to fifteen point one </a:t>
            </a:r>
            <a:r>
              <a:rPr dirty="0" err="1"/>
              <a:t>one</a:t>
            </a:r>
            <a:r>
              <a:rPr dirty="0"/>
              <a:t> percent, while anomaly recall stays near eighty-two percent. Better ranking therefore does not automatically mean fewer false alarms. The heatmaps remain unchanged, so pixel metrics do not improve. The failure cases illustrate these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C</a:t>
            </a:r>
          </a:p>
          <a:p>
            <a:r>
              <a:rPr dirty="0"/>
              <a:t>Target duration: 45 seconds</a:t>
            </a:r>
            <a:endParaRPr lang="en-US" dirty="0"/>
          </a:p>
          <a:p>
            <a:endParaRPr lang="en-US" dirty="0"/>
          </a:p>
          <a:p>
            <a:r>
              <a:rPr dirty="0"/>
              <a:t>In the cable example, </a:t>
            </a:r>
            <a:r>
              <a:rPr dirty="0" err="1"/>
              <a:t>PaDiM</a:t>
            </a:r>
            <a:r>
              <a:rPr dirty="0"/>
              <a:t> misses the bent-wire defect, while </a:t>
            </a:r>
            <a:r>
              <a:rPr dirty="0" err="1"/>
              <a:t>PatchCore</a:t>
            </a:r>
            <a:r>
              <a:rPr dirty="0"/>
              <a:t> detects it. In the screw-bag example, both methods miss the logical anomaly. This contrast highlights a limitation: local appearance does not fully describe whether an object arrangement is valid. On screw bags, logical-anomaly AUROC is approximately fifty-two percent for </a:t>
            </a:r>
            <a:r>
              <a:rPr dirty="0" err="1"/>
              <a:t>PaDiM</a:t>
            </a:r>
            <a:r>
              <a:rPr dirty="0"/>
              <a:t> and fifty-six percent for </a:t>
            </a:r>
            <a:r>
              <a:rPr dirty="0" err="1"/>
              <a:t>PatchCore</a:t>
            </a:r>
            <a:r>
              <a:rPr dirty="0"/>
              <a:t>, close to chance. The two-category LOCO extension uses one seed, so it remains exploratory. These results suggest that logical inspection needs stronger relational information, which leads to our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C</a:t>
            </a:r>
          </a:p>
          <a:p>
            <a:r>
              <a:rPr dirty="0"/>
              <a:t>Target duration: 25 seconds</a:t>
            </a:r>
            <a:endParaRPr lang="en-US" dirty="0"/>
          </a:p>
          <a:p>
            <a:endParaRPr lang="en-US" dirty="0"/>
          </a:p>
          <a:p>
            <a:r>
              <a:rPr dirty="0" err="1"/>
              <a:t>PatchCore</a:t>
            </a:r>
            <a:r>
              <a:rPr dirty="0"/>
              <a:t> is the stronger baseline in our selected-category, ResNet18 study. Representative normal coverage and coreset selection matter, while image-score pooling trades ranking gains against false alarms. Logical anomalies remain difficult. Future work should improve relational modeling and test calibration across more categories and seeds. Our results describe this course configuration. Thank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C</a:t>
            </a:r>
          </a:p>
          <a:p>
            <a:r>
              <a:rPr dirty="0"/>
              <a:t>Backup slide. Outside the five-minute talk.</a:t>
            </a:r>
          </a:p>
          <a:p>
            <a:endParaRPr lang="en-US" dirty="0"/>
          </a:p>
          <a:p>
            <a:r>
              <a:rPr dirty="0"/>
              <a:t>These single-seed sweeps test feature dimension in </a:t>
            </a:r>
            <a:r>
              <a:rPr dirty="0" err="1"/>
              <a:t>PaDiM</a:t>
            </a:r>
            <a:r>
              <a:rPr dirty="0"/>
              <a:t> and memory-bank ratio in </a:t>
            </a:r>
            <a:r>
              <a:rPr dirty="0" err="1"/>
              <a:t>PatchCore</a:t>
            </a:r>
            <a:r>
              <a:rPr dirty="0"/>
              <a:t> on cable and screw. Other settings stay fixed. They are sensitivity checks, with no invented standard deviations. We retain all prespecified settings rather than selecting the best final-test point as a separate validation result. </a:t>
            </a:r>
            <a:r>
              <a:rPr dirty="0" err="1"/>
              <a:t>PaDiM's</a:t>
            </a:r>
            <a:r>
              <a:rPr dirty="0"/>
              <a:t> separate feature-layer comparison also changes the spatial grid, so it cannot isolate semantic information alone.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Member C</a:t>
            </a:r>
          </a:p>
          <a:p>
            <a:r>
              <a:rPr dirty="0"/>
              <a:t>Backup slide. Outside the five-minute talk.</a:t>
            </a:r>
          </a:p>
          <a:p>
            <a:endParaRPr lang="en-US" dirty="0"/>
          </a:p>
          <a:p>
            <a:r>
              <a:rPr dirty="0"/>
              <a:t>This resource comparison uses the same NVIDIA A40 and eighteen baseline fits per method. </a:t>
            </a:r>
            <a:r>
              <a:rPr dirty="0" err="1"/>
              <a:t>PaDiM</a:t>
            </a:r>
            <a:r>
              <a:rPr dirty="0"/>
              <a:t> fits faster and has a lower cached prediction cost, but its per-location covariance tensors use more model storage. </a:t>
            </a:r>
            <a:r>
              <a:rPr dirty="0" err="1"/>
              <a:t>PatchCore</a:t>
            </a:r>
            <a:r>
              <a:rPr dirty="0"/>
              <a:t> spends more time building and querying a representative memory bank. These cached prediction costs exclude feature extraction, feature I/O, warm-up and readback. They must not be interpreted as end-to-end application latency. Tensor storage also excludes Python metadata and differs from a saved checkpoint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9A794B3-6E44-4E45-84DD-6C5531E2613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EDBB0C50-E5C0-43D4-A28B-38158D0D088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DEAEF92-4715-4AB2-AD43-D184544B4F3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9957EC-BAE3-4ABC-806C-D1EF89560ED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42F79CA-6B75-492C-8C70-D3B3844752B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760A6E4-E5F7-4C9A-964A-0DA1E026467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7C8B05C-C9ED-4FCA-83D7-F75CB81D680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3FDD4CD-380F-4FA7-957A-4115B12D493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9FD4790-FBA0-4683-9E6D-35F8736FFED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957DE8D-D92B-4E1E-9503-BE92FB8432A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15F487D6-5E7E-4DBC-8643-7885D5ED4B85}"/>
              </a:ext>
            </a:extLst>
          </p:cNvPr>
          <p:cNvSpPr>
            <a:spLocks noGrp="1"/>
          </p:cNvSpPr>
          <p:nvPr/>
        </p:nvSpPr>
        <p:spPr>
          <a:xfrm>
            <a:off x="609600" y="6334125"/>
            <a:ext cx="10972800" cy="9525"/>
          </a:xfrm>
          <a:prstGeom prst="rect">
            <a:avLst/>
          </a:prstGeom>
          <a:solidFill>
            <a:srgbClr val="DEE5EB"/>
          </a:solidFill>
          <a:ln w="0">
            <a:noFill/>
          </a:ln>
        </p:spPr>
        <p:txBody>
          <a:bodyPr/>
          <a:lstStyle/>
          <a:p>
            <a:endParaRPr/>
          </a:p>
        </p:txBody>
      </p:sp>
      <p:sp>
        <p:nvSpPr>
          <p:cNvPr id="2" name="text-CA6129 Computer Vision &amp; Applica">
            <a:extLst>
              <a:ext uri="{FF2B5EF4-FFF2-40B4-BE49-F238E27FC236}">
                <a16:creationId xmlns:a16="http://schemas.microsoft.com/office/drawing/2014/main" id="{503B4C4D-2FAF-4E6C-9AC1-2DDF6EA740D0}"/>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buNone/>
              <a:defRPr sz="1200" b="0">
                <a:solidFill>
                  <a:srgbClr val="586A79"/>
                </a:solidFill>
                <a:latin typeface="Arial"/>
                <a:ea typeface="Arial"/>
                <a:cs typeface="Arial"/>
              </a:defRPr>
            </a:lvl1pPr>
            <a:lvl2pPr algn="l">
              <a:buNone/>
              <a:defRPr sz="1200" b="0">
                <a:solidFill>
                  <a:srgbClr val="586A79"/>
                </a:solidFill>
                <a:latin typeface="Arial"/>
                <a:ea typeface="Arial"/>
                <a:cs typeface="Arial"/>
              </a:defRPr>
            </a:lvl2pPr>
            <a:lvl3pPr algn="l">
              <a:buNone/>
              <a:defRPr sz="1200" b="0">
                <a:solidFill>
                  <a:srgbClr val="586A79"/>
                </a:solidFill>
                <a:latin typeface="Arial"/>
                <a:ea typeface="Arial"/>
                <a:cs typeface="Arial"/>
              </a:defRPr>
            </a:lvl3pPr>
            <a:lvl4pPr algn="l">
              <a:buNone/>
              <a:defRPr sz="1200" b="0">
                <a:solidFill>
                  <a:srgbClr val="586A79"/>
                </a:solidFill>
                <a:latin typeface="Arial"/>
                <a:ea typeface="Arial"/>
                <a:cs typeface="Arial"/>
              </a:defRPr>
            </a:lvl4pPr>
            <a:lvl5pPr algn="l">
              <a:buNone/>
              <a:defRPr sz="1200" b="0">
                <a:solidFill>
                  <a:srgbClr val="586A79"/>
                </a:solidFill>
                <a:latin typeface="Arial"/>
                <a:ea typeface="Arial"/>
                <a:cs typeface="Arial"/>
              </a:defRPr>
            </a:lvl5pPr>
            <a:lvl6pPr algn="l">
              <a:buNone/>
              <a:defRPr sz="1200" b="0">
                <a:solidFill>
                  <a:srgbClr val="586A79"/>
                </a:solidFill>
                <a:latin typeface="Arial"/>
                <a:ea typeface="Arial"/>
                <a:cs typeface="Arial"/>
              </a:defRPr>
            </a:lvl6pPr>
            <a:lvl7pPr algn="l">
              <a:buNone/>
              <a:defRPr sz="1200" b="0">
                <a:solidFill>
                  <a:srgbClr val="586A79"/>
                </a:solidFill>
                <a:latin typeface="Arial"/>
                <a:ea typeface="Arial"/>
                <a:cs typeface="Arial"/>
              </a:defRPr>
            </a:lvl7pPr>
            <a:lvl8pPr algn="l">
              <a:buNone/>
              <a:defRPr sz="1200" b="0">
                <a:solidFill>
                  <a:srgbClr val="586A79"/>
                </a:solidFill>
                <a:latin typeface="Arial"/>
                <a:ea typeface="Arial"/>
                <a:cs typeface="Arial"/>
              </a:defRPr>
            </a:lvl8pPr>
            <a:lvl9pPr algn="l">
              <a:buNone/>
              <a:defRPr sz="1200" b="0">
                <a:solidFill>
                  <a:srgbClr val="586A79"/>
                </a:solidFill>
                <a:latin typeface="Arial"/>
                <a:ea typeface="Arial"/>
                <a:cs typeface="Arial"/>
              </a:defRPr>
            </a:lvl9pPr>
          </a:lstStyle>
          <a:p>
            <a:pPr algn="l">
              <a:buNone/>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3" name="text-Member A    01 / 08">
            <a:extLst>
              <a:ext uri="{FF2B5EF4-FFF2-40B4-BE49-F238E27FC236}">
                <a16:creationId xmlns:a16="http://schemas.microsoft.com/office/drawing/2014/main" id="{C386F9D7-D6EF-4448-A471-5B5380A7716F}"/>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buNone/>
              <a:defRPr sz="1200" b="0">
                <a:solidFill>
                  <a:srgbClr val="586A79"/>
                </a:solidFill>
                <a:latin typeface="Arial"/>
                <a:ea typeface="Arial"/>
                <a:cs typeface="Arial"/>
              </a:defRPr>
            </a:lvl1pPr>
            <a:lvl2pPr algn="r">
              <a:buNone/>
              <a:defRPr sz="1200" b="0">
                <a:solidFill>
                  <a:srgbClr val="586A79"/>
                </a:solidFill>
                <a:latin typeface="Arial"/>
                <a:ea typeface="Arial"/>
                <a:cs typeface="Arial"/>
              </a:defRPr>
            </a:lvl2pPr>
            <a:lvl3pPr algn="r">
              <a:buNone/>
              <a:defRPr sz="1200" b="0">
                <a:solidFill>
                  <a:srgbClr val="586A79"/>
                </a:solidFill>
                <a:latin typeface="Arial"/>
                <a:ea typeface="Arial"/>
                <a:cs typeface="Arial"/>
              </a:defRPr>
            </a:lvl3pPr>
            <a:lvl4pPr algn="r">
              <a:buNone/>
              <a:defRPr sz="1200" b="0">
                <a:solidFill>
                  <a:srgbClr val="586A79"/>
                </a:solidFill>
                <a:latin typeface="Arial"/>
                <a:ea typeface="Arial"/>
                <a:cs typeface="Arial"/>
              </a:defRPr>
            </a:lvl4pPr>
            <a:lvl5pPr algn="r">
              <a:buNone/>
              <a:defRPr sz="1200" b="0">
                <a:solidFill>
                  <a:srgbClr val="586A79"/>
                </a:solidFill>
                <a:latin typeface="Arial"/>
                <a:ea typeface="Arial"/>
                <a:cs typeface="Arial"/>
              </a:defRPr>
            </a:lvl5pPr>
            <a:lvl6pPr algn="r">
              <a:buNone/>
              <a:defRPr sz="1200" b="0">
                <a:solidFill>
                  <a:srgbClr val="586A79"/>
                </a:solidFill>
                <a:latin typeface="Arial"/>
                <a:ea typeface="Arial"/>
                <a:cs typeface="Arial"/>
              </a:defRPr>
            </a:lvl6pPr>
            <a:lvl7pPr algn="r">
              <a:buNone/>
              <a:defRPr sz="1200" b="0">
                <a:solidFill>
                  <a:srgbClr val="586A79"/>
                </a:solidFill>
                <a:latin typeface="Arial"/>
                <a:ea typeface="Arial"/>
                <a:cs typeface="Arial"/>
              </a:defRPr>
            </a:lvl7pPr>
            <a:lvl8pPr algn="r">
              <a:buNone/>
              <a:defRPr sz="1200" b="0">
                <a:solidFill>
                  <a:srgbClr val="586A79"/>
                </a:solidFill>
                <a:latin typeface="Arial"/>
                <a:ea typeface="Arial"/>
                <a:cs typeface="Arial"/>
              </a:defRPr>
            </a:lvl8pPr>
            <a:lvl9pPr algn="r">
              <a:buNone/>
              <a:defRPr sz="1200" b="0">
                <a:solidFill>
                  <a:srgbClr val="586A79"/>
                </a:solidFill>
                <a:latin typeface="Arial"/>
                <a:ea typeface="Arial"/>
                <a:cs typeface="Arial"/>
              </a:defRPr>
            </a:lvl9pPr>
          </a:lstStyle>
          <a:p>
            <a:pPr algn="r">
              <a:buNone/>
              <a:defRPr sz="1200" b="0">
                <a:solidFill>
                  <a:srgbClr val="586A79"/>
                </a:solidFill>
                <a:latin typeface="Arial"/>
                <a:ea typeface="Arial"/>
                <a:cs typeface="Arial"/>
              </a:defRPr>
            </a:pPr>
            <a:r>
              <a:rPr sz="1200" b="0" dirty="0">
                <a:solidFill>
                  <a:srgbClr val="586A79"/>
                </a:solidFill>
                <a:latin typeface="Arial"/>
                <a:ea typeface="Arial"/>
                <a:cs typeface="Arial"/>
              </a:rPr>
              <a:t>01 / 08</a:t>
            </a:r>
          </a:p>
        </p:txBody>
      </p:sp>
      <p:sp>
        <p:nvSpPr>
          <p:cNvPr id="4" name="text-Industrial Anomaly&#10;Detection wit">
            <a:extLst>
              <a:ext uri="{FF2B5EF4-FFF2-40B4-BE49-F238E27FC236}">
                <a16:creationId xmlns:a16="http://schemas.microsoft.com/office/drawing/2014/main" id="{F31ABDFD-93AA-4B08-BE97-D5A12557BD8E}"/>
              </a:ext>
            </a:extLst>
          </p:cNvPr>
          <p:cNvSpPr>
            <a:spLocks noGrp="1"/>
          </p:cNvSpPr>
          <p:nvPr/>
        </p:nvSpPr>
        <p:spPr>
          <a:xfrm>
            <a:off x="609600" y="762000"/>
            <a:ext cx="7524750" cy="2047875"/>
          </a:xfrm>
          <a:prstGeom prst="rect">
            <a:avLst/>
          </a:prstGeom>
          <a:noFill/>
          <a:ln w="0">
            <a:noFill/>
          </a:ln>
        </p:spPr>
        <p:txBody>
          <a:bodyPr wrap="square" lIns="0" tIns="0" rIns="0" bIns="0" anchor="t">
            <a:noAutofit/>
          </a:bodyPr>
          <a:lstStyle>
            <a:defPPr algn="l">
              <a:defRPr sz="4125" b="1">
                <a:solidFill>
                  <a:srgbClr val="173047"/>
                </a:solidFill>
                <a:latin typeface="Arial"/>
                <a:ea typeface="Arial"/>
                <a:cs typeface="Arial"/>
              </a:defRPr>
            </a:defPPr>
            <a:lvl1pPr algn="l">
              <a:buNone/>
              <a:defRPr sz="4425" b="1">
                <a:solidFill>
                  <a:srgbClr val="173047"/>
                </a:solidFill>
                <a:latin typeface="Arial"/>
                <a:ea typeface="Arial"/>
                <a:cs typeface="Arial"/>
              </a:defRPr>
            </a:lvl1pPr>
            <a:lvl2pPr algn="l">
              <a:buNone/>
              <a:defRPr sz="4425" b="1">
                <a:solidFill>
                  <a:srgbClr val="173047"/>
                </a:solidFill>
                <a:latin typeface="Arial"/>
                <a:ea typeface="Arial"/>
                <a:cs typeface="Arial"/>
              </a:defRPr>
            </a:lvl2pPr>
            <a:lvl3pPr algn="l">
              <a:buNone/>
              <a:defRPr sz="4425" b="1">
                <a:solidFill>
                  <a:srgbClr val="173047"/>
                </a:solidFill>
                <a:latin typeface="Arial"/>
                <a:ea typeface="Arial"/>
                <a:cs typeface="Arial"/>
              </a:defRPr>
            </a:lvl3pPr>
            <a:lvl4pPr algn="l">
              <a:buNone/>
              <a:defRPr sz="4425" b="1">
                <a:solidFill>
                  <a:srgbClr val="173047"/>
                </a:solidFill>
                <a:latin typeface="Arial"/>
                <a:ea typeface="Arial"/>
                <a:cs typeface="Arial"/>
              </a:defRPr>
            </a:lvl4pPr>
            <a:lvl5pPr algn="l">
              <a:buNone/>
              <a:defRPr sz="4425" b="1">
                <a:solidFill>
                  <a:srgbClr val="173047"/>
                </a:solidFill>
                <a:latin typeface="Arial"/>
                <a:ea typeface="Arial"/>
                <a:cs typeface="Arial"/>
              </a:defRPr>
            </a:lvl5pPr>
            <a:lvl6pPr algn="l">
              <a:buNone/>
              <a:defRPr sz="4425" b="1">
                <a:solidFill>
                  <a:srgbClr val="173047"/>
                </a:solidFill>
                <a:latin typeface="Arial"/>
                <a:ea typeface="Arial"/>
                <a:cs typeface="Arial"/>
              </a:defRPr>
            </a:lvl6pPr>
            <a:lvl7pPr algn="l">
              <a:buNone/>
              <a:defRPr sz="4425" b="1">
                <a:solidFill>
                  <a:srgbClr val="173047"/>
                </a:solidFill>
                <a:latin typeface="Arial"/>
                <a:ea typeface="Arial"/>
                <a:cs typeface="Arial"/>
              </a:defRPr>
            </a:lvl7pPr>
            <a:lvl8pPr algn="l">
              <a:buNone/>
              <a:defRPr sz="4425" b="1">
                <a:solidFill>
                  <a:srgbClr val="173047"/>
                </a:solidFill>
                <a:latin typeface="Arial"/>
                <a:ea typeface="Arial"/>
                <a:cs typeface="Arial"/>
              </a:defRPr>
            </a:lvl8pPr>
            <a:lvl9pPr algn="l">
              <a:buNone/>
              <a:defRPr sz="4425" b="1">
                <a:solidFill>
                  <a:srgbClr val="173047"/>
                </a:solidFill>
                <a:latin typeface="Arial"/>
                <a:ea typeface="Arial"/>
                <a:cs typeface="Arial"/>
              </a:defRPr>
            </a:lvl9pPr>
          </a:lstStyle>
          <a:p>
            <a:pPr algn="l">
              <a:buNone/>
              <a:defRPr sz="4425" b="1">
                <a:solidFill>
                  <a:srgbClr val="173047"/>
                </a:solidFill>
                <a:latin typeface="Arial"/>
                <a:ea typeface="Arial"/>
                <a:cs typeface="Arial"/>
              </a:defRPr>
            </a:pPr>
            <a:r>
              <a:rPr sz="4125" b="1">
                <a:solidFill>
                  <a:srgbClr val="173047"/>
                </a:solidFill>
                <a:latin typeface="Arial"/>
                <a:ea typeface="Arial"/>
                <a:cs typeface="Arial"/>
              </a:rPr>
              <a:t>Industrial Anomaly</a:t>
            </a:r>
          </a:p>
          <a:p>
            <a:pPr algn="l">
              <a:buNone/>
              <a:defRPr sz="4425" b="1">
                <a:solidFill>
                  <a:srgbClr val="173047"/>
                </a:solidFill>
                <a:latin typeface="Arial"/>
                <a:ea typeface="Arial"/>
                <a:cs typeface="Arial"/>
              </a:defRPr>
            </a:pPr>
            <a:r>
              <a:rPr sz="4125" b="1">
                <a:solidFill>
                  <a:srgbClr val="173047"/>
                </a:solidFill>
                <a:latin typeface="Arial"/>
                <a:ea typeface="Arial"/>
                <a:cs typeface="Arial"/>
              </a:rPr>
              <a:t>Detection with Limited</a:t>
            </a:r>
          </a:p>
          <a:p>
            <a:pPr algn="l">
              <a:buNone/>
              <a:defRPr sz="4425" b="1">
                <a:solidFill>
                  <a:srgbClr val="173047"/>
                </a:solidFill>
                <a:latin typeface="Arial"/>
                <a:ea typeface="Arial"/>
                <a:cs typeface="Arial"/>
              </a:defRPr>
            </a:pPr>
            <a:r>
              <a:rPr sz="4125" b="1">
                <a:solidFill>
                  <a:srgbClr val="173047"/>
                </a:solidFill>
                <a:latin typeface="Arial"/>
                <a:ea typeface="Arial"/>
                <a:cs typeface="Arial"/>
              </a:rPr>
              <a:t>Normal Samples</a:t>
            </a:r>
          </a:p>
        </p:txBody>
      </p:sp>
      <p:sp>
        <p:nvSpPr>
          <p:cNvPr id="5" name="text-PaDiM">
            <a:extLst>
              <a:ext uri="{FF2B5EF4-FFF2-40B4-BE49-F238E27FC236}">
                <a16:creationId xmlns:a16="http://schemas.microsoft.com/office/drawing/2014/main" id="{E84E4149-C936-49C4-BE54-3B0FF4DCBF92}"/>
              </a:ext>
            </a:extLst>
          </p:cNvPr>
          <p:cNvSpPr>
            <a:spLocks noGrp="1"/>
          </p:cNvSpPr>
          <p:nvPr/>
        </p:nvSpPr>
        <p:spPr>
          <a:xfrm>
            <a:off x="609600" y="3105150"/>
            <a:ext cx="1962150" cy="495300"/>
          </a:xfrm>
          <a:prstGeom prst="rect">
            <a:avLst/>
          </a:prstGeom>
          <a:noFill/>
          <a:ln w="0">
            <a:noFill/>
          </a:ln>
        </p:spPr>
        <p:txBody>
          <a:bodyPr wrap="square" lIns="0" tIns="0" rIns="0" bIns="0" anchor="t">
            <a:noAutofit/>
          </a:bodyPr>
          <a:lstStyle>
            <a:defPPr algn="l">
              <a:defRPr sz="2850" b="1">
                <a:solidFill>
                  <a:srgbClr val="3F729B"/>
                </a:solidFill>
                <a:latin typeface="Arial"/>
                <a:ea typeface="Arial"/>
                <a:cs typeface="Arial"/>
              </a:defRPr>
            </a:defPPr>
            <a:lvl1pPr algn="l">
              <a:buNone/>
              <a:defRPr sz="2850" b="1">
                <a:solidFill>
                  <a:srgbClr val="3F729B"/>
                </a:solidFill>
                <a:latin typeface="Arial"/>
                <a:ea typeface="Arial"/>
                <a:cs typeface="Arial"/>
              </a:defRPr>
            </a:lvl1pPr>
            <a:lvl2pPr algn="l">
              <a:buNone/>
              <a:defRPr sz="2850" b="1">
                <a:solidFill>
                  <a:srgbClr val="3F729B"/>
                </a:solidFill>
                <a:latin typeface="Arial"/>
                <a:ea typeface="Arial"/>
                <a:cs typeface="Arial"/>
              </a:defRPr>
            </a:lvl2pPr>
            <a:lvl3pPr algn="l">
              <a:buNone/>
              <a:defRPr sz="2850" b="1">
                <a:solidFill>
                  <a:srgbClr val="3F729B"/>
                </a:solidFill>
                <a:latin typeface="Arial"/>
                <a:ea typeface="Arial"/>
                <a:cs typeface="Arial"/>
              </a:defRPr>
            </a:lvl3pPr>
            <a:lvl4pPr algn="l">
              <a:buNone/>
              <a:defRPr sz="2850" b="1">
                <a:solidFill>
                  <a:srgbClr val="3F729B"/>
                </a:solidFill>
                <a:latin typeface="Arial"/>
                <a:ea typeface="Arial"/>
                <a:cs typeface="Arial"/>
              </a:defRPr>
            </a:lvl4pPr>
            <a:lvl5pPr algn="l">
              <a:buNone/>
              <a:defRPr sz="2850" b="1">
                <a:solidFill>
                  <a:srgbClr val="3F729B"/>
                </a:solidFill>
                <a:latin typeface="Arial"/>
                <a:ea typeface="Arial"/>
                <a:cs typeface="Arial"/>
              </a:defRPr>
            </a:lvl5pPr>
            <a:lvl6pPr algn="l">
              <a:buNone/>
              <a:defRPr sz="2850" b="1">
                <a:solidFill>
                  <a:srgbClr val="3F729B"/>
                </a:solidFill>
                <a:latin typeface="Arial"/>
                <a:ea typeface="Arial"/>
                <a:cs typeface="Arial"/>
              </a:defRPr>
            </a:lvl6pPr>
            <a:lvl7pPr algn="l">
              <a:buNone/>
              <a:defRPr sz="2850" b="1">
                <a:solidFill>
                  <a:srgbClr val="3F729B"/>
                </a:solidFill>
                <a:latin typeface="Arial"/>
                <a:ea typeface="Arial"/>
                <a:cs typeface="Arial"/>
              </a:defRPr>
            </a:lvl7pPr>
            <a:lvl8pPr algn="l">
              <a:buNone/>
              <a:defRPr sz="2850" b="1">
                <a:solidFill>
                  <a:srgbClr val="3F729B"/>
                </a:solidFill>
                <a:latin typeface="Arial"/>
                <a:ea typeface="Arial"/>
                <a:cs typeface="Arial"/>
              </a:defRPr>
            </a:lvl8pPr>
            <a:lvl9pPr algn="l">
              <a:buNone/>
              <a:defRPr sz="2850" b="1">
                <a:solidFill>
                  <a:srgbClr val="3F729B"/>
                </a:solidFill>
                <a:latin typeface="Arial"/>
                <a:ea typeface="Arial"/>
                <a:cs typeface="Arial"/>
              </a:defRPr>
            </a:lvl9pPr>
          </a:lstStyle>
          <a:p>
            <a:pPr algn="l">
              <a:buNone/>
              <a:defRPr sz="2850" b="1">
                <a:solidFill>
                  <a:srgbClr val="3F729B"/>
                </a:solidFill>
                <a:latin typeface="Arial"/>
                <a:ea typeface="Arial"/>
                <a:cs typeface="Arial"/>
              </a:defRPr>
            </a:pPr>
            <a:r>
              <a:rPr sz="2850" b="1">
                <a:solidFill>
                  <a:srgbClr val="3F729B"/>
                </a:solidFill>
                <a:latin typeface="Arial"/>
                <a:ea typeface="Arial"/>
                <a:cs typeface="Arial"/>
              </a:rPr>
              <a:t>PaDiM</a:t>
            </a:r>
          </a:p>
        </p:txBody>
      </p:sp>
      <p:sp>
        <p:nvSpPr>
          <p:cNvPr id="6" name="text-vs">
            <a:extLst>
              <a:ext uri="{FF2B5EF4-FFF2-40B4-BE49-F238E27FC236}">
                <a16:creationId xmlns:a16="http://schemas.microsoft.com/office/drawing/2014/main" id="{3D778814-BF04-444D-81CF-6E314DCD415F}"/>
              </a:ext>
            </a:extLst>
          </p:cNvPr>
          <p:cNvSpPr>
            <a:spLocks noGrp="1"/>
          </p:cNvSpPr>
          <p:nvPr/>
        </p:nvSpPr>
        <p:spPr>
          <a:xfrm>
            <a:off x="2505075" y="3152775"/>
            <a:ext cx="542925" cy="457200"/>
          </a:xfrm>
          <a:prstGeom prst="rect">
            <a:avLst/>
          </a:prstGeom>
          <a:noFill/>
          <a:ln w="0">
            <a:noFill/>
          </a:ln>
        </p:spPr>
        <p:txBody>
          <a:bodyPr wrap="square" lIns="0" tIns="0" rIns="0" bIns="0" anchor="t">
            <a:noAutofit/>
          </a:bodyPr>
          <a:lstStyle>
            <a:defPPr algn="l">
              <a:defRPr sz="2250" b="0">
                <a:solidFill>
                  <a:srgbClr val="586A79"/>
                </a:solidFill>
                <a:latin typeface="Arial"/>
                <a:ea typeface="Arial"/>
                <a:cs typeface="Arial"/>
              </a:defRPr>
            </a:defPPr>
            <a:lvl1pPr algn="l">
              <a:buNone/>
              <a:defRPr sz="2250" b="0">
                <a:solidFill>
                  <a:srgbClr val="586A79"/>
                </a:solidFill>
                <a:latin typeface="Arial"/>
                <a:ea typeface="Arial"/>
                <a:cs typeface="Arial"/>
              </a:defRPr>
            </a:lvl1pPr>
            <a:lvl2pPr algn="l">
              <a:buNone/>
              <a:defRPr sz="2250" b="0">
                <a:solidFill>
                  <a:srgbClr val="586A79"/>
                </a:solidFill>
                <a:latin typeface="Arial"/>
                <a:ea typeface="Arial"/>
                <a:cs typeface="Arial"/>
              </a:defRPr>
            </a:lvl2pPr>
            <a:lvl3pPr algn="l">
              <a:buNone/>
              <a:defRPr sz="2250" b="0">
                <a:solidFill>
                  <a:srgbClr val="586A79"/>
                </a:solidFill>
                <a:latin typeface="Arial"/>
                <a:ea typeface="Arial"/>
                <a:cs typeface="Arial"/>
              </a:defRPr>
            </a:lvl3pPr>
            <a:lvl4pPr algn="l">
              <a:buNone/>
              <a:defRPr sz="2250" b="0">
                <a:solidFill>
                  <a:srgbClr val="586A79"/>
                </a:solidFill>
                <a:latin typeface="Arial"/>
                <a:ea typeface="Arial"/>
                <a:cs typeface="Arial"/>
              </a:defRPr>
            </a:lvl4pPr>
            <a:lvl5pPr algn="l">
              <a:buNone/>
              <a:defRPr sz="2250" b="0">
                <a:solidFill>
                  <a:srgbClr val="586A79"/>
                </a:solidFill>
                <a:latin typeface="Arial"/>
                <a:ea typeface="Arial"/>
                <a:cs typeface="Arial"/>
              </a:defRPr>
            </a:lvl5pPr>
            <a:lvl6pPr algn="l">
              <a:buNone/>
              <a:defRPr sz="2250" b="0">
                <a:solidFill>
                  <a:srgbClr val="586A79"/>
                </a:solidFill>
                <a:latin typeface="Arial"/>
                <a:ea typeface="Arial"/>
                <a:cs typeface="Arial"/>
              </a:defRPr>
            </a:lvl6pPr>
            <a:lvl7pPr algn="l">
              <a:buNone/>
              <a:defRPr sz="2250" b="0">
                <a:solidFill>
                  <a:srgbClr val="586A79"/>
                </a:solidFill>
                <a:latin typeface="Arial"/>
                <a:ea typeface="Arial"/>
                <a:cs typeface="Arial"/>
              </a:defRPr>
            </a:lvl7pPr>
            <a:lvl8pPr algn="l">
              <a:buNone/>
              <a:defRPr sz="2250" b="0">
                <a:solidFill>
                  <a:srgbClr val="586A79"/>
                </a:solidFill>
                <a:latin typeface="Arial"/>
                <a:ea typeface="Arial"/>
                <a:cs typeface="Arial"/>
              </a:defRPr>
            </a:lvl8pPr>
            <a:lvl9pPr algn="l">
              <a:buNone/>
              <a:defRPr sz="2250" b="0">
                <a:solidFill>
                  <a:srgbClr val="586A79"/>
                </a:solidFill>
                <a:latin typeface="Arial"/>
                <a:ea typeface="Arial"/>
                <a:cs typeface="Arial"/>
              </a:defRPr>
            </a:lvl9pPr>
          </a:lstStyle>
          <a:p>
            <a:pPr algn="l">
              <a:buNone/>
              <a:defRPr sz="2250" b="0">
                <a:solidFill>
                  <a:srgbClr val="586A79"/>
                </a:solidFill>
                <a:latin typeface="Arial"/>
                <a:ea typeface="Arial"/>
                <a:cs typeface="Arial"/>
              </a:defRPr>
            </a:pPr>
            <a:r>
              <a:rPr sz="2250" b="0">
                <a:solidFill>
                  <a:srgbClr val="586A79"/>
                </a:solidFill>
                <a:latin typeface="Arial"/>
                <a:ea typeface="Arial"/>
                <a:cs typeface="Arial"/>
              </a:rPr>
              <a:t>vs</a:t>
            </a:r>
          </a:p>
        </p:txBody>
      </p:sp>
      <p:sp>
        <p:nvSpPr>
          <p:cNvPr id="7" name="text-PatchCore">
            <a:extLst>
              <a:ext uri="{FF2B5EF4-FFF2-40B4-BE49-F238E27FC236}">
                <a16:creationId xmlns:a16="http://schemas.microsoft.com/office/drawing/2014/main" id="{8BD8A67D-D62A-43F2-8691-64E28E5D38C5}"/>
              </a:ext>
            </a:extLst>
          </p:cNvPr>
          <p:cNvSpPr>
            <a:spLocks noGrp="1"/>
          </p:cNvSpPr>
          <p:nvPr/>
        </p:nvSpPr>
        <p:spPr>
          <a:xfrm>
            <a:off x="3105150" y="3105150"/>
            <a:ext cx="2762250" cy="495300"/>
          </a:xfrm>
          <a:prstGeom prst="rect">
            <a:avLst/>
          </a:prstGeom>
          <a:noFill/>
          <a:ln w="0">
            <a:noFill/>
          </a:ln>
        </p:spPr>
        <p:txBody>
          <a:bodyPr wrap="square" lIns="0" tIns="0" rIns="0" bIns="0" anchor="t">
            <a:noAutofit/>
          </a:bodyPr>
          <a:lstStyle>
            <a:defPPr algn="l">
              <a:defRPr sz="2850" b="1">
                <a:solidFill>
                  <a:srgbClr val="C77735"/>
                </a:solidFill>
                <a:latin typeface="Arial"/>
                <a:ea typeface="Arial"/>
                <a:cs typeface="Arial"/>
              </a:defRPr>
            </a:defPPr>
            <a:lvl1pPr algn="l">
              <a:buNone/>
              <a:defRPr sz="2850" b="1">
                <a:solidFill>
                  <a:srgbClr val="C77735"/>
                </a:solidFill>
                <a:latin typeface="Arial"/>
                <a:ea typeface="Arial"/>
                <a:cs typeface="Arial"/>
              </a:defRPr>
            </a:lvl1pPr>
            <a:lvl2pPr algn="l">
              <a:buNone/>
              <a:defRPr sz="2850" b="1">
                <a:solidFill>
                  <a:srgbClr val="C77735"/>
                </a:solidFill>
                <a:latin typeface="Arial"/>
                <a:ea typeface="Arial"/>
                <a:cs typeface="Arial"/>
              </a:defRPr>
            </a:lvl2pPr>
            <a:lvl3pPr algn="l">
              <a:buNone/>
              <a:defRPr sz="2850" b="1">
                <a:solidFill>
                  <a:srgbClr val="C77735"/>
                </a:solidFill>
                <a:latin typeface="Arial"/>
                <a:ea typeface="Arial"/>
                <a:cs typeface="Arial"/>
              </a:defRPr>
            </a:lvl3pPr>
            <a:lvl4pPr algn="l">
              <a:buNone/>
              <a:defRPr sz="2850" b="1">
                <a:solidFill>
                  <a:srgbClr val="C77735"/>
                </a:solidFill>
                <a:latin typeface="Arial"/>
                <a:ea typeface="Arial"/>
                <a:cs typeface="Arial"/>
              </a:defRPr>
            </a:lvl4pPr>
            <a:lvl5pPr algn="l">
              <a:buNone/>
              <a:defRPr sz="2850" b="1">
                <a:solidFill>
                  <a:srgbClr val="C77735"/>
                </a:solidFill>
                <a:latin typeface="Arial"/>
                <a:ea typeface="Arial"/>
                <a:cs typeface="Arial"/>
              </a:defRPr>
            </a:lvl5pPr>
            <a:lvl6pPr algn="l">
              <a:buNone/>
              <a:defRPr sz="2850" b="1">
                <a:solidFill>
                  <a:srgbClr val="C77735"/>
                </a:solidFill>
                <a:latin typeface="Arial"/>
                <a:ea typeface="Arial"/>
                <a:cs typeface="Arial"/>
              </a:defRPr>
            </a:lvl6pPr>
            <a:lvl7pPr algn="l">
              <a:buNone/>
              <a:defRPr sz="2850" b="1">
                <a:solidFill>
                  <a:srgbClr val="C77735"/>
                </a:solidFill>
                <a:latin typeface="Arial"/>
                <a:ea typeface="Arial"/>
                <a:cs typeface="Arial"/>
              </a:defRPr>
            </a:lvl7pPr>
            <a:lvl8pPr algn="l">
              <a:buNone/>
              <a:defRPr sz="2850" b="1">
                <a:solidFill>
                  <a:srgbClr val="C77735"/>
                </a:solidFill>
                <a:latin typeface="Arial"/>
                <a:ea typeface="Arial"/>
                <a:cs typeface="Arial"/>
              </a:defRPr>
            </a:lvl8pPr>
            <a:lvl9pPr algn="l">
              <a:buNone/>
              <a:defRPr sz="2850" b="1">
                <a:solidFill>
                  <a:srgbClr val="C77735"/>
                </a:solidFill>
                <a:latin typeface="Arial"/>
                <a:ea typeface="Arial"/>
                <a:cs typeface="Arial"/>
              </a:defRPr>
            </a:lvl9pPr>
          </a:lstStyle>
          <a:p>
            <a:pPr algn="l">
              <a:buNone/>
              <a:defRPr sz="2850" b="1">
                <a:solidFill>
                  <a:srgbClr val="C77735"/>
                </a:solidFill>
                <a:latin typeface="Arial"/>
                <a:ea typeface="Arial"/>
                <a:cs typeface="Arial"/>
              </a:defRPr>
            </a:pPr>
            <a:r>
              <a:rPr sz="2850" b="1">
                <a:solidFill>
                  <a:srgbClr val="C77735"/>
                </a:solidFill>
                <a:latin typeface="Arial"/>
                <a:ea typeface="Arial"/>
                <a:cs typeface="Arial"/>
              </a:rPr>
              <a:t>PatchCore</a:t>
            </a:r>
          </a:p>
        </p:txBody>
      </p:sp>
      <p:sp>
        <p:nvSpPr>
          <p:cNvPr id="8" name="text-Learning normal appearance for d">
            <a:extLst>
              <a:ext uri="{FF2B5EF4-FFF2-40B4-BE49-F238E27FC236}">
                <a16:creationId xmlns:a16="http://schemas.microsoft.com/office/drawing/2014/main" id="{E6E20769-81EA-4B0C-BB61-379C38F899C3}"/>
              </a:ext>
            </a:extLst>
          </p:cNvPr>
          <p:cNvSpPr>
            <a:spLocks noGrp="1"/>
          </p:cNvSpPr>
          <p:nvPr/>
        </p:nvSpPr>
        <p:spPr>
          <a:xfrm>
            <a:off x="609600" y="3819525"/>
            <a:ext cx="7524750" cy="428625"/>
          </a:xfrm>
          <a:prstGeom prst="rect">
            <a:avLst/>
          </a:prstGeom>
          <a:noFill/>
          <a:ln w="0">
            <a:noFill/>
          </a:ln>
        </p:spPr>
        <p:txBody>
          <a:bodyPr wrap="square" lIns="0" tIns="0" rIns="0" bIns="0" anchor="t">
            <a:noAutofit/>
          </a:bodyPr>
          <a:lstStyle>
            <a:defPPr algn="l">
              <a:defRPr sz="1875" b="0">
                <a:solidFill>
                  <a:srgbClr val="586A79"/>
                </a:solidFill>
                <a:latin typeface="Arial"/>
                <a:ea typeface="Arial"/>
                <a:cs typeface="Arial"/>
              </a:defRPr>
            </a:defPPr>
            <a:lvl1pPr algn="l">
              <a:buNone/>
              <a:defRPr sz="2025" b="0">
                <a:solidFill>
                  <a:srgbClr val="586A79"/>
                </a:solidFill>
                <a:latin typeface="Arial"/>
                <a:ea typeface="Arial"/>
                <a:cs typeface="Arial"/>
              </a:defRPr>
            </a:lvl1pPr>
            <a:lvl2pPr algn="l">
              <a:buNone/>
              <a:defRPr sz="2025" b="0">
                <a:solidFill>
                  <a:srgbClr val="586A79"/>
                </a:solidFill>
                <a:latin typeface="Arial"/>
                <a:ea typeface="Arial"/>
                <a:cs typeface="Arial"/>
              </a:defRPr>
            </a:lvl2pPr>
            <a:lvl3pPr algn="l">
              <a:buNone/>
              <a:defRPr sz="2025" b="0">
                <a:solidFill>
                  <a:srgbClr val="586A79"/>
                </a:solidFill>
                <a:latin typeface="Arial"/>
                <a:ea typeface="Arial"/>
                <a:cs typeface="Arial"/>
              </a:defRPr>
            </a:lvl3pPr>
            <a:lvl4pPr algn="l">
              <a:buNone/>
              <a:defRPr sz="2025" b="0">
                <a:solidFill>
                  <a:srgbClr val="586A79"/>
                </a:solidFill>
                <a:latin typeface="Arial"/>
                <a:ea typeface="Arial"/>
                <a:cs typeface="Arial"/>
              </a:defRPr>
            </a:lvl4pPr>
            <a:lvl5pPr algn="l">
              <a:buNone/>
              <a:defRPr sz="2025" b="0">
                <a:solidFill>
                  <a:srgbClr val="586A79"/>
                </a:solidFill>
                <a:latin typeface="Arial"/>
                <a:ea typeface="Arial"/>
                <a:cs typeface="Arial"/>
              </a:defRPr>
            </a:lvl5pPr>
            <a:lvl6pPr algn="l">
              <a:buNone/>
              <a:defRPr sz="2025" b="0">
                <a:solidFill>
                  <a:srgbClr val="586A79"/>
                </a:solidFill>
                <a:latin typeface="Arial"/>
                <a:ea typeface="Arial"/>
                <a:cs typeface="Arial"/>
              </a:defRPr>
            </a:lvl6pPr>
            <a:lvl7pPr algn="l">
              <a:buNone/>
              <a:defRPr sz="2025" b="0">
                <a:solidFill>
                  <a:srgbClr val="586A79"/>
                </a:solidFill>
                <a:latin typeface="Arial"/>
                <a:ea typeface="Arial"/>
                <a:cs typeface="Arial"/>
              </a:defRPr>
            </a:lvl7pPr>
            <a:lvl8pPr algn="l">
              <a:buNone/>
              <a:defRPr sz="2025" b="0">
                <a:solidFill>
                  <a:srgbClr val="586A79"/>
                </a:solidFill>
                <a:latin typeface="Arial"/>
                <a:ea typeface="Arial"/>
                <a:cs typeface="Arial"/>
              </a:defRPr>
            </a:lvl8pPr>
            <a:lvl9pPr algn="l">
              <a:buNone/>
              <a:defRPr sz="2025" b="0">
                <a:solidFill>
                  <a:srgbClr val="586A79"/>
                </a:solidFill>
                <a:latin typeface="Arial"/>
                <a:ea typeface="Arial"/>
                <a:cs typeface="Arial"/>
              </a:defRPr>
            </a:lvl9pPr>
          </a:lstStyle>
          <a:p>
            <a:pPr algn="l">
              <a:buNone/>
              <a:defRPr sz="2025" b="0">
                <a:solidFill>
                  <a:srgbClr val="586A79"/>
                </a:solidFill>
                <a:latin typeface="Arial"/>
                <a:ea typeface="Arial"/>
                <a:cs typeface="Arial"/>
              </a:defRPr>
            </a:pPr>
            <a:r>
              <a:rPr sz="1875" b="0">
                <a:solidFill>
                  <a:srgbClr val="586A79"/>
                </a:solidFill>
                <a:latin typeface="Arial"/>
                <a:ea typeface="Arial"/>
                <a:cs typeface="Arial"/>
              </a:rPr>
              <a:t>Learning normal appearance for defect inspection</a:t>
            </a:r>
          </a:p>
        </p:txBody>
      </p:sp>
      <p:pic>
        <p:nvPicPr>
          <p:cNvPr id="9" name="图片 8">
            <a:extLst>
              <a:ext uri="{FF2B5EF4-FFF2-40B4-BE49-F238E27FC236}">
                <a16:creationId xmlns:a16="http://schemas.microsoft.com/office/drawing/2014/main" id="{3EA1A4D3-3971-40C0-8870-CBF46B1A2DD4}"/>
              </a:ext>
            </a:extLst>
          </p:cNvPr>
          <p:cNvPicPr>
            <a:picLocks noChangeAspect="1"/>
          </p:cNvPicPr>
          <p:nvPr/>
        </p:nvPicPr>
        <p:blipFill>
          <a:blip r:embed="rId3"/>
          <a:stretch/>
        </p:blipFill>
        <p:spPr>
          <a:xfrm>
            <a:off x="8572500" y="952500"/>
            <a:ext cx="2857500" cy="2857500"/>
          </a:xfrm>
          <a:prstGeom prst="rect">
            <a:avLst/>
          </a:prstGeom>
        </p:spPr>
      </p:pic>
      <p:sp>
        <p:nvSpPr>
          <p:cNvPr id="10" name="text-MVTec AD: small bottle defect">
            <a:extLst>
              <a:ext uri="{FF2B5EF4-FFF2-40B4-BE49-F238E27FC236}">
                <a16:creationId xmlns:a16="http://schemas.microsoft.com/office/drawing/2014/main" id="{8E1FB207-59CF-481A-862E-D3A395713059}"/>
              </a:ext>
            </a:extLst>
          </p:cNvPr>
          <p:cNvSpPr>
            <a:spLocks noGrp="1"/>
          </p:cNvSpPr>
          <p:nvPr/>
        </p:nvSpPr>
        <p:spPr>
          <a:xfrm>
            <a:off x="8210550" y="3952875"/>
            <a:ext cx="3524250" cy="304800"/>
          </a:xfrm>
          <a:prstGeom prst="rect">
            <a:avLst/>
          </a:prstGeom>
          <a:noFill/>
          <a:ln w="0">
            <a:noFill/>
          </a:ln>
        </p:spPr>
        <p:txBody>
          <a:bodyPr wrap="square" lIns="0" tIns="0" rIns="0" bIns="0" anchor="t">
            <a:noAutofit/>
          </a:bodyPr>
          <a:lstStyle>
            <a:defPPr algn="ctr">
              <a:defRPr sz="1500" b="0">
                <a:solidFill>
                  <a:srgbClr val="586A79"/>
                </a:solidFill>
                <a:latin typeface="Arial"/>
                <a:ea typeface="Arial"/>
                <a:cs typeface="Arial"/>
              </a:defRPr>
            </a:defPPr>
            <a:lvl1pPr algn="ctr">
              <a:buNone/>
              <a:defRPr sz="1500" b="0">
                <a:solidFill>
                  <a:srgbClr val="586A79"/>
                </a:solidFill>
                <a:latin typeface="Arial"/>
                <a:ea typeface="Arial"/>
                <a:cs typeface="Arial"/>
              </a:defRPr>
            </a:lvl1pPr>
            <a:lvl2pPr algn="ctr">
              <a:buNone/>
              <a:defRPr sz="1500" b="0">
                <a:solidFill>
                  <a:srgbClr val="586A79"/>
                </a:solidFill>
                <a:latin typeface="Arial"/>
                <a:ea typeface="Arial"/>
                <a:cs typeface="Arial"/>
              </a:defRPr>
            </a:lvl2pPr>
            <a:lvl3pPr algn="ctr">
              <a:buNone/>
              <a:defRPr sz="1500" b="0">
                <a:solidFill>
                  <a:srgbClr val="586A79"/>
                </a:solidFill>
                <a:latin typeface="Arial"/>
                <a:ea typeface="Arial"/>
                <a:cs typeface="Arial"/>
              </a:defRPr>
            </a:lvl3pPr>
            <a:lvl4pPr algn="ctr">
              <a:buNone/>
              <a:defRPr sz="1500" b="0">
                <a:solidFill>
                  <a:srgbClr val="586A79"/>
                </a:solidFill>
                <a:latin typeface="Arial"/>
                <a:ea typeface="Arial"/>
                <a:cs typeface="Arial"/>
              </a:defRPr>
            </a:lvl4pPr>
            <a:lvl5pPr algn="ctr">
              <a:buNone/>
              <a:defRPr sz="1500" b="0">
                <a:solidFill>
                  <a:srgbClr val="586A79"/>
                </a:solidFill>
                <a:latin typeface="Arial"/>
                <a:ea typeface="Arial"/>
                <a:cs typeface="Arial"/>
              </a:defRPr>
            </a:lvl5pPr>
            <a:lvl6pPr algn="ctr">
              <a:buNone/>
              <a:defRPr sz="1500" b="0">
                <a:solidFill>
                  <a:srgbClr val="586A79"/>
                </a:solidFill>
                <a:latin typeface="Arial"/>
                <a:ea typeface="Arial"/>
                <a:cs typeface="Arial"/>
              </a:defRPr>
            </a:lvl6pPr>
            <a:lvl7pPr algn="ctr">
              <a:buNone/>
              <a:defRPr sz="1500" b="0">
                <a:solidFill>
                  <a:srgbClr val="586A79"/>
                </a:solidFill>
                <a:latin typeface="Arial"/>
                <a:ea typeface="Arial"/>
                <a:cs typeface="Arial"/>
              </a:defRPr>
            </a:lvl7pPr>
            <a:lvl8pPr algn="ctr">
              <a:buNone/>
              <a:defRPr sz="1500" b="0">
                <a:solidFill>
                  <a:srgbClr val="586A79"/>
                </a:solidFill>
                <a:latin typeface="Arial"/>
                <a:ea typeface="Arial"/>
                <a:cs typeface="Arial"/>
              </a:defRPr>
            </a:lvl8pPr>
            <a:lvl9pPr algn="ctr">
              <a:buNone/>
              <a:defRPr sz="1500" b="0">
                <a:solidFill>
                  <a:srgbClr val="586A79"/>
                </a:solidFill>
                <a:latin typeface="Arial"/>
                <a:ea typeface="Arial"/>
                <a:cs typeface="Arial"/>
              </a:defRPr>
            </a:lvl9pPr>
          </a:lstStyle>
          <a:p>
            <a:pPr algn="ctr">
              <a:buNone/>
              <a:defRPr sz="1500" b="0">
                <a:solidFill>
                  <a:srgbClr val="586A79"/>
                </a:solidFill>
                <a:latin typeface="Arial"/>
                <a:ea typeface="Arial"/>
                <a:cs typeface="Arial"/>
              </a:defRPr>
            </a:pPr>
            <a:r>
              <a:rPr sz="1500" b="0">
                <a:solidFill>
                  <a:srgbClr val="586A79"/>
                </a:solidFill>
                <a:latin typeface="Arial"/>
                <a:ea typeface="Arial"/>
                <a:cs typeface="Arial"/>
              </a:rPr>
              <a:t>MVTec AD: small bottle defect</a:t>
            </a:r>
          </a:p>
        </p:txBody>
      </p:sp>
      <p:graphicFrame>
        <p:nvGraphicFramePr>
          <p:cNvPr id="28" name="表格 27">
            <a:extLst>
              <a:ext uri="{FF2B5EF4-FFF2-40B4-BE49-F238E27FC236}">
                <a16:creationId xmlns:a16="http://schemas.microsoft.com/office/drawing/2014/main" id="{B8877BE4-F689-B421-DF2A-2A14ADC6EDAD}"/>
              </a:ext>
            </a:extLst>
          </p:cNvPr>
          <p:cNvGraphicFramePr/>
          <p:nvPr>
            <p:extLst>
              <p:ext uri="{D42A27DB-BD31-4B8C-83A1-F6EECF244321}">
                <p14:modId xmlns:p14="http://schemas.microsoft.com/office/powerpoint/2010/main" val="677081609"/>
              </p:ext>
            </p:extLst>
          </p:nvPr>
        </p:nvGraphicFramePr>
        <p:xfrm>
          <a:off x="609600" y="4305300"/>
          <a:ext cx="10820400" cy="1905000"/>
        </p:xfrm>
        <a:graphic>
          <a:graphicData uri="http://schemas.openxmlformats.org/drawingml/2006/table">
            <a:tbl>
              <a:tblPr/>
              <a:tblGrid>
                <a:gridCol w="32385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5105400">
                  <a:extLst>
                    <a:ext uri="{9D8B030D-6E8A-4147-A177-3AD203B41FA5}">
                      <a16:colId xmlns:a16="http://schemas.microsoft.com/office/drawing/2014/main" val="20002"/>
                    </a:ext>
                  </a:extLst>
                </a:gridCol>
              </a:tblGrid>
              <a:tr h="476250">
                <a:tc>
                  <a:txBody>
                    <a:bodyPr/>
                    <a:lstStyle/>
                    <a:p>
                      <a:pPr algn="l"/>
                      <a:endParaRPr sz="1725" b="1" dirty="0">
                        <a:solidFill>
                          <a:srgbClr val="FFFFFF"/>
                        </a:solidFill>
                        <a:latin typeface="Arial" panose="020B0604020202020204"/>
                        <a:ea typeface="Arial" panose="020B0604020202020204"/>
                        <a:cs typeface="Arial" panose="020B0604020202020204"/>
                      </a:endParaRPr>
                    </a:p>
                  </a:txBody>
                  <a:tcPr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34D"/>
                    </a:solidFill>
                  </a:tcPr>
                </a:tc>
                <a:tc>
                  <a:txBody>
                    <a:bodyPr/>
                    <a:lstStyle/>
                    <a:p>
                      <a:pPr algn="l"/>
                      <a:r>
                        <a:rPr sz="1725" b="1">
                          <a:solidFill>
                            <a:srgbClr val="FFFFFF"/>
                          </a:solidFill>
                          <a:latin typeface="Arial" panose="020B0604020202020204"/>
                          <a:ea typeface="Arial" panose="020B0604020202020204"/>
                          <a:cs typeface="Arial" panose="020B0604020202020204"/>
                        </a:rPr>
                        <a:t>Student ID</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15334D"/>
                    </a:solidFill>
                  </a:tcPr>
                </a:tc>
                <a:tc>
                  <a:txBody>
                    <a:bodyPr/>
                    <a:lstStyle/>
                    <a:p>
                      <a:pPr algn="l"/>
                      <a:r>
                        <a:rPr sz="1725" b="1" dirty="0">
                          <a:solidFill>
                            <a:srgbClr val="FFFFFF"/>
                          </a:solidFill>
                          <a:latin typeface="Arial" panose="020B0604020202020204"/>
                          <a:ea typeface="Arial" panose="020B0604020202020204"/>
                          <a:cs typeface="Arial" panose="020B0604020202020204"/>
                        </a:rPr>
                        <a:t>Email</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15334D"/>
                    </a:solidFill>
                  </a:tcPr>
                </a:tc>
                <a:extLst>
                  <a:ext uri="{0D108BD9-81ED-4DB2-BD59-A6C34878D82A}">
                    <a16:rowId xmlns:a16="http://schemas.microsoft.com/office/drawing/2014/main" val="10000"/>
                  </a:ext>
                </a:extLst>
              </a:tr>
              <a:tr h="476250">
                <a:tc>
                  <a:txBody>
                    <a:bodyPr/>
                    <a:lstStyle/>
                    <a:p>
                      <a:pPr algn="l"/>
                      <a:r>
                        <a:rPr lang="en-US" sz="1725" b="0" dirty="0">
                          <a:solidFill>
                            <a:srgbClr val="647788"/>
                          </a:solidFill>
                          <a:latin typeface="Arial" panose="020B0604020202020204"/>
                          <a:ea typeface="Arial" panose="020B0604020202020204"/>
                          <a:cs typeface="Arial" panose="020B0604020202020204"/>
                        </a:rPr>
                        <a:t>MAO HUAJIE</a:t>
                      </a:r>
                      <a:endParaRPr sz="1725" b="0" dirty="0">
                        <a:solidFill>
                          <a:srgbClr val="647788"/>
                        </a:solidFill>
                        <a:latin typeface="Arial" panose="020B0604020202020204"/>
                        <a:ea typeface="Arial" panose="020B0604020202020204"/>
                        <a:cs typeface="Arial" panose="020B0604020202020204"/>
                      </a:endParaRP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7F9"/>
                    </a:solidFill>
                  </a:tcPr>
                </a:tc>
                <a:tc>
                  <a:txBody>
                    <a:bodyPr/>
                    <a:lstStyle/>
                    <a:p>
                      <a:pPr algn="l"/>
                      <a:r>
                        <a:rPr lang="en-US" sz="1725" b="0" dirty="0">
                          <a:solidFill>
                            <a:srgbClr val="647788"/>
                          </a:solidFill>
                          <a:latin typeface="Arial" panose="020B0604020202020204"/>
                          <a:ea typeface="Arial" panose="020B0604020202020204"/>
                          <a:cs typeface="Arial" panose="020B0604020202020204"/>
                        </a:rPr>
                        <a:t>G2509343K</a:t>
                      </a:r>
                      <a:endParaRPr sz="1725" b="0" dirty="0">
                        <a:solidFill>
                          <a:srgbClr val="647788"/>
                        </a:solidFill>
                        <a:latin typeface="Arial" panose="020B0604020202020204"/>
                        <a:ea typeface="Arial" panose="020B0604020202020204"/>
                        <a:cs typeface="Arial" panose="020B0604020202020204"/>
                      </a:endParaRP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7F9"/>
                    </a:solidFill>
                  </a:tcPr>
                </a:tc>
                <a:tc>
                  <a:txBody>
                    <a:bodyPr/>
                    <a:lstStyle/>
                    <a:p>
                      <a:pPr algn="l"/>
                      <a:r>
                        <a:rPr lang="en-US" sz="1725" b="0" dirty="0">
                          <a:solidFill>
                            <a:srgbClr val="647788"/>
                          </a:solidFill>
                          <a:latin typeface="Arial" panose="020B0604020202020204"/>
                          <a:ea typeface="Arial" panose="020B0604020202020204"/>
                          <a:cs typeface="Arial" panose="020B0604020202020204"/>
                        </a:rPr>
                        <a:t>HUAJIE001@e.ntu.edu.sg</a:t>
                      </a:r>
                      <a:endParaRPr sz="1725" b="0" dirty="0">
                        <a:solidFill>
                          <a:srgbClr val="647788"/>
                        </a:solidFill>
                        <a:latin typeface="Arial" panose="020B0604020202020204"/>
                        <a:ea typeface="Arial" panose="020B0604020202020204"/>
                        <a:cs typeface="Arial" panose="020B0604020202020204"/>
                      </a:endParaRP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7F9"/>
                    </a:solidFill>
                  </a:tcPr>
                </a:tc>
                <a:extLst>
                  <a:ext uri="{0D108BD9-81ED-4DB2-BD59-A6C34878D82A}">
                    <a16:rowId xmlns:a16="http://schemas.microsoft.com/office/drawing/2014/main" val="10001"/>
                  </a:ext>
                </a:extLst>
              </a:tr>
              <a:tr h="476250">
                <a:tc>
                  <a:txBody>
                    <a:bodyPr/>
                    <a:lstStyle/>
                    <a:p>
                      <a:pPr algn="l"/>
                      <a:r>
                        <a:rPr lang="en-US" sz="1725" b="0" dirty="0">
                          <a:solidFill>
                            <a:srgbClr val="647788"/>
                          </a:solidFill>
                          <a:latin typeface="Arial" panose="020B0604020202020204"/>
                          <a:ea typeface="Arial" panose="020B0604020202020204"/>
                          <a:cs typeface="Arial" panose="020B0604020202020204"/>
                        </a:rPr>
                        <a:t>ZHANG CHEN</a:t>
                      </a:r>
                      <a:endParaRPr sz="1725" b="0" dirty="0">
                        <a:solidFill>
                          <a:srgbClr val="647788"/>
                        </a:solidFill>
                        <a:latin typeface="Arial" panose="020B0604020202020204"/>
                        <a:ea typeface="Arial" panose="020B0604020202020204"/>
                        <a:cs typeface="Arial" panose="020B0604020202020204"/>
                      </a:endParaRP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pPr algn="l"/>
                      <a:r>
                        <a:rPr lang="en-US" sz="1725" b="0" dirty="0">
                          <a:solidFill>
                            <a:srgbClr val="647788"/>
                          </a:solidFill>
                          <a:latin typeface="Arial" panose="020B0604020202020204"/>
                          <a:ea typeface="Arial" panose="020B0604020202020204"/>
                          <a:cs typeface="Arial" panose="020B0604020202020204"/>
                        </a:rPr>
                        <a:t>G2509302K</a:t>
                      </a:r>
                      <a:endParaRPr sz="1725" b="0" dirty="0">
                        <a:solidFill>
                          <a:srgbClr val="647788"/>
                        </a:solidFill>
                        <a:latin typeface="Arial" panose="020B0604020202020204"/>
                        <a:ea typeface="Arial" panose="020B0604020202020204"/>
                        <a:cs typeface="Arial" panose="020B0604020202020204"/>
                      </a:endParaRP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pPr algn="l"/>
                      <a:r>
                        <a:rPr lang="en-US" sz="1725" b="0" dirty="0">
                          <a:solidFill>
                            <a:srgbClr val="647788"/>
                          </a:solidFill>
                          <a:latin typeface="Arial" panose="020B0604020202020204"/>
                          <a:ea typeface="Arial" panose="020B0604020202020204"/>
                          <a:cs typeface="Arial" panose="020B0604020202020204"/>
                        </a:rPr>
                        <a:t>CZHANG077@e.ntu.edu.sg</a:t>
                      </a:r>
                      <a:endParaRPr sz="1725" b="0" dirty="0">
                        <a:solidFill>
                          <a:srgbClr val="647788"/>
                        </a:solidFill>
                        <a:latin typeface="Arial" panose="020B0604020202020204"/>
                        <a:ea typeface="Arial" panose="020B0604020202020204"/>
                        <a:cs typeface="Arial" panose="020B0604020202020204"/>
                      </a:endParaRP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476250">
                <a:tc>
                  <a:txBody>
                    <a:bodyPr/>
                    <a:lstStyle/>
                    <a:p>
                      <a:pPr algn="l"/>
                      <a:r>
                        <a:rPr lang="en-US" sz="1725" b="0" dirty="0">
                          <a:solidFill>
                            <a:srgbClr val="647788"/>
                          </a:solidFill>
                          <a:latin typeface="Arial" panose="020B0604020202020204"/>
                          <a:ea typeface="Arial" panose="020B0604020202020204"/>
                          <a:cs typeface="Arial" panose="020B0604020202020204"/>
                        </a:rPr>
                        <a:t>CHEN ZEYANG</a:t>
                      </a:r>
                      <a:endParaRPr sz="1725" b="0" dirty="0">
                        <a:solidFill>
                          <a:srgbClr val="647788"/>
                        </a:solidFill>
                        <a:latin typeface="Arial" panose="020B0604020202020204"/>
                        <a:ea typeface="Arial" panose="020B0604020202020204"/>
                        <a:cs typeface="Arial" panose="020B0604020202020204"/>
                      </a:endParaRP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3F7F9"/>
                    </a:solidFill>
                  </a:tcPr>
                </a:tc>
                <a:tc>
                  <a:txBody>
                    <a:bodyPr/>
                    <a:lstStyle/>
                    <a:p>
                      <a:pPr algn="l"/>
                      <a:r>
                        <a:rPr lang="en-US" sz="1725" b="0" dirty="0">
                          <a:solidFill>
                            <a:srgbClr val="647788"/>
                          </a:solidFill>
                          <a:latin typeface="Arial" panose="020B0604020202020204"/>
                          <a:ea typeface="Arial" panose="020B0604020202020204"/>
                          <a:cs typeface="Arial" panose="020B0604020202020204"/>
                        </a:rPr>
                        <a:t>G2509313E</a:t>
                      </a:r>
                      <a:endParaRPr sz="1725" b="0" dirty="0">
                        <a:solidFill>
                          <a:srgbClr val="647788"/>
                        </a:solidFill>
                        <a:latin typeface="Arial" panose="020B0604020202020204"/>
                        <a:ea typeface="Arial" panose="020B0604020202020204"/>
                        <a:cs typeface="Arial" panose="020B0604020202020204"/>
                      </a:endParaRP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3F7F9"/>
                    </a:solidFill>
                  </a:tcPr>
                </a:tc>
                <a:tc>
                  <a:txBody>
                    <a:bodyPr/>
                    <a:lstStyle/>
                    <a:p>
                      <a:pPr algn="l"/>
                      <a:r>
                        <a:rPr lang="en-US" altLang="zh-CN" sz="1725" b="0" dirty="0">
                          <a:solidFill>
                            <a:srgbClr val="647788"/>
                          </a:solidFill>
                          <a:latin typeface="Arial" panose="020B0604020202020204"/>
                          <a:ea typeface="Arial" panose="020B0604020202020204"/>
                          <a:cs typeface="Arial" panose="020B0604020202020204"/>
                        </a:rPr>
                        <a:t>CHEN</a:t>
                      </a:r>
                      <a:r>
                        <a:rPr lang="en-US" sz="1725" b="0" dirty="0">
                          <a:solidFill>
                            <a:srgbClr val="647788"/>
                          </a:solidFill>
                          <a:latin typeface="Arial" panose="020B0604020202020204"/>
                          <a:ea typeface="Arial" panose="020B0604020202020204"/>
                          <a:cs typeface="Arial" panose="020B0604020202020204"/>
                        </a:rPr>
                        <a:t>2042@e.ntu.edu.sg</a:t>
                      </a:r>
                      <a:endParaRPr sz="1725" b="0" dirty="0">
                        <a:solidFill>
                          <a:srgbClr val="647788"/>
                        </a:solidFill>
                        <a:latin typeface="Arial" panose="020B0604020202020204"/>
                        <a:ea typeface="Arial" panose="020B0604020202020204"/>
                        <a:cs typeface="Arial" panose="020B0604020202020204"/>
                      </a:endParaRP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3F7F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3126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Tasks and Evaluation Datasets">
            <a:extLst>
              <a:ext uri="{FF2B5EF4-FFF2-40B4-BE49-F238E27FC236}">
                <a16:creationId xmlns:a16="http://schemas.microsoft.com/office/drawing/2014/main" id="{C0EB0321-E3E5-4D56-B11E-06E24688251C}"/>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Tasks and Evaluation Datasets</a:t>
            </a:r>
          </a:p>
        </p:txBody>
      </p:sp>
      <p:sp>
        <p:nvSpPr>
          <p:cNvPr id="2" name="矩形 1">
            <a:extLst>
              <a:ext uri="{FF2B5EF4-FFF2-40B4-BE49-F238E27FC236}">
                <a16:creationId xmlns:a16="http://schemas.microsoft.com/office/drawing/2014/main" id="{14A03144-47BB-4E76-9589-56086B45B46F}"/>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5D3EC954-FB1C-4B86-B9AC-AEF46C94B743}"/>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A    02 / 08">
            <a:extLst>
              <a:ext uri="{FF2B5EF4-FFF2-40B4-BE49-F238E27FC236}">
                <a16:creationId xmlns:a16="http://schemas.microsoft.com/office/drawing/2014/main" id="{6891CA38-DC88-495E-A6FC-D02AA47B055B}"/>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02 / 08</a:t>
            </a:r>
          </a:p>
        </p:txBody>
      </p:sp>
      <p:sp>
        <p:nvSpPr>
          <p:cNvPr id="5" name="text-Two outputs">
            <a:extLst>
              <a:ext uri="{FF2B5EF4-FFF2-40B4-BE49-F238E27FC236}">
                <a16:creationId xmlns:a16="http://schemas.microsoft.com/office/drawing/2014/main" id="{EBA3D951-A652-471E-A6C4-B558DFA4D46F}"/>
              </a:ext>
            </a:extLst>
          </p:cNvPr>
          <p:cNvSpPr>
            <a:spLocks noGrp="1"/>
          </p:cNvSpPr>
          <p:nvPr/>
        </p:nvSpPr>
        <p:spPr>
          <a:xfrm>
            <a:off x="609600" y="1381125"/>
            <a:ext cx="5143500" cy="381000"/>
          </a:xfrm>
          <a:prstGeom prst="rect">
            <a:avLst/>
          </a:prstGeom>
          <a:noFill/>
          <a:ln w="0">
            <a:noFill/>
          </a:ln>
        </p:spPr>
        <p:txBody>
          <a:bodyPr wrap="square" lIns="0" tIns="0" rIns="0" bIns="0" anchor="t">
            <a:noAutofit/>
          </a:bodyPr>
          <a:lstStyle>
            <a:defPPr algn="l">
              <a:defRPr sz="2175" b="1">
                <a:solidFill>
                  <a:srgbClr val="173047"/>
                </a:solidFill>
                <a:latin typeface="Arial"/>
                <a:ea typeface="Arial"/>
                <a:cs typeface="Arial"/>
              </a:defRPr>
            </a:defPPr>
            <a:lvl1pPr algn="l">
              <a:defRPr sz="2175" b="1">
                <a:solidFill>
                  <a:srgbClr val="173047"/>
                </a:solidFill>
                <a:latin typeface="Arial"/>
                <a:ea typeface="Arial"/>
                <a:cs typeface="Arial"/>
              </a:defRPr>
            </a:lvl1pPr>
            <a:lvl2pPr algn="l">
              <a:defRPr sz="2175" b="1">
                <a:solidFill>
                  <a:srgbClr val="173047"/>
                </a:solidFill>
                <a:latin typeface="Arial"/>
                <a:ea typeface="Arial"/>
                <a:cs typeface="Arial"/>
              </a:defRPr>
            </a:lvl2pPr>
            <a:lvl3pPr algn="l">
              <a:defRPr sz="2175" b="1">
                <a:solidFill>
                  <a:srgbClr val="173047"/>
                </a:solidFill>
                <a:latin typeface="Arial"/>
                <a:ea typeface="Arial"/>
                <a:cs typeface="Arial"/>
              </a:defRPr>
            </a:lvl3pPr>
            <a:lvl4pPr algn="l">
              <a:defRPr sz="2175" b="1">
                <a:solidFill>
                  <a:srgbClr val="173047"/>
                </a:solidFill>
                <a:latin typeface="Arial"/>
                <a:ea typeface="Arial"/>
                <a:cs typeface="Arial"/>
              </a:defRPr>
            </a:lvl4pPr>
            <a:lvl5pPr algn="l">
              <a:defRPr sz="2175" b="1">
                <a:solidFill>
                  <a:srgbClr val="173047"/>
                </a:solidFill>
                <a:latin typeface="Arial"/>
                <a:ea typeface="Arial"/>
                <a:cs typeface="Arial"/>
              </a:defRPr>
            </a:lvl5pPr>
            <a:lvl6pPr algn="l">
              <a:defRPr sz="2175" b="1">
                <a:solidFill>
                  <a:srgbClr val="173047"/>
                </a:solidFill>
                <a:latin typeface="Arial"/>
                <a:ea typeface="Arial"/>
                <a:cs typeface="Arial"/>
              </a:defRPr>
            </a:lvl6pPr>
            <a:lvl7pPr algn="l">
              <a:defRPr sz="2175" b="1">
                <a:solidFill>
                  <a:srgbClr val="173047"/>
                </a:solidFill>
                <a:latin typeface="Arial"/>
                <a:ea typeface="Arial"/>
                <a:cs typeface="Arial"/>
              </a:defRPr>
            </a:lvl7pPr>
            <a:lvl8pPr algn="l">
              <a:defRPr sz="2175" b="1">
                <a:solidFill>
                  <a:srgbClr val="173047"/>
                </a:solidFill>
                <a:latin typeface="Arial"/>
                <a:ea typeface="Arial"/>
                <a:cs typeface="Arial"/>
              </a:defRPr>
            </a:lvl8pPr>
            <a:lvl9pPr algn="l">
              <a:defRPr sz="2175" b="1">
                <a:solidFill>
                  <a:srgbClr val="173047"/>
                </a:solidFill>
                <a:latin typeface="Arial"/>
                <a:ea typeface="Arial"/>
                <a:cs typeface="Arial"/>
              </a:defRPr>
            </a:lvl9pPr>
          </a:lstStyle>
          <a:p>
            <a:pPr algn="l">
              <a:defRPr sz="2175" b="1">
                <a:solidFill>
                  <a:srgbClr val="173047"/>
                </a:solidFill>
                <a:latin typeface="Arial"/>
                <a:ea typeface="Arial"/>
                <a:cs typeface="Arial"/>
              </a:defRPr>
            </a:pPr>
            <a:r>
              <a:rPr sz="2175" b="1">
                <a:solidFill>
                  <a:srgbClr val="173047"/>
                </a:solidFill>
                <a:latin typeface="Arial"/>
                <a:ea typeface="Arial"/>
                <a:cs typeface="Arial"/>
              </a:rPr>
              <a:t>Two outputs</a:t>
            </a:r>
          </a:p>
        </p:txBody>
      </p:sp>
      <p:sp>
        <p:nvSpPr>
          <p:cNvPr id="6" name="text-Image detection: normal or anoma">
            <a:extLst>
              <a:ext uri="{FF2B5EF4-FFF2-40B4-BE49-F238E27FC236}">
                <a16:creationId xmlns:a16="http://schemas.microsoft.com/office/drawing/2014/main" id="{A7E55C79-1E1E-4805-BE91-FF3B0E74C9C8}"/>
              </a:ext>
            </a:extLst>
          </p:cNvPr>
          <p:cNvSpPr>
            <a:spLocks noGrp="1"/>
          </p:cNvSpPr>
          <p:nvPr/>
        </p:nvSpPr>
        <p:spPr>
          <a:xfrm>
            <a:off x="609600" y="1847850"/>
            <a:ext cx="5381625" cy="714375"/>
          </a:xfrm>
          <a:prstGeom prst="rect">
            <a:avLst/>
          </a:prstGeom>
          <a:noFill/>
          <a:ln w="0">
            <a:noFill/>
          </a:ln>
        </p:spPr>
        <p:txBody>
          <a:bodyPr wrap="square" lIns="0" tIns="0" rIns="0" bIns="0" anchor="t">
            <a:noAutofit/>
          </a:bodyPr>
          <a:lstStyle>
            <a:defPPr algn="l">
              <a:defRPr sz="1875" b="0">
                <a:solidFill>
                  <a:srgbClr val="173047"/>
                </a:solidFill>
                <a:latin typeface="Arial"/>
                <a:ea typeface="Arial"/>
                <a:cs typeface="Arial"/>
              </a:defRPr>
            </a:defPPr>
            <a:lvl1pPr algn="l">
              <a:defRPr sz="1875" b="0">
                <a:solidFill>
                  <a:srgbClr val="173047"/>
                </a:solidFill>
                <a:latin typeface="Arial"/>
                <a:ea typeface="Arial"/>
                <a:cs typeface="Arial"/>
              </a:defRPr>
            </a:lvl1pPr>
            <a:lvl2pPr algn="l">
              <a:defRPr sz="1875" b="0">
                <a:solidFill>
                  <a:srgbClr val="173047"/>
                </a:solidFill>
                <a:latin typeface="Arial"/>
                <a:ea typeface="Arial"/>
                <a:cs typeface="Arial"/>
              </a:defRPr>
            </a:lvl2pPr>
            <a:lvl3pPr algn="l">
              <a:defRPr sz="1875" b="0">
                <a:solidFill>
                  <a:srgbClr val="173047"/>
                </a:solidFill>
                <a:latin typeface="Arial"/>
                <a:ea typeface="Arial"/>
                <a:cs typeface="Arial"/>
              </a:defRPr>
            </a:lvl3pPr>
            <a:lvl4pPr algn="l">
              <a:defRPr sz="1875" b="0">
                <a:solidFill>
                  <a:srgbClr val="173047"/>
                </a:solidFill>
                <a:latin typeface="Arial"/>
                <a:ea typeface="Arial"/>
                <a:cs typeface="Arial"/>
              </a:defRPr>
            </a:lvl4pPr>
            <a:lvl5pPr algn="l">
              <a:defRPr sz="1875" b="0">
                <a:solidFill>
                  <a:srgbClr val="173047"/>
                </a:solidFill>
                <a:latin typeface="Arial"/>
                <a:ea typeface="Arial"/>
                <a:cs typeface="Arial"/>
              </a:defRPr>
            </a:lvl5pPr>
            <a:lvl6pPr algn="l">
              <a:defRPr sz="1875" b="0">
                <a:solidFill>
                  <a:srgbClr val="173047"/>
                </a:solidFill>
                <a:latin typeface="Arial"/>
                <a:ea typeface="Arial"/>
                <a:cs typeface="Arial"/>
              </a:defRPr>
            </a:lvl6pPr>
            <a:lvl7pPr algn="l">
              <a:defRPr sz="1875" b="0">
                <a:solidFill>
                  <a:srgbClr val="173047"/>
                </a:solidFill>
                <a:latin typeface="Arial"/>
                <a:ea typeface="Arial"/>
                <a:cs typeface="Arial"/>
              </a:defRPr>
            </a:lvl7pPr>
            <a:lvl8pPr algn="l">
              <a:defRPr sz="1875" b="0">
                <a:solidFill>
                  <a:srgbClr val="173047"/>
                </a:solidFill>
                <a:latin typeface="Arial"/>
                <a:ea typeface="Arial"/>
                <a:cs typeface="Arial"/>
              </a:defRPr>
            </a:lvl8pPr>
            <a:lvl9pPr algn="l">
              <a:defRPr sz="1875" b="0">
                <a:solidFill>
                  <a:srgbClr val="173047"/>
                </a:solidFill>
                <a:latin typeface="Arial"/>
                <a:ea typeface="Arial"/>
                <a:cs typeface="Arial"/>
              </a:defRPr>
            </a:lvl9pPr>
          </a:lstStyle>
          <a:p>
            <a:pPr algn="l">
              <a:defRPr sz="1875" b="0">
                <a:solidFill>
                  <a:srgbClr val="173047"/>
                </a:solidFill>
                <a:latin typeface="Arial"/>
                <a:ea typeface="Arial"/>
                <a:cs typeface="Arial"/>
              </a:defRPr>
            </a:pPr>
            <a:r>
              <a:rPr sz="1875" b="0">
                <a:solidFill>
                  <a:srgbClr val="173047"/>
                </a:solidFill>
                <a:latin typeface="Arial"/>
                <a:ea typeface="Arial"/>
                <a:cs typeface="Arial"/>
              </a:rPr>
              <a:t>Image detection: normal or anomalous</a:t>
            </a:r>
          </a:p>
          <a:p>
            <a:pPr algn="l">
              <a:defRPr sz="1875" b="0">
                <a:solidFill>
                  <a:srgbClr val="173047"/>
                </a:solidFill>
                <a:latin typeface="Arial"/>
                <a:ea typeface="Arial"/>
                <a:cs typeface="Arial"/>
              </a:defRPr>
            </a:pPr>
            <a:r>
              <a:rPr sz="1875" b="0">
                <a:solidFill>
                  <a:srgbClr val="173047"/>
                </a:solidFill>
                <a:latin typeface="Arial"/>
                <a:ea typeface="Arial"/>
                <a:cs typeface="Arial"/>
              </a:rPr>
              <a:t>Pixel localization: where is the defect?</a:t>
            </a:r>
          </a:p>
        </p:txBody>
      </p:sp>
      <p:pic>
        <p:nvPicPr>
          <p:cNvPr id="7" name="图片 6">
            <a:extLst>
              <a:ext uri="{FF2B5EF4-FFF2-40B4-BE49-F238E27FC236}">
                <a16:creationId xmlns:a16="http://schemas.microsoft.com/office/drawing/2014/main" id="{8A9B8F24-56DE-46C9-948F-0A3CD5B3D368}"/>
              </a:ext>
            </a:extLst>
          </p:cNvPr>
          <p:cNvPicPr>
            <a:picLocks noChangeAspect="1"/>
          </p:cNvPicPr>
          <p:nvPr/>
        </p:nvPicPr>
        <p:blipFill>
          <a:blip r:embed="rId3"/>
          <a:stretch/>
        </p:blipFill>
        <p:spPr>
          <a:xfrm>
            <a:off x="685800" y="2800350"/>
            <a:ext cx="2228850" cy="2228850"/>
          </a:xfrm>
          <a:prstGeom prst="rect">
            <a:avLst/>
          </a:prstGeom>
        </p:spPr>
      </p:pic>
      <p:pic>
        <p:nvPicPr>
          <p:cNvPr id="8" name="图片 7">
            <a:extLst>
              <a:ext uri="{FF2B5EF4-FFF2-40B4-BE49-F238E27FC236}">
                <a16:creationId xmlns:a16="http://schemas.microsoft.com/office/drawing/2014/main" id="{F7F90960-EE38-4E5D-9CB6-4DB976BEEF96}"/>
              </a:ext>
            </a:extLst>
          </p:cNvPr>
          <p:cNvPicPr>
            <a:picLocks noChangeAspect="1"/>
          </p:cNvPicPr>
          <p:nvPr/>
        </p:nvPicPr>
        <p:blipFill>
          <a:blip r:embed="rId4"/>
          <a:stretch/>
        </p:blipFill>
        <p:spPr>
          <a:xfrm>
            <a:off x="3238500" y="2800350"/>
            <a:ext cx="2228850" cy="2228850"/>
          </a:xfrm>
          <a:prstGeom prst="rect">
            <a:avLst/>
          </a:prstGeom>
        </p:spPr>
      </p:pic>
      <p:sp>
        <p:nvSpPr>
          <p:cNvPr id="9" name="text-Anomalous image">
            <a:extLst>
              <a:ext uri="{FF2B5EF4-FFF2-40B4-BE49-F238E27FC236}">
                <a16:creationId xmlns:a16="http://schemas.microsoft.com/office/drawing/2014/main" id="{D649B4C2-64B3-4ECB-BDAA-19468FC9422D}"/>
              </a:ext>
            </a:extLst>
          </p:cNvPr>
          <p:cNvSpPr>
            <a:spLocks noGrp="1"/>
          </p:cNvSpPr>
          <p:nvPr/>
        </p:nvSpPr>
        <p:spPr>
          <a:xfrm>
            <a:off x="685800" y="5143500"/>
            <a:ext cx="2228850" cy="304800"/>
          </a:xfrm>
          <a:prstGeom prst="rect">
            <a:avLst/>
          </a:prstGeom>
          <a:noFill/>
          <a:ln w="0">
            <a:noFill/>
          </a:ln>
        </p:spPr>
        <p:txBody>
          <a:bodyPr wrap="square" lIns="0" tIns="0" rIns="0" bIns="0" anchor="t">
            <a:noAutofit/>
          </a:bodyPr>
          <a:lstStyle>
            <a:defPPr algn="ctr">
              <a:defRPr sz="1725" b="0">
                <a:solidFill>
                  <a:srgbClr val="173047"/>
                </a:solidFill>
                <a:latin typeface="Arial"/>
                <a:ea typeface="Arial"/>
                <a:cs typeface="Arial"/>
              </a:defRPr>
            </a:defPPr>
            <a:lvl1pPr algn="ctr">
              <a:defRPr sz="1725" b="0">
                <a:solidFill>
                  <a:srgbClr val="173047"/>
                </a:solidFill>
                <a:latin typeface="Arial"/>
                <a:ea typeface="Arial"/>
                <a:cs typeface="Arial"/>
              </a:defRPr>
            </a:lvl1pPr>
            <a:lvl2pPr algn="ctr">
              <a:defRPr sz="1725" b="0">
                <a:solidFill>
                  <a:srgbClr val="173047"/>
                </a:solidFill>
                <a:latin typeface="Arial"/>
                <a:ea typeface="Arial"/>
                <a:cs typeface="Arial"/>
              </a:defRPr>
            </a:lvl2pPr>
            <a:lvl3pPr algn="ctr">
              <a:defRPr sz="1725" b="0">
                <a:solidFill>
                  <a:srgbClr val="173047"/>
                </a:solidFill>
                <a:latin typeface="Arial"/>
                <a:ea typeface="Arial"/>
                <a:cs typeface="Arial"/>
              </a:defRPr>
            </a:lvl3pPr>
            <a:lvl4pPr algn="ctr">
              <a:defRPr sz="1725" b="0">
                <a:solidFill>
                  <a:srgbClr val="173047"/>
                </a:solidFill>
                <a:latin typeface="Arial"/>
                <a:ea typeface="Arial"/>
                <a:cs typeface="Arial"/>
              </a:defRPr>
            </a:lvl4pPr>
            <a:lvl5pPr algn="ctr">
              <a:defRPr sz="1725" b="0">
                <a:solidFill>
                  <a:srgbClr val="173047"/>
                </a:solidFill>
                <a:latin typeface="Arial"/>
                <a:ea typeface="Arial"/>
                <a:cs typeface="Arial"/>
              </a:defRPr>
            </a:lvl5pPr>
            <a:lvl6pPr algn="ctr">
              <a:defRPr sz="1725" b="0">
                <a:solidFill>
                  <a:srgbClr val="173047"/>
                </a:solidFill>
                <a:latin typeface="Arial"/>
                <a:ea typeface="Arial"/>
                <a:cs typeface="Arial"/>
              </a:defRPr>
            </a:lvl6pPr>
            <a:lvl7pPr algn="ctr">
              <a:defRPr sz="1725" b="0">
                <a:solidFill>
                  <a:srgbClr val="173047"/>
                </a:solidFill>
                <a:latin typeface="Arial"/>
                <a:ea typeface="Arial"/>
                <a:cs typeface="Arial"/>
              </a:defRPr>
            </a:lvl7pPr>
            <a:lvl8pPr algn="ctr">
              <a:defRPr sz="1725" b="0">
                <a:solidFill>
                  <a:srgbClr val="173047"/>
                </a:solidFill>
                <a:latin typeface="Arial"/>
                <a:ea typeface="Arial"/>
                <a:cs typeface="Arial"/>
              </a:defRPr>
            </a:lvl8pPr>
            <a:lvl9pPr algn="ctr">
              <a:defRPr sz="1725" b="0">
                <a:solidFill>
                  <a:srgbClr val="173047"/>
                </a:solidFill>
                <a:latin typeface="Arial"/>
                <a:ea typeface="Arial"/>
                <a:cs typeface="Arial"/>
              </a:defRPr>
            </a:lvl9pPr>
          </a:lstStyle>
          <a:p>
            <a:pPr algn="ctr">
              <a:defRPr sz="1725" b="0">
                <a:solidFill>
                  <a:srgbClr val="173047"/>
                </a:solidFill>
                <a:latin typeface="Arial"/>
                <a:ea typeface="Arial"/>
                <a:cs typeface="Arial"/>
              </a:defRPr>
            </a:pPr>
            <a:r>
              <a:rPr sz="1725" b="0">
                <a:solidFill>
                  <a:srgbClr val="173047"/>
                </a:solidFill>
                <a:latin typeface="Arial"/>
                <a:ea typeface="Arial"/>
                <a:cs typeface="Arial"/>
              </a:rPr>
              <a:t>Anomalous image</a:t>
            </a:r>
          </a:p>
        </p:txBody>
      </p:sp>
      <p:sp>
        <p:nvSpPr>
          <p:cNvPr id="10" name="text-Defect mask">
            <a:extLst>
              <a:ext uri="{FF2B5EF4-FFF2-40B4-BE49-F238E27FC236}">
                <a16:creationId xmlns:a16="http://schemas.microsoft.com/office/drawing/2014/main" id="{30BA8DBE-0902-4E9A-951E-8227D65405E5}"/>
              </a:ext>
            </a:extLst>
          </p:cNvPr>
          <p:cNvSpPr>
            <a:spLocks noGrp="1"/>
          </p:cNvSpPr>
          <p:nvPr/>
        </p:nvSpPr>
        <p:spPr>
          <a:xfrm>
            <a:off x="3238500" y="5143500"/>
            <a:ext cx="2228850" cy="304800"/>
          </a:xfrm>
          <a:prstGeom prst="rect">
            <a:avLst/>
          </a:prstGeom>
          <a:noFill/>
          <a:ln w="0">
            <a:noFill/>
          </a:ln>
        </p:spPr>
        <p:txBody>
          <a:bodyPr wrap="square" lIns="0" tIns="0" rIns="0" bIns="0" anchor="t">
            <a:noAutofit/>
          </a:bodyPr>
          <a:lstStyle>
            <a:defPPr algn="ctr">
              <a:defRPr sz="1725" b="0">
                <a:solidFill>
                  <a:srgbClr val="173047"/>
                </a:solidFill>
                <a:latin typeface="Arial"/>
                <a:ea typeface="Arial"/>
                <a:cs typeface="Arial"/>
              </a:defRPr>
            </a:defPPr>
            <a:lvl1pPr algn="ctr">
              <a:defRPr sz="1725" b="0">
                <a:solidFill>
                  <a:srgbClr val="173047"/>
                </a:solidFill>
                <a:latin typeface="Arial"/>
                <a:ea typeface="Arial"/>
                <a:cs typeface="Arial"/>
              </a:defRPr>
            </a:lvl1pPr>
            <a:lvl2pPr algn="ctr">
              <a:defRPr sz="1725" b="0">
                <a:solidFill>
                  <a:srgbClr val="173047"/>
                </a:solidFill>
                <a:latin typeface="Arial"/>
                <a:ea typeface="Arial"/>
                <a:cs typeface="Arial"/>
              </a:defRPr>
            </a:lvl2pPr>
            <a:lvl3pPr algn="ctr">
              <a:defRPr sz="1725" b="0">
                <a:solidFill>
                  <a:srgbClr val="173047"/>
                </a:solidFill>
                <a:latin typeface="Arial"/>
                <a:ea typeface="Arial"/>
                <a:cs typeface="Arial"/>
              </a:defRPr>
            </a:lvl3pPr>
            <a:lvl4pPr algn="ctr">
              <a:defRPr sz="1725" b="0">
                <a:solidFill>
                  <a:srgbClr val="173047"/>
                </a:solidFill>
                <a:latin typeface="Arial"/>
                <a:ea typeface="Arial"/>
                <a:cs typeface="Arial"/>
              </a:defRPr>
            </a:lvl4pPr>
            <a:lvl5pPr algn="ctr">
              <a:defRPr sz="1725" b="0">
                <a:solidFill>
                  <a:srgbClr val="173047"/>
                </a:solidFill>
                <a:latin typeface="Arial"/>
                <a:ea typeface="Arial"/>
                <a:cs typeface="Arial"/>
              </a:defRPr>
            </a:lvl5pPr>
            <a:lvl6pPr algn="ctr">
              <a:defRPr sz="1725" b="0">
                <a:solidFill>
                  <a:srgbClr val="173047"/>
                </a:solidFill>
                <a:latin typeface="Arial"/>
                <a:ea typeface="Arial"/>
                <a:cs typeface="Arial"/>
              </a:defRPr>
            </a:lvl6pPr>
            <a:lvl7pPr algn="ctr">
              <a:defRPr sz="1725" b="0">
                <a:solidFill>
                  <a:srgbClr val="173047"/>
                </a:solidFill>
                <a:latin typeface="Arial"/>
                <a:ea typeface="Arial"/>
                <a:cs typeface="Arial"/>
              </a:defRPr>
            </a:lvl7pPr>
            <a:lvl8pPr algn="ctr">
              <a:defRPr sz="1725" b="0">
                <a:solidFill>
                  <a:srgbClr val="173047"/>
                </a:solidFill>
                <a:latin typeface="Arial"/>
                <a:ea typeface="Arial"/>
                <a:cs typeface="Arial"/>
              </a:defRPr>
            </a:lvl8pPr>
            <a:lvl9pPr algn="ctr">
              <a:defRPr sz="1725" b="0">
                <a:solidFill>
                  <a:srgbClr val="173047"/>
                </a:solidFill>
                <a:latin typeface="Arial"/>
                <a:ea typeface="Arial"/>
                <a:cs typeface="Arial"/>
              </a:defRPr>
            </a:lvl9pPr>
          </a:lstStyle>
          <a:p>
            <a:pPr algn="ctr">
              <a:defRPr sz="1725" b="0">
                <a:solidFill>
                  <a:srgbClr val="173047"/>
                </a:solidFill>
                <a:latin typeface="Arial"/>
                <a:ea typeface="Arial"/>
                <a:cs typeface="Arial"/>
              </a:defRPr>
            </a:pPr>
            <a:r>
              <a:rPr sz="1725" b="0">
                <a:solidFill>
                  <a:srgbClr val="173047"/>
                </a:solidFill>
                <a:latin typeface="Arial"/>
                <a:ea typeface="Arial"/>
                <a:cs typeface="Arial"/>
              </a:rPr>
              <a:t>Defect mask</a:t>
            </a:r>
          </a:p>
        </p:txBody>
      </p:sp>
      <p:sp>
        <p:nvSpPr>
          <p:cNvPr id="11" name="text-MVTec AD">
            <a:extLst>
              <a:ext uri="{FF2B5EF4-FFF2-40B4-BE49-F238E27FC236}">
                <a16:creationId xmlns:a16="http://schemas.microsoft.com/office/drawing/2014/main" id="{438FF6A8-0DB2-453F-BB74-D3315E5EDD30}"/>
              </a:ext>
            </a:extLst>
          </p:cNvPr>
          <p:cNvSpPr>
            <a:spLocks noGrp="1"/>
          </p:cNvSpPr>
          <p:nvPr/>
        </p:nvSpPr>
        <p:spPr>
          <a:xfrm>
            <a:off x="6553200" y="1381125"/>
            <a:ext cx="5029200" cy="381000"/>
          </a:xfrm>
          <a:prstGeom prst="rect">
            <a:avLst/>
          </a:prstGeom>
          <a:noFill/>
          <a:ln w="0">
            <a:noFill/>
          </a:ln>
        </p:spPr>
        <p:txBody>
          <a:bodyPr wrap="square" lIns="0" tIns="0" rIns="0" bIns="0" anchor="t">
            <a:noAutofit/>
          </a:bodyPr>
          <a:lstStyle>
            <a:defPPr algn="l">
              <a:defRPr sz="2175" b="1">
                <a:solidFill>
                  <a:srgbClr val="173047"/>
                </a:solidFill>
                <a:latin typeface="Arial"/>
                <a:ea typeface="Arial"/>
                <a:cs typeface="Arial"/>
              </a:defRPr>
            </a:defPPr>
            <a:lvl1pPr algn="l">
              <a:defRPr sz="2175" b="1">
                <a:solidFill>
                  <a:srgbClr val="173047"/>
                </a:solidFill>
                <a:latin typeface="Arial"/>
                <a:ea typeface="Arial"/>
                <a:cs typeface="Arial"/>
              </a:defRPr>
            </a:lvl1pPr>
            <a:lvl2pPr algn="l">
              <a:defRPr sz="2175" b="1">
                <a:solidFill>
                  <a:srgbClr val="173047"/>
                </a:solidFill>
                <a:latin typeface="Arial"/>
                <a:ea typeface="Arial"/>
                <a:cs typeface="Arial"/>
              </a:defRPr>
            </a:lvl2pPr>
            <a:lvl3pPr algn="l">
              <a:defRPr sz="2175" b="1">
                <a:solidFill>
                  <a:srgbClr val="173047"/>
                </a:solidFill>
                <a:latin typeface="Arial"/>
                <a:ea typeface="Arial"/>
                <a:cs typeface="Arial"/>
              </a:defRPr>
            </a:lvl3pPr>
            <a:lvl4pPr algn="l">
              <a:defRPr sz="2175" b="1">
                <a:solidFill>
                  <a:srgbClr val="173047"/>
                </a:solidFill>
                <a:latin typeface="Arial"/>
                <a:ea typeface="Arial"/>
                <a:cs typeface="Arial"/>
              </a:defRPr>
            </a:lvl4pPr>
            <a:lvl5pPr algn="l">
              <a:defRPr sz="2175" b="1">
                <a:solidFill>
                  <a:srgbClr val="173047"/>
                </a:solidFill>
                <a:latin typeface="Arial"/>
                <a:ea typeface="Arial"/>
                <a:cs typeface="Arial"/>
              </a:defRPr>
            </a:lvl5pPr>
            <a:lvl6pPr algn="l">
              <a:defRPr sz="2175" b="1">
                <a:solidFill>
                  <a:srgbClr val="173047"/>
                </a:solidFill>
                <a:latin typeface="Arial"/>
                <a:ea typeface="Arial"/>
                <a:cs typeface="Arial"/>
              </a:defRPr>
            </a:lvl6pPr>
            <a:lvl7pPr algn="l">
              <a:defRPr sz="2175" b="1">
                <a:solidFill>
                  <a:srgbClr val="173047"/>
                </a:solidFill>
                <a:latin typeface="Arial"/>
                <a:ea typeface="Arial"/>
                <a:cs typeface="Arial"/>
              </a:defRPr>
            </a:lvl7pPr>
            <a:lvl8pPr algn="l">
              <a:defRPr sz="2175" b="1">
                <a:solidFill>
                  <a:srgbClr val="173047"/>
                </a:solidFill>
                <a:latin typeface="Arial"/>
                <a:ea typeface="Arial"/>
                <a:cs typeface="Arial"/>
              </a:defRPr>
            </a:lvl8pPr>
            <a:lvl9pPr algn="l">
              <a:defRPr sz="2175" b="1">
                <a:solidFill>
                  <a:srgbClr val="173047"/>
                </a:solidFill>
                <a:latin typeface="Arial"/>
                <a:ea typeface="Arial"/>
                <a:cs typeface="Arial"/>
              </a:defRPr>
            </a:lvl9pPr>
          </a:lstStyle>
          <a:p>
            <a:pPr algn="l">
              <a:defRPr sz="2175" b="1">
                <a:solidFill>
                  <a:srgbClr val="173047"/>
                </a:solidFill>
                <a:latin typeface="Arial"/>
                <a:ea typeface="Arial"/>
                <a:cs typeface="Arial"/>
              </a:defRPr>
            </a:pPr>
            <a:r>
              <a:rPr sz="2175" b="1">
                <a:solidFill>
                  <a:srgbClr val="173047"/>
                </a:solidFill>
                <a:latin typeface="Arial"/>
                <a:ea typeface="Arial"/>
                <a:cs typeface="Arial"/>
              </a:rPr>
              <a:t>MVTec AD</a:t>
            </a:r>
          </a:p>
        </p:txBody>
      </p:sp>
      <p:sp>
        <p:nvSpPr>
          <p:cNvPr id="12" name="text-bottle, cable, capsule, screw&#10;ti">
            <a:extLst>
              <a:ext uri="{FF2B5EF4-FFF2-40B4-BE49-F238E27FC236}">
                <a16:creationId xmlns:a16="http://schemas.microsoft.com/office/drawing/2014/main" id="{F5774258-C231-4977-931E-951134892A57}"/>
              </a:ext>
            </a:extLst>
          </p:cNvPr>
          <p:cNvSpPr>
            <a:spLocks noGrp="1"/>
          </p:cNvSpPr>
          <p:nvPr/>
        </p:nvSpPr>
        <p:spPr>
          <a:xfrm>
            <a:off x="6553200" y="1857375"/>
            <a:ext cx="5029200" cy="685800"/>
          </a:xfrm>
          <a:prstGeom prst="rect">
            <a:avLst/>
          </a:prstGeom>
          <a:noFill/>
          <a:ln w="0">
            <a:noFill/>
          </a:ln>
        </p:spPr>
        <p:txBody>
          <a:bodyPr wrap="square" lIns="0" tIns="0" rIns="0" bIns="0" anchor="t">
            <a:noAutofit/>
          </a:bodyPr>
          <a:lstStyle>
            <a:defPPr algn="l">
              <a:defRPr sz="1875" b="0">
                <a:solidFill>
                  <a:srgbClr val="173047"/>
                </a:solidFill>
                <a:latin typeface="Arial"/>
                <a:ea typeface="Arial"/>
                <a:cs typeface="Arial"/>
              </a:defRPr>
            </a:defPPr>
            <a:lvl1pPr algn="l">
              <a:defRPr sz="1875" b="0">
                <a:solidFill>
                  <a:srgbClr val="173047"/>
                </a:solidFill>
                <a:latin typeface="Arial"/>
                <a:ea typeface="Arial"/>
                <a:cs typeface="Arial"/>
              </a:defRPr>
            </a:lvl1pPr>
            <a:lvl2pPr algn="l">
              <a:defRPr sz="1875" b="0">
                <a:solidFill>
                  <a:srgbClr val="173047"/>
                </a:solidFill>
                <a:latin typeface="Arial"/>
                <a:ea typeface="Arial"/>
                <a:cs typeface="Arial"/>
              </a:defRPr>
            </a:lvl2pPr>
            <a:lvl3pPr algn="l">
              <a:defRPr sz="1875" b="0">
                <a:solidFill>
                  <a:srgbClr val="173047"/>
                </a:solidFill>
                <a:latin typeface="Arial"/>
                <a:ea typeface="Arial"/>
                <a:cs typeface="Arial"/>
              </a:defRPr>
            </a:lvl3pPr>
            <a:lvl4pPr algn="l">
              <a:defRPr sz="1875" b="0">
                <a:solidFill>
                  <a:srgbClr val="173047"/>
                </a:solidFill>
                <a:latin typeface="Arial"/>
                <a:ea typeface="Arial"/>
                <a:cs typeface="Arial"/>
              </a:defRPr>
            </a:lvl4pPr>
            <a:lvl5pPr algn="l">
              <a:defRPr sz="1875" b="0">
                <a:solidFill>
                  <a:srgbClr val="173047"/>
                </a:solidFill>
                <a:latin typeface="Arial"/>
                <a:ea typeface="Arial"/>
                <a:cs typeface="Arial"/>
              </a:defRPr>
            </a:lvl5pPr>
            <a:lvl6pPr algn="l">
              <a:defRPr sz="1875" b="0">
                <a:solidFill>
                  <a:srgbClr val="173047"/>
                </a:solidFill>
                <a:latin typeface="Arial"/>
                <a:ea typeface="Arial"/>
                <a:cs typeface="Arial"/>
              </a:defRPr>
            </a:lvl6pPr>
            <a:lvl7pPr algn="l">
              <a:defRPr sz="1875" b="0">
                <a:solidFill>
                  <a:srgbClr val="173047"/>
                </a:solidFill>
                <a:latin typeface="Arial"/>
                <a:ea typeface="Arial"/>
                <a:cs typeface="Arial"/>
              </a:defRPr>
            </a:lvl7pPr>
            <a:lvl8pPr algn="l">
              <a:defRPr sz="1875" b="0">
                <a:solidFill>
                  <a:srgbClr val="173047"/>
                </a:solidFill>
                <a:latin typeface="Arial"/>
                <a:ea typeface="Arial"/>
                <a:cs typeface="Arial"/>
              </a:defRPr>
            </a:lvl8pPr>
            <a:lvl9pPr algn="l">
              <a:defRPr sz="1875" b="0">
                <a:solidFill>
                  <a:srgbClr val="173047"/>
                </a:solidFill>
                <a:latin typeface="Arial"/>
                <a:ea typeface="Arial"/>
                <a:cs typeface="Arial"/>
              </a:defRPr>
            </a:lvl9pPr>
          </a:lstStyle>
          <a:p>
            <a:pPr algn="l">
              <a:defRPr sz="1875" b="0">
                <a:solidFill>
                  <a:srgbClr val="173047"/>
                </a:solidFill>
                <a:latin typeface="Arial"/>
                <a:ea typeface="Arial"/>
                <a:cs typeface="Arial"/>
              </a:defRPr>
            </a:pPr>
            <a:r>
              <a:rPr sz="1875" b="0">
                <a:solidFill>
                  <a:srgbClr val="173047"/>
                </a:solidFill>
                <a:latin typeface="Arial"/>
                <a:ea typeface="Arial"/>
                <a:cs typeface="Arial"/>
              </a:rPr>
              <a:t>bottle, cable, capsule, screw</a:t>
            </a:r>
          </a:p>
          <a:p>
            <a:pPr algn="l">
              <a:defRPr sz="1875" b="0">
                <a:solidFill>
                  <a:srgbClr val="173047"/>
                </a:solidFill>
                <a:latin typeface="Arial"/>
                <a:ea typeface="Arial"/>
                <a:cs typeface="Arial"/>
              </a:defRPr>
            </a:pPr>
            <a:r>
              <a:rPr sz="1875" b="0">
                <a:solidFill>
                  <a:srgbClr val="173047"/>
                </a:solidFill>
                <a:latin typeface="Arial"/>
                <a:ea typeface="Arial"/>
                <a:cs typeface="Arial"/>
              </a:rPr>
              <a:t>tile, wood</a:t>
            </a:r>
          </a:p>
        </p:txBody>
      </p:sp>
      <p:sp>
        <p:nvSpPr>
          <p:cNvPr id="13" name="text-MVTec LOCO extension">
            <a:extLst>
              <a:ext uri="{FF2B5EF4-FFF2-40B4-BE49-F238E27FC236}">
                <a16:creationId xmlns:a16="http://schemas.microsoft.com/office/drawing/2014/main" id="{846AB1AC-4C6A-4F1D-A8B6-89107E85F534}"/>
              </a:ext>
            </a:extLst>
          </p:cNvPr>
          <p:cNvSpPr>
            <a:spLocks noGrp="1"/>
          </p:cNvSpPr>
          <p:nvPr/>
        </p:nvSpPr>
        <p:spPr>
          <a:xfrm>
            <a:off x="6553200" y="2771775"/>
            <a:ext cx="5029200" cy="381000"/>
          </a:xfrm>
          <a:prstGeom prst="rect">
            <a:avLst/>
          </a:prstGeom>
          <a:noFill/>
          <a:ln w="0">
            <a:noFill/>
          </a:ln>
        </p:spPr>
        <p:txBody>
          <a:bodyPr wrap="square" lIns="0" tIns="0" rIns="0" bIns="0" anchor="t">
            <a:noAutofit/>
          </a:bodyPr>
          <a:lstStyle>
            <a:defPPr algn="l">
              <a:defRPr sz="2175" b="1">
                <a:solidFill>
                  <a:srgbClr val="173047"/>
                </a:solidFill>
                <a:latin typeface="Arial"/>
                <a:ea typeface="Arial"/>
                <a:cs typeface="Arial"/>
              </a:defRPr>
            </a:defPPr>
            <a:lvl1pPr algn="l">
              <a:defRPr sz="2175" b="1">
                <a:solidFill>
                  <a:srgbClr val="173047"/>
                </a:solidFill>
                <a:latin typeface="Arial"/>
                <a:ea typeface="Arial"/>
                <a:cs typeface="Arial"/>
              </a:defRPr>
            </a:lvl1pPr>
            <a:lvl2pPr algn="l">
              <a:defRPr sz="2175" b="1">
                <a:solidFill>
                  <a:srgbClr val="173047"/>
                </a:solidFill>
                <a:latin typeface="Arial"/>
                <a:ea typeface="Arial"/>
                <a:cs typeface="Arial"/>
              </a:defRPr>
            </a:lvl2pPr>
            <a:lvl3pPr algn="l">
              <a:defRPr sz="2175" b="1">
                <a:solidFill>
                  <a:srgbClr val="173047"/>
                </a:solidFill>
                <a:latin typeface="Arial"/>
                <a:ea typeface="Arial"/>
                <a:cs typeface="Arial"/>
              </a:defRPr>
            </a:lvl3pPr>
            <a:lvl4pPr algn="l">
              <a:defRPr sz="2175" b="1">
                <a:solidFill>
                  <a:srgbClr val="173047"/>
                </a:solidFill>
                <a:latin typeface="Arial"/>
                <a:ea typeface="Arial"/>
                <a:cs typeface="Arial"/>
              </a:defRPr>
            </a:lvl4pPr>
            <a:lvl5pPr algn="l">
              <a:defRPr sz="2175" b="1">
                <a:solidFill>
                  <a:srgbClr val="173047"/>
                </a:solidFill>
                <a:latin typeface="Arial"/>
                <a:ea typeface="Arial"/>
                <a:cs typeface="Arial"/>
              </a:defRPr>
            </a:lvl5pPr>
            <a:lvl6pPr algn="l">
              <a:defRPr sz="2175" b="1">
                <a:solidFill>
                  <a:srgbClr val="173047"/>
                </a:solidFill>
                <a:latin typeface="Arial"/>
                <a:ea typeface="Arial"/>
                <a:cs typeface="Arial"/>
              </a:defRPr>
            </a:lvl6pPr>
            <a:lvl7pPr algn="l">
              <a:defRPr sz="2175" b="1">
                <a:solidFill>
                  <a:srgbClr val="173047"/>
                </a:solidFill>
                <a:latin typeface="Arial"/>
                <a:ea typeface="Arial"/>
                <a:cs typeface="Arial"/>
              </a:defRPr>
            </a:lvl7pPr>
            <a:lvl8pPr algn="l">
              <a:defRPr sz="2175" b="1">
                <a:solidFill>
                  <a:srgbClr val="173047"/>
                </a:solidFill>
                <a:latin typeface="Arial"/>
                <a:ea typeface="Arial"/>
                <a:cs typeface="Arial"/>
              </a:defRPr>
            </a:lvl8pPr>
            <a:lvl9pPr algn="l">
              <a:defRPr sz="2175" b="1">
                <a:solidFill>
                  <a:srgbClr val="173047"/>
                </a:solidFill>
                <a:latin typeface="Arial"/>
                <a:ea typeface="Arial"/>
                <a:cs typeface="Arial"/>
              </a:defRPr>
            </a:lvl9pPr>
          </a:lstStyle>
          <a:p>
            <a:pPr algn="l">
              <a:defRPr sz="2175" b="1">
                <a:solidFill>
                  <a:srgbClr val="173047"/>
                </a:solidFill>
                <a:latin typeface="Arial"/>
                <a:ea typeface="Arial"/>
                <a:cs typeface="Arial"/>
              </a:defRPr>
            </a:pPr>
            <a:r>
              <a:rPr sz="2175" b="1">
                <a:solidFill>
                  <a:srgbClr val="173047"/>
                </a:solidFill>
                <a:latin typeface="Arial"/>
                <a:ea typeface="Arial"/>
                <a:cs typeface="Arial"/>
              </a:rPr>
              <a:t>MVTec LOCO extension</a:t>
            </a:r>
          </a:p>
        </p:txBody>
      </p:sp>
      <p:sp>
        <p:nvSpPr>
          <p:cNvPr id="14" name="text-juice bottle and screw bag&#10;Logic">
            <a:extLst>
              <a:ext uri="{FF2B5EF4-FFF2-40B4-BE49-F238E27FC236}">
                <a16:creationId xmlns:a16="http://schemas.microsoft.com/office/drawing/2014/main" id="{5D06A7C5-034E-4D64-865C-24F52D5E1D67}"/>
              </a:ext>
            </a:extLst>
          </p:cNvPr>
          <p:cNvSpPr>
            <a:spLocks noGrp="1"/>
          </p:cNvSpPr>
          <p:nvPr/>
        </p:nvSpPr>
        <p:spPr>
          <a:xfrm>
            <a:off x="6553200" y="3238500"/>
            <a:ext cx="5029200" cy="704850"/>
          </a:xfrm>
          <a:prstGeom prst="rect">
            <a:avLst/>
          </a:prstGeom>
          <a:noFill/>
          <a:ln w="0">
            <a:noFill/>
          </a:ln>
        </p:spPr>
        <p:txBody>
          <a:bodyPr wrap="square" lIns="0" tIns="0" rIns="0" bIns="0" anchor="t">
            <a:noAutofit/>
          </a:bodyPr>
          <a:lstStyle>
            <a:defPPr algn="l">
              <a:defRPr sz="1875" b="0">
                <a:solidFill>
                  <a:srgbClr val="173047"/>
                </a:solidFill>
                <a:latin typeface="Arial"/>
                <a:ea typeface="Arial"/>
                <a:cs typeface="Arial"/>
              </a:defRPr>
            </a:defPPr>
            <a:lvl1pPr algn="l">
              <a:defRPr sz="1875" b="0">
                <a:solidFill>
                  <a:srgbClr val="173047"/>
                </a:solidFill>
                <a:latin typeface="Arial"/>
                <a:ea typeface="Arial"/>
                <a:cs typeface="Arial"/>
              </a:defRPr>
            </a:lvl1pPr>
            <a:lvl2pPr algn="l">
              <a:defRPr sz="1875" b="0">
                <a:solidFill>
                  <a:srgbClr val="173047"/>
                </a:solidFill>
                <a:latin typeface="Arial"/>
                <a:ea typeface="Arial"/>
                <a:cs typeface="Arial"/>
              </a:defRPr>
            </a:lvl2pPr>
            <a:lvl3pPr algn="l">
              <a:defRPr sz="1875" b="0">
                <a:solidFill>
                  <a:srgbClr val="173047"/>
                </a:solidFill>
                <a:latin typeface="Arial"/>
                <a:ea typeface="Arial"/>
                <a:cs typeface="Arial"/>
              </a:defRPr>
            </a:lvl3pPr>
            <a:lvl4pPr algn="l">
              <a:defRPr sz="1875" b="0">
                <a:solidFill>
                  <a:srgbClr val="173047"/>
                </a:solidFill>
                <a:latin typeface="Arial"/>
                <a:ea typeface="Arial"/>
                <a:cs typeface="Arial"/>
              </a:defRPr>
            </a:lvl4pPr>
            <a:lvl5pPr algn="l">
              <a:defRPr sz="1875" b="0">
                <a:solidFill>
                  <a:srgbClr val="173047"/>
                </a:solidFill>
                <a:latin typeface="Arial"/>
                <a:ea typeface="Arial"/>
                <a:cs typeface="Arial"/>
              </a:defRPr>
            </a:lvl5pPr>
            <a:lvl6pPr algn="l">
              <a:defRPr sz="1875" b="0">
                <a:solidFill>
                  <a:srgbClr val="173047"/>
                </a:solidFill>
                <a:latin typeface="Arial"/>
                <a:ea typeface="Arial"/>
                <a:cs typeface="Arial"/>
              </a:defRPr>
            </a:lvl6pPr>
            <a:lvl7pPr algn="l">
              <a:defRPr sz="1875" b="0">
                <a:solidFill>
                  <a:srgbClr val="173047"/>
                </a:solidFill>
                <a:latin typeface="Arial"/>
                <a:ea typeface="Arial"/>
                <a:cs typeface="Arial"/>
              </a:defRPr>
            </a:lvl7pPr>
            <a:lvl8pPr algn="l">
              <a:defRPr sz="1875" b="0">
                <a:solidFill>
                  <a:srgbClr val="173047"/>
                </a:solidFill>
                <a:latin typeface="Arial"/>
                <a:ea typeface="Arial"/>
                <a:cs typeface="Arial"/>
              </a:defRPr>
            </a:lvl8pPr>
            <a:lvl9pPr algn="l">
              <a:defRPr sz="1875" b="0">
                <a:solidFill>
                  <a:srgbClr val="173047"/>
                </a:solidFill>
                <a:latin typeface="Arial"/>
                <a:ea typeface="Arial"/>
                <a:cs typeface="Arial"/>
              </a:defRPr>
            </a:lvl9pPr>
          </a:lstStyle>
          <a:p>
            <a:pPr algn="l">
              <a:defRPr sz="1875" b="0">
                <a:solidFill>
                  <a:srgbClr val="173047"/>
                </a:solidFill>
                <a:latin typeface="Arial"/>
                <a:ea typeface="Arial"/>
                <a:cs typeface="Arial"/>
              </a:defRPr>
            </a:pPr>
            <a:r>
              <a:rPr sz="1875" b="0">
                <a:solidFill>
                  <a:srgbClr val="173047"/>
                </a:solidFill>
                <a:latin typeface="Arial"/>
                <a:ea typeface="Arial"/>
                <a:cs typeface="Arial"/>
              </a:rPr>
              <a:t>juice bottle and screw bag</a:t>
            </a:r>
          </a:p>
          <a:p>
            <a:pPr algn="l">
              <a:defRPr sz="1875" b="0">
                <a:solidFill>
                  <a:srgbClr val="173047"/>
                </a:solidFill>
                <a:latin typeface="Arial"/>
                <a:ea typeface="Arial"/>
                <a:cs typeface="Arial"/>
              </a:defRPr>
            </a:pPr>
            <a:r>
              <a:rPr sz="1875" b="0">
                <a:solidFill>
                  <a:srgbClr val="173047"/>
                </a:solidFill>
                <a:latin typeface="Arial"/>
                <a:ea typeface="Arial"/>
                <a:cs typeface="Arial"/>
              </a:rPr>
              <a:t>Logical and structural defects separately</a:t>
            </a:r>
          </a:p>
        </p:txBody>
      </p:sp>
      <p:sp>
        <p:nvSpPr>
          <p:cNvPr id="15" name="矩形 14">
            <a:extLst>
              <a:ext uri="{FF2B5EF4-FFF2-40B4-BE49-F238E27FC236}">
                <a16:creationId xmlns:a16="http://schemas.microsoft.com/office/drawing/2014/main" id="{DD520F36-8BA2-47DE-910E-1C4ED8C33764}"/>
              </a:ext>
            </a:extLst>
          </p:cNvPr>
          <p:cNvSpPr>
            <a:spLocks noGrp="1"/>
          </p:cNvSpPr>
          <p:nvPr/>
        </p:nvSpPr>
        <p:spPr>
          <a:xfrm>
            <a:off x="6553200" y="4191000"/>
            <a:ext cx="5029200" cy="9525"/>
          </a:xfrm>
          <a:prstGeom prst="rect">
            <a:avLst/>
          </a:prstGeom>
          <a:solidFill>
            <a:srgbClr val="DEE5EB"/>
          </a:solidFill>
          <a:ln w="0">
            <a:noFill/>
          </a:ln>
        </p:spPr>
        <p:txBody>
          <a:bodyPr/>
          <a:lstStyle/>
          <a:p>
            <a:endParaRPr lang="zh-CN" altLang="en-US"/>
          </a:p>
        </p:txBody>
      </p:sp>
      <p:sp>
        <p:nvSpPr>
          <p:cNvPr id="16" name="text-Normal training only">
            <a:extLst>
              <a:ext uri="{FF2B5EF4-FFF2-40B4-BE49-F238E27FC236}">
                <a16:creationId xmlns:a16="http://schemas.microsoft.com/office/drawing/2014/main" id="{FF89EB10-6AA6-4240-BD23-35D68D7050A5}"/>
              </a:ext>
            </a:extLst>
          </p:cNvPr>
          <p:cNvSpPr>
            <a:spLocks noGrp="1"/>
          </p:cNvSpPr>
          <p:nvPr/>
        </p:nvSpPr>
        <p:spPr>
          <a:xfrm>
            <a:off x="6553200" y="4410075"/>
            <a:ext cx="5029200" cy="342900"/>
          </a:xfrm>
          <a:prstGeom prst="rect">
            <a:avLst/>
          </a:prstGeom>
          <a:noFill/>
          <a:ln w="0">
            <a:noFill/>
          </a:ln>
        </p:spPr>
        <p:txBody>
          <a:bodyPr wrap="square" lIns="0" tIns="0" rIns="0" bIns="0" anchor="t">
            <a:noAutofit/>
          </a:bodyPr>
          <a:lstStyle>
            <a:defPPr algn="l">
              <a:defRPr sz="2025" b="1">
                <a:solidFill>
                  <a:srgbClr val="173047"/>
                </a:solidFill>
                <a:latin typeface="Arial"/>
                <a:ea typeface="Arial"/>
                <a:cs typeface="Arial"/>
              </a:defRPr>
            </a:defPPr>
            <a:lvl1pPr algn="l">
              <a:defRPr sz="2025" b="1">
                <a:solidFill>
                  <a:srgbClr val="173047"/>
                </a:solidFill>
                <a:latin typeface="Arial"/>
                <a:ea typeface="Arial"/>
                <a:cs typeface="Arial"/>
              </a:defRPr>
            </a:lvl1pPr>
            <a:lvl2pPr algn="l">
              <a:defRPr sz="2025" b="1">
                <a:solidFill>
                  <a:srgbClr val="173047"/>
                </a:solidFill>
                <a:latin typeface="Arial"/>
                <a:ea typeface="Arial"/>
                <a:cs typeface="Arial"/>
              </a:defRPr>
            </a:lvl2pPr>
            <a:lvl3pPr algn="l">
              <a:defRPr sz="2025" b="1">
                <a:solidFill>
                  <a:srgbClr val="173047"/>
                </a:solidFill>
                <a:latin typeface="Arial"/>
                <a:ea typeface="Arial"/>
                <a:cs typeface="Arial"/>
              </a:defRPr>
            </a:lvl3pPr>
            <a:lvl4pPr algn="l">
              <a:defRPr sz="2025" b="1">
                <a:solidFill>
                  <a:srgbClr val="173047"/>
                </a:solidFill>
                <a:latin typeface="Arial"/>
                <a:ea typeface="Arial"/>
                <a:cs typeface="Arial"/>
              </a:defRPr>
            </a:lvl4pPr>
            <a:lvl5pPr algn="l">
              <a:defRPr sz="2025" b="1">
                <a:solidFill>
                  <a:srgbClr val="173047"/>
                </a:solidFill>
                <a:latin typeface="Arial"/>
                <a:ea typeface="Arial"/>
                <a:cs typeface="Arial"/>
              </a:defRPr>
            </a:lvl5pPr>
            <a:lvl6pPr algn="l">
              <a:defRPr sz="2025" b="1">
                <a:solidFill>
                  <a:srgbClr val="173047"/>
                </a:solidFill>
                <a:latin typeface="Arial"/>
                <a:ea typeface="Arial"/>
                <a:cs typeface="Arial"/>
              </a:defRPr>
            </a:lvl6pPr>
            <a:lvl7pPr algn="l">
              <a:defRPr sz="2025" b="1">
                <a:solidFill>
                  <a:srgbClr val="173047"/>
                </a:solidFill>
                <a:latin typeface="Arial"/>
                <a:ea typeface="Arial"/>
                <a:cs typeface="Arial"/>
              </a:defRPr>
            </a:lvl7pPr>
            <a:lvl8pPr algn="l">
              <a:defRPr sz="2025" b="1">
                <a:solidFill>
                  <a:srgbClr val="173047"/>
                </a:solidFill>
                <a:latin typeface="Arial"/>
                <a:ea typeface="Arial"/>
                <a:cs typeface="Arial"/>
              </a:defRPr>
            </a:lvl8pPr>
            <a:lvl9pPr algn="l">
              <a:defRPr sz="2025" b="1">
                <a:solidFill>
                  <a:srgbClr val="173047"/>
                </a:solidFill>
                <a:latin typeface="Arial"/>
                <a:ea typeface="Arial"/>
                <a:cs typeface="Arial"/>
              </a:defRPr>
            </a:lvl9pPr>
          </a:lstStyle>
          <a:p>
            <a:pPr algn="l">
              <a:defRPr sz="2025" b="1">
                <a:solidFill>
                  <a:srgbClr val="173047"/>
                </a:solidFill>
                <a:latin typeface="Arial"/>
                <a:ea typeface="Arial"/>
                <a:cs typeface="Arial"/>
              </a:defRPr>
            </a:pPr>
            <a:r>
              <a:rPr sz="2025" b="1">
                <a:solidFill>
                  <a:srgbClr val="173047"/>
                </a:solidFill>
                <a:latin typeface="Arial"/>
                <a:ea typeface="Arial"/>
                <a:cs typeface="Arial"/>
              </a:rPr>
              <a:t>Normal training only</a:t>
            </a:r>
          </a:p>
        </p:txBody>
      </p:sp>
      <p:sp>
        <p:nvSpPr>
          <p:cNvPr id="17" name="text-N = 100 baseline; three seeds&#10;Sa">
            <a:extLst>
              <a:ext uri="{FF2B5EF4-FFF2-40B4-BE49-F238E27FC236}">
                <a16:creationId xmlns:a16="http://schemas.microsoft.com/office/drawing/2014/main" id="{42CF1FD9-5F1E-48D9-86AE-FFBEA8F2562E}"/>
              </a:ext>
            </a:extLst>
          </p:cNvPr>
          <p:cNvSpPr>
            <a:spLocks noGrp="1"/>
          </p:cNvSpPr>
          <p:nvPr/>
        </p:nvSpPr>
        <p:spPr>
          <a:xfrm>
            <a:off x="6553200" y="4857750"/>
            <a:ext cx="5029200" cy="1057275"/>
          </a:xfrm>
          <a:prstGeom prst="rect">
            <a:avLst/>
          </a:prstGeom>
          <a:noFill/>
          <a:ln w="0">
            <a:noFill/>
          </a:ln>
        </p:spPr>
        <p:txBody>
          <a:bodyPr wrap="square" lIns="0" tIns="0" rIns="0" bIns="0" anchor="t">
            <a:noAutofit/>
          </a:bodyPr>
          <a:lstStyle>
            <a:defPPr algn="l">
              <a:defRPr sz="1800" b="0">
                <a:solidFill>
                  <a:srgbClr val="586A79"/>
                </a:solidFill>
                <a:latin typeface="Arial"/>
                <a:ea typeface="Arial"/>
                <a:cs typeface="Arial"/>
              </a:defRPr>
            </a:defPPr>
            <a:lvl1pPr algn="l">
              <a:defRPr sz="1800" b="0">
                <a:solidFill>
                  <a:srgbClr val="586A79"/>
                </a:solidFill>
                <a:latin typeface="Arial"/>
                <a:ea typeface="Arial"/>
                <a:cs typeface="Arial"/>
              </a:defRPr>
            </a:lvl1pPr>
            <a:lvl2pPr algn="l">
              <a:defRPr sz="1800" b="0">
                <a:solidFill>
                  <a:srgbClr val="586A79"/>
                </a:solidFill>
                <a:latin typeface="Arial"/>
                <a:ea typeface="Arial"/>
                <a:cs typeface="Arial"/>
              </a:defRPr>
            </a:lvl2pPr>
            <a:lvl3pPr algn="l">
              <a:defRPr sz="1800" b="0">
                <a:solidFill>
                  <a:srgbClr val="586A79"/>
                </a:solidFill>
                <a:latin typeface="Arial"/>
                <a:ea typeface="Arial"/>
                <a:cs typeface="Arial"/>
              </a:defRPr>
            </a:lvl3pPr>
            <a:lvl4pPr algn="l">
              <a:defRPr sz="1800" b="0">
                <a:solidFill>
                  <a:srgbClr val="586A79"/>
                </a:solidFill>
                <a:latin typeface="Arial"/>
                <a:ea typeface="Arial"/>
                <a:cs typeface="Arial"/>
              </a:defRPr>
            </a:lvl4pPr>
            <a:lvl5pPr algn="l">
              <a:defRPr sz="1800" b="0">
                <a:solidFill>
                  <a:srgbClr val="586A79"/>
                </a:solidFill>
                <a:latin typeface="Arial"/>
                <a:ea typeface="Arial"/>
                <a:cs typeface="Arial"/>
              </a:defRPr>
            </a:lvl5pPr>
            <a:lvl6pPr algn="l">
              <a:defRPr sz="1800" b="0">
                <a:solidFill>
                  <a:srgbClr val="586A79"/>
                </a:solidFill>
                <a:latin typeface="Arial"/>
                <a:ea typeface="Arial"/>
                <a:cs typeface="Arial"/>
              </a:defRPr>
            </a:lvl6pPr>
            <a:lvl7pPr algn="l">
              <a:defRPr sz="1800" b="0">
                <a:solidFill>
                  <a:srgbClr val="586A79"/>
                </a:solidFill>
                <a:latin typeface="Arial"/>
                <a:ea typeface="Arial"/>
                <a:cs typeface="Arial"/>
              </a:defRPr>
            </a:lvl7pPr>
            <a:lvl8pPr algn="l">
              <a:defRPr sz="1800" b="0">
                <a:solidFill>
                  <a:srgbClr val="586A79"/>
                </a:solidFill>
                <a:latin typeface="Arial"/>
                <a:ea typeface="Arial"/>
                <a:cs typeface="Arial"/>
              </a:defRPr>
            </a:lvl8pPr>
            <a:lvl9pPr algn="l">
              <a:defRPr sz="1800" b="0">
                <a:solidFill>
                  <a:srgbClr val="586A79"/>
                </a:solidFill>
                <a:latin typeface="Arial"/>
                <a:ea typeface="Arial"/>
                <a:cs typeface="Arial"/>
              </a:defRPr>
            </a:lvl9pPr>
          </a:lstStyle>
          <a:p>
            <a:pPr algn="l">
              <a:defRPr sz="1800" b="0">
                <a:solidFill>
                  <a:srgbClr val="586A79"/>
                </a:solidFill>
                <a:latin typeface="Arial"/>
                <a:ea typeface="Arial"/>
                <a:cs typeface="Arial"/>
              </a:defRPr>
            </a:pPr>
            <a:r>
              <a:rPr sz="1800" b="0">
                <a:solidFill>
                  <a:srgbClr val="586A79"/>
                </a:solidFill>
                <a:latin typeface="Arial"/>
                <a:ea typeface="Arial"/>
                <a:cs typeface="Arial"/>
              </a:rPr>
              <a:t>N = 100 baseline; three seeds</a:t>
            </a:r>
          </a:p>
          <a:p>
            <a:pPr algn="l">
              <a:defRPr sz="1800" b="0">
                <a:solidFill>
                  <a:srgbClr val="586A79"/>
                </a:solidFill>
                <a:latin typeface="Arial"/>
                <a:ea typeface="Arial"/>
                <a:cs typeface="Arial"/>
              </a:defRPr>
            </a:pPr>
            <a:r>
              <a:rPr sz="1800" b="0">
                <a:solidFill>
                  <a:srgbClr val="586A79"/>
                </a:solidFill>
                <a:latin typeface="Arial"/>
                <a:ea typeface="Arial"/>
                <a:cs typeface="Arial"/>
              </a:rPr>
              <a:t>Same subsets and frozen ResNet18</a:t>
            </a:r>
          </a:p>
          <a:p>
            <a:pPr algn="l">
              <a:defRPr sz="1800" b="0">
                <a:solidFill>
                  <a:srgbClr val="586A79"/>
                </a:solidFill>
                <a:latin typeface="Arial"/>
                <a:ea typeface="Arial"/>
                <a:cs typeface="Arial"/>
              </a:defRPr>
            </a:pPr>
            <a:r>
              <a:rPr sz="1800" b="0">
                <a:solidFill>
                  <a:srgbClr val="586A79"/>
                </a:solidFill>
                <a:latin typeface="Arial"/>
                <a:ea typeface="Arial"/>
                <a:cs typeface="Arial"/>
              </a:rPr>
              <a:t>Thresholds from normal development data</a:t>
            </a:r>
          </a:p>
        </p:txBody>
      </p:sp>
    </p:spTree>
    <p:extLst>
      <p:ext uri="{BB962C8B-B14F-4D97-AF65-F5344CB8AC3E}">
        <p14:creationId xmlns:p14="http://schemas.microsoft.com/office/powerpoint/2010/main" val="1260568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4" name="连接符: 肘形 13">
            <a:extLst>
              <a:ext uri="{FF2B5EF4-FFF2-40B4-BE49-F238E27FC236}">
                <a16:creationId xmlns:a16="http://schemas.microsoft.com/office/drawing/2014/main" id="{8EEED0A0-9E93-46F7-84FC-8C97C9F394D7}"/>
              </a:ext>
            </a:extLst>
          </p:cNvPr>
          <p:cNvCxnSpPr>
            <a:stCxn id="8" idx="3"/>
            <a:endCxn id="9" idx="2"/>
          </p:cNvCxnSpPr>
          <p:nvPr/>
        </p:nvCxnSpPr>
        <p:spPr>
          <a:xfrm flipV="1">
            <a:off x="9172575" y="4210050"/>
            <a:ext cx="1547813" cy="442913"/>
          </a:xfrm>
          <a:prstGeom prst="bentConnector2">
            <a:avLst/>
          </a:prstGeom>
          <a:ln w="19050">
            <a:solidFill>
              <a:srgbClr val="C77735"/>
            </a:solidFill>
            <a:prstDash val="solid"/>
            <a:tailEnd type="triangle" w="med" len="med"/>
          </a:ln>
        </p:spPr>
      </p:cxnSp>
      <p:cxnSp>
        <p:nvCxnSpPr>
          <p:cNvPr id="13" name="连接符: 肘形 12">
            <a:extLst>
              <a:ext uri="{FF2B5EF4-FFF2-40B4-BE49-F238E27FC236}">
                <a16:creationId xmlns:a16="http://schemas.microsoft.com/office/drawing/2014/main" id="{D3A458A4-8CB9-4BA7-BC5C-15852BB34708}"/>
              </a:ext>
            </a:extLst>
          </p:cNvPr>
          <p:cNvCxnSpPr>
            <a:stCxn id="7" idx="3"/>
            <a:endCxn id="9" idx="0"/>
          </p:cNvCxnSpPr>
          <p:nvPr/>
        </p:nvCxnSpPr>
        <p:spPr>
          <a:xfrm>
            <a:off x="9172575" y="2195513"/>
            <a:ext cx="1547813" cy="709613"/>
          </a:xfrm>
          <a:prstGeom prst="bentConnector2">
            <a:avLst/>
          </a:prstGeom>
          <a:ln w="19050">
            <a:solidFill>
              <a:srgbClr val="3F729B"/>
            </a:solidFill>
            <a:prstDash val="solid"/>
            <a:tailEnd type="triangle" w="med" len="med"/>
          </a:ln>
        </p:spPr>
      </p:cxnSp>
      <p:cxnSp>
        <p:nvCxnSpPr>
          <p:cNvPr id="12" name="连接符: 肘形 11">
            <a:extLst>
              <a:ext uri="{FF2B5EF4-FFF2-40B4-BE49-F238E27FC236}">
                <a16:creationId xmlns:a16="http://schemas.microsoft.com/office/drawing/2014/main" id="{99AEB2CA-ED7D-45C4-8898-A91E235C9F42}"/>
              </a:ext>
            </a:extLst>
          </p:cNvPr>
          <p:cNvCxnSpPr>
            <a:stCxn id="6" idx="3"/>
            <a:endCxn id="8" idx="1"/>
          </p:cNvCxnSpPr>
          <p:nvPr/>
        </p:nvCxnSpPr>
        <p:spPr>
          <a:xfrm>
            <a:off x="5210175" y="3533775"/>
            <a:ext cx="809625" cy="1119188"/>
          </a:xfrm>
          <a:prstGeom prst="bentConnector3">
            <a:avLst>
              <a:gd name="adj1" fmla="val 50000"/>
            </a:avLst>
          </a:prstGeom>
          <a:ln w="19050">
            <a:solidFill>
              <a:srgbClr val="C77735"/>
            </a:solidFill>
            <a:prstDash val="solid"/>
            <a:tailEnd type="triangle" w="med" len="med"/>
          </a:ln>
        </p:spPr>
      </p:cxnSp>
      <p:cxnSp>
        <p:nvCxnSpPr>
          <p:cNvPr id="11" name="连接符: 肘形 10">
            <a:extLst>
              <a:ext uri="{FF2B5EF4-FFF2-40B4-BE49-F238E27FC236}">
                <a16:creationId xmlns:a16="http://schemas.microsoft.com/office/drawing/2014/main" id="{6F29A73A-3A35-4D5E-A29F-29CEAE4D7F3B}"/>
              </a:ext>
            </a:extLst>
          </p:cNvPr>
          <p:cNvCxnSpPr>
            <a:stCxn id="6" idx="3"/>
            <a:endCxn id="7" idx="1"/>
          </p:cNvCxnSpPr>
          <p:nvPr/>
        </p:nvCxnSpPr>
        <p:spPr>
          <a:xfrm flipV="1">
            <a:off x="5210175" y="2195513"/>
            <a:ext cx="809625" cy="1338263"/>
          </a:xfrm>
          <a:prstGeom prst="bentConnector3">
            <a:avLst>
              <a:gd name="adj1" fmla="val 50000"/>
            </a:avLst>
          </a:prstGeom>
          <a:ln w="19050">
            <a:solidFill>
              <a:srgbClr val="3F729B"/>
            </a:solidFill>
            <a:prstDash val="solid"/>
            <a:tailEnd type="triangle" w="med" len="med"/>
          </a:ln>
        </p:spPr>
      </p:cxnSp>
      <p:cxnSp>
        <p:nvCxnSpPr>
          <p:cNvPr id="10" name="直接箭头连接符 9">
            <a:extLst>
              <a:ext uri="{FF2B5EF4-FFF2-40B4-BE49-F238E27FC236}">
                <a16:creationId xmlns:a16="http://schemas.microsoft.com/office/drawing/2014/main" id="{E61B72D7-D5F0-4146-8220-D272A9B0E859}"/>
              </a:ext>
            </a:extLst>
          </p:cNvPr>
          <p:cNvCxnSpPr>
            <a:stCxn id="5" idx="3"/>
            <a:endCxn id="6" idx="1"/>
          </p:cNvCxnSpPr>
          <p:nvPr/>
        </p:nvCxnSpPr>
        <p:spPr>
          <a:xfrm>
            <a:off x="2400300" y="3533775"/>
            <a:ext cx="542925" cy="0"/>
          </a:xfrm>
          <a:prstGeom prst="straightConnector1">
            <a:avLst/>
          </a:prstGeom>
          <a:ln w="19050">
            <a:solidFill>
              <a:srgbClr val="586A79"/>
            </a:solidFill>
            <a:prstDash val="solid"/>
            <a:tailEnd type="triangle" w="med" len="med"/>
          </a:ln>
        </p:spPr>
      </p:cxnSp>
      <p:sp>
        <p:nvSpPr>
          <p:cNvPr id="18" name="text-PaDiM and PatchCore">
            <a:extLst>
              <a:ext uri="{FF2B5EF4-FFF2-40B4-BE49-F238E27FC236}">
                <a16:creationId xmlns:a16="http://schemas.microsoft.com/office/drawing/2014/main" id="{FCAFF8E1-4EDF-4DDE-B99C-DD643D3E623F}"/>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PaDiM and PatchCore</a:t>
            </a:r>
          </a:p>
        </p:txBody>
      </p:sp>
      <p:sp>
        <p:nvSpPr>
          <p:cNvPr id="2" name="矩形 1">
            <a:extLst>
              <a:ext uri="{FF2B5EF4-FFF2-40B4-BE49-F238E27FC236}">
                <a16:creationId xmlns:a16="http://schemas.microsoft.com/office/drawing/2014/main" id="{ECC2D6D9-FBD2-47AF-991C-971DF5DD39C5}"/>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7FCDD7D5-7808-45A0-9E55-AE0B6422915C}"/>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A    03 / 08">
            <a:extLst>
              <a:ext uri="{FF2B5EF4-FFF2-40B4-BE49-F238E27FC236}">
                <a16:creationId xmlns:a16="http://schemas.microsoft.com/office/drawing/2014/main" id="{34E51536-CC81-4F96-9578-93C15789D49D}"/>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03 / 08</a:t>
            </a:r>
          </a:p>
        </p:txBody>
      </p:sp>
      <p:sp>
        <p:nvSpPr>
          <p:cNvPr id="5" name="矩形 4">
            <a:extLst>
              <a:ext uri="{FF2B5EF4-FFF2-40B4-BE49-F238E27FC236}">
                <a16:creationId xmlns:a16="http://schemas.microsoft.com/office/drawing/2014/main" id="{D73EC40A-D405-41C6-B82F-3FC26199E6FF}"/>
              </a:ext>
            </a:extLst>
          </p:cNvPr>
          <p:cNvSpPr>
            <a:spLocks noGrp="1"/>
          </p:cNvSpPr>
          <p:nvPr/>
        </p:nvSpPr>
        <p:spPr>
          <a:xfrm>
            <a:off x="609600" y="3009900"/>
            <a:ext cx="1790700" cy="1047750"/>
          </a:xfrm>
          <a:prstGeom prst="rect">
            <a:avLst/>
          </a:prstGeom>
          <a:solidFill>
            <a:srgbClr val="F3F6F8"/>
          </a:solidFill>
          <a:ln w="9525">
            <a:solidFill>
              <a:srgbClr val="173047"/>
            </a:solidFill>
          </a:ln>
        </p:spPr>
        <p:txBody>
          <a:bodyPr lIns="152400" tIns="152400" rIns="152400" bIns="152400" anchor="ctr">
            <a:noAutofit/>
          </a:bodyPr>
          <a:lstStyle>
            <a:defPPr algn="ctr">
              <a:defRPr sz="1875" b="0">
                <a:solidFill>
                  <a:srgbClr val="173047"/>
                </a:solidFill>
                <a:latin typeface="Arial"/>
                <a:ea typeface="Arial"/>
                <a:cs typeface="Arial"/>
              </a:defRPr>
            </a:defPPr>
            <a:lvl1pPr algn="ctr">
              <a:defRPr sz="1875" b="0">
                <a:solidFill>
                  <a:srgbClr val="173047"/>
                </a:solidFill>
                <a:latin typeface="Arial"/>
                <a:ea typeface="Arial"/>
                <a:cs typeface="Arial"/>
              </a:defRPr>
            </a:lvl1pPr>
            <a:lvl2pPr algn="ctr">
              <a:defRPr sz="1875" b="0">
                <a:solidFill>
                  <a:srgbClr val="173047"/>
                </a:solidFill>
                <a:latin typeface="Arial"/>
                <a:ea typeface="Arial"/>
                <a:cs typeface="Arial"/>
              </a:defRPr>
            </a:lvl2pPr>
            <a:lvl3pPr algn="ctr">
              <a:defRPr sz="1875" b="0">
                <a:solidFill>
                  <a:srgbClr val="173047"/>
                </a:solidFill>
                <a:latin typeface="Arial"/>
                <a:ea typeface="Arial"/>
                <a:cs typeface="Arial"/>
              </a:defRPr>
            </a:lvl3pPr>
            <a:lvl4pPr algn="ctr">
              <a:defRPr sz="1875" b="0">
                <a:solidFill>
                  <a:srgbClr val="173047"/>
                </a:solidFill>
                <a:latin typeface="Arial"/>
                <a:ea typeface="Arial"/>
                <a:cs typeface="Arial"/>
              </a:defRPr>
            </a:lvl4pPr>
            <a:lvl5pPr algn="ctr">
              <a:defRPr sz="1875" b="0">
                <a:solidFill>
                  <a:srgbClr val="173047"/>
                </a:solidFill>
                <a:latin typeface="Arial"/>
                <a:ea typeface="Arial"/>
                <a:cs typeface="Arial"/>
              </a:defRPr>
            </a:lvl5pPr>
            <a:lvl6pPr algn="ctr">
              <a:defRPr sz="1875" b="0">
                <a:solidFill>
                  <a:srgbClr val="173047"/>
                </a:solidFill>
                <a:latin typeface="Arial"/>
                <a:ea typeface="Arial"/>
                <a:cs typeface="Arial"/>
              </a:defRPr>
            </a:lvl6pPr>
            <a:lvl7pPr algn="ctr">
              <a:defRPr sz="1875" b="0">
                <a:solidFill>
                  <a:srgbClr val="173047"/>
                </a:solidFill>
                <a:latin typeface="Arial"/>
                <a:ea typeface="Arial"/>
                <a:cs typeface="Arial"/>
              </a:defRPr>
            </a:lvl7pPr>
            <a:lvl8pPr algn="ctr">
              <a:defRPr sz="1875" b="0">
                <a:solidFill>
                  <a:srgbClr val="173047"/>
                </a:solidFill>
                <a:latin typeface="Arial"/>
                <a:ea typeface="Arial"/>
                <a:cs typeface="Arial"/>
              </a:defRPr>
            </a:lvl8pPr>
            <a:lvl9pPr algn="ctr">
              <a:defRPr sz="1875" b="0">
                <a:solidFill>
                  <a:srgbClr val="173047"/>
                </a:solidFill>
                <a:latin typeface="Arial"/>
                <a:ea typeface="Arial"/>
                <a:cs typeface="Arial"/>
              </a:defRPr>
            </a:lvl9pPr>
          </a:lstStyle>
          <a:p>
            <a:pPr algn="ctr">
              <a:defRPr sz="1875" b="0">
                <a:solidFill>
                  <a:srgbClr val="173047"/>
                </a:solidFill>
                <a:latin typeface="Arial"/>
                <a:ea typeface="Arial"/>
                <a:cs typeface="Arial"/>
              </a:defRPr>
            </a:pPr>
            <a:r>
              <a:rPr sz="1875" b="0">
                <a:solidFill>
                  <a:srgbClr val="173047"/>
                </a:solidFill>
                <a:latin typeface="Arial"/>
                <a:ea typeface="Arial"/>
                <a:cs typeface="Arial"/>
              </a:rPr>
              <a:t>Normal images</a:t>
            </a:r>
          </a:p>
        </p:txBody>
      </p:sp>
      <p:sp>
        <p:nvSpPr>
          <p:cNvPr id="6" name="矩形 5">
            <a:extLst>
              <a:ext uri="{FF2B5EF4-FFF2-40B4-BE49-F238E27FC236}">
                <a16:creationId xmlns:a16="http://schemas.microsoft.com/office/drawing/2014/main" id="{22E47957-D3FF-4FBA-A8DB-0B352D434BF1}"/>
              </a:ext>
            </a:extLst>
          </p:cNvPr>
          <p:cNvSpPr>
            <a:spLocks noGrp="1"/>
          </p:cNvSpPr>
          <p:nvPr/>
        </p:nvSpPr>
        <p:spPr>
          <a:xfrm>
            <a:off x="2943225" y="2867025"/>
            <a:ext cx="2266950" cy="1333500"/>
          </a:xfrm>
          <a:prstGeom prst="rect">
            <a:avLst/>
          </a:prstGeom>
          <a:solidFill>
            <a:srgbClr val="F3F6F8"/>
          </a:solidFill>
          <a:ln w="9525">
            <a:solidFill>
              <a:srgbClr val="173047"/>
            </a:solidFill>
          </a:ln>
        </p:spPr>
        <p:txBody>
          <a:bodyPr lIns="152400" tIns="152400" rIns="152400" bIns="152400" anchor="ctr">
            <a:noAutofit/>
          </a:bodyPr>
          <a:lstStyle>
            <a:defPPr algn="ctr">
              <a:defRPr sz="1875" b="0">
                <a:solidFill>
                  <a:srgbClr val="173047"/>
                </a:solidFill>
                <a:latin typeface="Arial"/>
                <a:ea typeface="Arial"/>
                <a:cs typeface="Arial"/>
              </a:defRPr>
            </a:defPPr>
            <a:lvl1pPr algn="ctr">
              <a:defRPr sz="1875" b="0">
                <a:solidFill>
                  <a:srgbClr val="173047"/>
                </a:solidFill>
                <a:latin typeface="Arial"/>
                <a:ea typeface="Arial"/>
                <a:cs typeface="Arial"/>
              </a:defRPr>
            </a:lvl1pPr>
            <a:lvl2pPr algn="ctr">
              <a:defRPr sz="1875" b="0">
                <a:solidFill>
                  <a:srgbClr val="173047"/>
                </a:solidFill>
                <a:latin typeface="Arial"/>
                <a:ea typeface="Arial"/>
                <a:cs typeface="Arial"/>
              </a:defRPr>
            </a:lvl2pPr>
            <a:lvl3pPr algn="ctr">
              <a:defRPr sz="1875" b="0">
                <a:solidFill>
                  <a:srgbClr val="173047"/>
                </a:solidFill>
                <a:latin typeface="Arial"/>
                <a:ea typeface="Arial"/>
                <a:cs typeface="Arial"/>
              </a:defRPr>
            </a:lvl3pPr>
            <a:lvl4pPr algn="ctr">
              <a:defRPr sz="1875" b="0">
                <a:solidFill>
                  <a:srgbClr val="173047"/>
                </a:solidFill>
                <a:latin typeface="Arial"/>
                <a:ea typeface="Arial"/>
                <a:cs typeface="Arial"/>
              </a:defRPr>
            </a:lvl4pPr>
            <a:lvl5pPr algn="ctr">
              <a:defRPr sz="1875" b="0">
                <a:solidFill>
                  <a:srgbClr val="173047"/>
                </a:solidFill>
                <a:latin typeface="Arial"/>
                <a:ea typeface="Arial"/>
                <a:cs typeface="Arial"/>
              </a:defRPr>
            </a:lvl5pPr>
            <a:lvl6pPr algn="ctr">
              <a:defRPr sz="1875" b="0">
                <a:solidFill>
                  <a:srgbClr val="173047"/>
                </a:solidFill>
                <a:latin typeface="Arial"/>
                <a:ea typeface="Arial"/>
                <a:cs typeface="Arial"/>
              </a:defRPr>
            </a:lvl6pPr>
            <a:lvl7pPr algn="ctr">
              <a:defRPr sz="1875" b="0">
                <a:solidFill>
                  <a:srgbClr val="173047"/>
                </a:solidFill>
                <a:latin typeface="Arial"/>
                <a:ea typeface="Arial"/>
                <a:cs typeface="Arial"/>
              </a:defRPr>
            </a:lvl7pPr>
            <a:lvl8pPr algn="ctr">
              <a:defRPr sz="1875" b="0">
                <a:solidFill>
                  <a:srgbClr val="173047"/>
                </a:solidFill>
                <a:latin typeface="Arial"/>
                <a:ea typeface="Arial"/>
                <a:cs typeface="Arial"/>
              </a:defRPr>
            </a:lvl8pPr>
            <a:lvl9pPr algn="ctr">
              <a:defRPr sz="1875" b="0">
                <a:solidFill>
                  <a:srgbClr val="173047"/>
                </a:solidFill>
                <a:latin typeface="Arial"/>
                <a:ea typeface="Arial"/>
                <a:cs typeface="Arial"/>
              </a:defRPr>
            </a:lvl9pPr>
          </a:lstStyle>
          <a:p>
            <a:pPr algn="ctr">
              <a:defRPr sz="1875" b="0">
                <a:solidFill>
                  <a:srgbClr val="173047"/>
                </a:solidFill>
                <a:latin typeface="Arial"/>
                <a:ea typeface="Arial"/>
                <a:cs typeface="Arial"/>
              </a:defRPr>
            </a:pPr>
            <a:r>
              <a:rPr sz="1875" b="0">
                <a:solidFill>
                  <a:srgbClr val="173047"/>
                </a:solidFill>
                <a:latin typeface="Arial"/>
                <a:ea typeface="Arial"/>
                <a:cs typeface="Arial"/>
              </a:rPr>
              <a:t>Frozen ResNet18</a:t>
            </a:r>
          </a:p>
          <a:p>
            <a:pPr algn="ctr">
              <a:defRPr sz="1875" b="0">
                <a:solidFill>
                  <a:srgbClr val="173047"/>
                </a:solidFill>
                <a:latin typeface="Arial"/>
                <a:ea typeface="Arial"/>
                <a:cs typeface="Arial"/>
              </a:defRPr>
            </a:pPr>
            <a:r>
              <a:rPr sz="1875" b="0">
                <a:solidFill>
                  <a:srgbClr val="173047"/>
                </a:solidFill>
                <a:latin typeface="Arial"/>
                <a:ea typeface="Arial"/>
                <a:cs typeface="Arial"/>
              </a:rPr>
              <a:t>ImageNet features</a:t>
            </a:r>
          </a:p>
        </p:txBody>
      </p:sp>
      <p:sp>
        <p:nvSpPr>
          <p:cNvPr id="7" name="矩形 6">
            <a:extLst>
              <a:ext uri="{FF2B5EF4-FFF2-40B4-BE49-F238E27FC236}">
                <a16:creationId xmlns:a16="http://schemas.microsoft.com/office/drawing/2014/main" id="{019D9649-05D2-4513-A32E-5C7ADEBF9639}"/>
              </a:ext>
            </a:extLst>
          </p:cNvPr>
          <p:cNvSpPr>
            <a:spLocks noGrp="1"/>
          </p:cNvSpPr>
          <p:nvPr/>
        </p:nvSpPr>
        <p:spPr>
          <a:xfrm>
            <a:off x="6019800" y="1571625"/>
            <a:ext cx="3152775" cy="1247775"/>
          </a:xfrm>
          <a:prstGeom prst="rect">
            <a:avLst/>
          </a:prstGeom>
          <a:solidFill>
            <a:srgbClr val="F3F7FB"/>
          </a:solidFill>
          <a:ln w="9525">
            <a:solidFill>
              <a:srgbClr val="3F729B"/>
            </a:solidFill>
          </a:ln>
        </p:spPr>
        <p:txBody>
          <a:bodyPr lIns="152400" tIns="152400" rIns="152400" bIns="152400" anchor="ctr">
            <a:noAutofit/>
          </a:bodyPr>
          <a:lstStyle>
            <a:defPPr algn="ctr">
              <a:defRPr sz="2025" b="0">
                <a:solidFill>
                  <a:srgbClr val="3F729B"/>
                </a:solidFill>
                <a:latin typeface="Arial"/>
                <a:ea typeface="Arial"/>
                <a:cs typeface="Arial"/>
              </a:defRPr>
            </a:defPPr>
            <a:lvl1pPr algn="ctr">
              <a:defRPr sz="2025" b="0">
                <a:solidFill>
                  <a:srgbClr val="3F729B"/>
                </a:solidFill>
                <a:latin typeface="Arial"/>
                <a:ea typeface="Arial"/>
                <a:cs typeface="Arial"/>
              </a:defRPr>
            </a:lvl1pPr>
            <a:lvl2pPr algn="ctr">
              <a:defRPr sz="2025" b="0">
                <a:solidFill>
                  <a:srgbClr val="3F729B"/>
                </a:solidFill>
                <a:latin typeface="Arial"/>
                <a:ea typeface="Arial"/>
                <a:cs typeface="Arial"/>
              </a:defRPr>
            </a:lvl2pPr>
            <a:lvl3pPr algn="ctr">
              <a:defRPr sz="2025" b="0">
                <a:solidFill>
                  <a:srgbClr val="3F729B"/>
                </a:solidFill>
                <a:latin typeface="Arial"/>
                <a:ea typeface="Arial"/>
                <a:cs typeface="Arial"/>
              </a:defRPr>
            </a:lvl3pPr>
            <a:lvl4pPr algn="ctr">
              <a:defRPr sz="2025" b="0">
                <a:solidFill>
                  <a:srgbClr val="3F729B"/>
                </a:solidFill>
                <a:latin typeface="Arial"/>
                <a:ea typeface="Arial"/>
                <a:cs typeface="Arial"/>
              </a:defRPr>
            </a:lvl4pPr>
            <a:lvl5pPr algn="ctr">
              <a:defRPr sz="2025" b="0">
                <a:solidFill>
                  <a:srgbClr val="3F729B"/>
                </a:solidFill>
                <a:latin typeface="Arial"/>
                <a:ea typeface="Arial"/>
                <a:cs typeface="Arial"/>
              </a:defRPr>
            </a:lvl5pPr>
            <a:lvl6pPr algn="ctr">
              <a:defRPr sz="2025" b="0">
                <a:solidFill>
                  <a:srgbClr val="3F729B"/>
                </a:solidFill>
                <a:latin typeface="Arial"/>
                <a:ea typeface="Arial"/>
                <a:cs typeface="Arial"/>
              </a:defRPr>
            </a:lvl6pPr>
            <a:lvl7pPr algn="ctr">
              <a:defRPr sz="2025" b="0">
                <a:solidFill>
                  <a:srgbClr val="3F729B"/>
                </a:solidFill>
                <a:latin typeface="Arial"/>
                <a:ea typeface="Arial"/>
                <a:cs typeface="Arial"/>
              </a:defRPr>
            </a:lvl7pPr>
            <a:lvl8pPr algn="ctr">
              <a:defRPr sz="2025" b="0">
                <a:solidFill>
                  <a:srgbClr val="3F729B"/>
                </a:solidFill>
                <a:latin typeface="Arial"/>
                <a:ea typeface="Arial"/>
                <a:cs typeface="Arial"/>
              </a:defRPr>
            </a:lvl8pPr>
            <a:lvl9pPr algn="ctr">
              <a:defRPr sz="2025" b="0">
                <a:solidFill>
                  <a:srgbClr val="3F729B"/>
                </a:solidFill>
                <a:latin typeface="Arial"/>
                <a:ea typeface="Arial"/>
                <a:cs typeface="Arial"/>
              </a:defRPr>
            </a:lvl9pPr>
          </a:lstStyle>
          <a:p>
            <a:pPr algn="ctr">
              <a:defRPr sz="2025" b="0">
                <a:solidFill>
                  <a:srgbClr val="3F729B"/>
                </a:solidFill>
                <a:latin typeface="Arial"/>
                <a:ea typeface="Arial"/>
                <a:cs typeface="Arial"/>
              </a:defRPr>
            </a:pPr>
            <a:r>
              <a:rPr sz="2025" b="0">
                <a:solidFill>
                  <a:srgbClr val="3F729B"/>
                </a:solidFill>
                <a:latin typeface="Arial"/>
                <a:ea typeface="Arial"/>
                <a:cs typeface="Arial"/>
              </a:rPr>
              <a:t>PaDiM</a:t>
            </a:r>
          </a:p>
          <a:p>
            <a:pPr algn="ctr">
              <a:defRPr sz="2025" b="0">
                <a:solidFill>
                  <a:srgbClr val="3F729B"/>
                </a:solidFill>
                <a:latin typeface="Arial"/>
                <a:ea typeface="Arial"/>
                <a:cs typeface="Arial"/>
              </a:defRPr>
            </a:pPr>
            <a:r>
              <a:rPr sz="2025" b="0">
                <a:solidFill>
                  <a:srgbClr val="3F729B"/>
                </a:solidFill>
                <a:latin typeface="Arial"/>
                <a:ea typeface="Arial"/>
                <a:cs typeface="Arial"/>
              </a:rPr>
              <a:t>Position-wise Gaussian</a:t>
            </a:r>
          </a:p>
        </p:txBody>
      </p:sp>
      <p:sp>
        <p:nvSpPr>
          <p:cNvPr id="8" name="矩形 7">
            <a:extLst>
              <a:ext uri="{FF2B5EF4-FFF2-40B4-BE49-F238E27FC236}">
                <a16:creationId xmlns:a16="http://schemas.microsoft.com/office/drawing/2014/main" id="{0B203A11-3815-4332-A7D9-D85D40C369B8}"/>
              </a:ext>
            </a:extLst>
          </p:cNvPr>
          <p:cNvSpPr>
            <a:spLocks noGrp="1"/>
          </p:cNvSpPr>
          <p:nvPr/>
        </p:nvSpPr>
        <p:spPr>
          <a:xfrm>
            <a:off x="6019800" y="4029075"/>
            <a:ext cx="3152775" cy="1247775"/>
          </a:xfrm>
          <a:prstGeom prst="rect">
            <a:avLst/>
          </a:prstGeom>
          <a:solidFill>
            <a:srgbClr val="FCF6F0"/>
          </a:solidFill>
          <a:ln w="9525">
            <a:solidFill>
              <a:srgbClr val="C77735"/>
            </a:solidFill>
          </a:ln>
        </p:spPr>
        <p:txBody>
          <a:bodyPr lIns="152400" tIns="152400" rIns="152400" bIns="152400" anchor="ctr">
            <a:noAutofit/>
          </a:bodyPr>
          <a:lstStyle>
            <a:defPPr algn="ctr">
              <a:defRPr sz="1950" b="0">
                <a:solidFill>
                  <a:srgbClr val="C77735"/>
                </a:solidFill>
                <a:latin typeface="Arial"/>
                <a:ea typeface="Arial"/>
                <a:cs typeface="Arial"/>
              </a:defRPr>
            </a:defPPr>
            <a:lvl1pPr algn="ctr">
              <a:defRPr sz="1950" b="0">
                <a:solidFill>
                  <a:srgbClr val="C77735"/>
                </a:solidFill>
                <a:latin typeface="Arial"/>
                <a:ea typeface="Arial"/>
                <a:cs typeface="Arial"/>
              </a:defRPr>
            </a:lvl1pPr>
            <a:lvl2pPr algn="ctr">
              <a:defRPr sz="1950" b="0">
                <a:solidFill>
                  <a:srgbClr val="C77735"/>
                </a:solidFill>
                <a:latin typeface="Arial"/>
                <a:ea typeface="Arial"/>
                <a:cs typeface="Arial"/>
              </a:defRPr>
            </a:lvl2pPr>
            <a:lvl3pPr algn="ctr">
              <a:defRPr sz="1950" b="0">
                <a:solidFill>
                  <a:srgbClr val="C77735"/>
                </a:solidFill>
                <a:latin typeface="Arial"/>
                <a:ea typeface="Arial"/>
                <a:cs typeface="Arial"/>
              </a:defRPr>
            </a:lvl3pPr>
            <a:lvl4pPr algn="ctr">
              <a:defRPr sz="1950" b="0">
                <a:solidFill>
                  <a:srgbClr val="C77735"/>
                </a:solidFill>
                <a:latin typeface="Arial"/>
                <a:ea typeface="Arial"/>
                <a:cs typeface="Arial"/>
              </a:defRPr>
            </a:lvl4pPr>
            <a:lvl5pPr algn="ctr">
              <a:defRPr sz="1950" b="0">
                <a:solidFill>
                  <a:srgbClr val="C77735"/>
                </a:solidFill>
                <a:latin typeface="Arial"/>
                <a:ea typeface="Arial"/>
                <a:cs typeface="Arial"/>
              </a:defRPr>
            </a:lvl5pPr>
            <a:lvl6pPr algn="ctr">
              <a:defRPr sz="1950" b="0">
                <a:solidFill>
                  <a:srgbClr val="C77735"/>
                </a:solidFill>
                <a:latin typeface="Arial"/>
                <a:ea typeface="Arial"/>
                <a:cs typeface="Arial"/>
              </a:defRPr>
            </a:lvl6pPr>
            <a:lvl7pPr algn="ctr">
              <a:defRPr sz="1950" b="0">
                <a:solidFill>
                  <a:srgbClr val="C77735"/>
                </a:solidFill>
                <a:latin typeface="Arial"/>
                <a:ea typeface="Arial"/>
                <a:cs typeface="Arial"/>
              </a:defRPr>
            </a:lvl7pPr>
            <a:lvl8pPr algn="ctr">
              <a:defRPr sz="1950" b="0">
                <a:solidFill>
                  <a:srgbClr val="C77735"/>
                </a:solidFill>
                <a:latin typeface="Arial"/>
                <a:ea typeface="Arial"/>
                <a:cs typeface="Arial"/>
              </a:defRPr>
            </a:lvl8pPr>
            <a:lvl9pPr algn="ctr">
              <a:defRPr sz="1950" b="0">
                <a:solidFill>
                  <a:srgbClr val="C77735"/>
                </a:solidFill>
                <a:latin typeface="Arial"/>
                <a:ea typeface="Arial"/>
                <a:cs typeface="Arial"/>
              </a:defRPr>
            </a:lvl9pPr>
          </a:lstStyle>
          <a:p>
            <a:pPr algn="ctr">
              <a:defRPr sz="1950" b="0">
                <a:solidFill>
                  <a:srgbClr val="C77735"/>
                </a:solidFill>
                <a:latin typeface="Arial"/>
                <a:ea typeface="Arial"/>
                <a:cs typeface="Arial"/>
              </a:defRPr>
            </a:pPr>
            <a:r>
              <a:rPr sz="1950" b="0">
                <a:solidFill>
                  <a:srgbClr val="C77735"/>
                </a:solidFill>
                <a:latin typeface="Arial"/>
                <a:ea typeface="Arial"/>
                <a:cs typeface="Arial"/>
              </a:rPr>
              <a:t>PatchCore</a:t>
            </a:r>
          </a:p>
          <a:p>
            <a:pPr algn="ctr">
              <a:defRPr sz="1950" b="0">
                <a:solidFill>
                  <a:srgbClr val="C77735"/>
                </a:solidFill>
                <a:latin typeface="Arial"/>
                <a:ea typeface="Arial"/>
                <a:cs typeface="Arial"/>
              </a:defRPr>
            </a:pPr>
            <a:r>
              <a:rPr sz="1950" b="0">
                <a:solidFill>
                  <a:srgbClr val="C77735"/>
                </a:solidFill>
                <a:latin typeface="Arial"/>
                <a:ea typeface="Arial"/>
                <a:cs typeface="Arial"/>
              </a:rPr>
              <a:t>Representative patch memory</a:t>
            </a:r>
          </a:p>
        </p:txBody>
      </p:sp>
      <p:sp>
        <p:nvSpPr>
          <p:cNvPr id="9" name="矩形 8">
            <a:extLst>
              <a:ext uri="{FF2B5EF4-FFF2-40B4-BE49-F238E27FC236}">
                <a16:creationId xmlns:a16="http://schemas.microsoft.com/office/drawing/2014/main" id="{40FC07AB-22A5-44D7-8549-51492ABFECBC}"/>
              </a:ext>
            </a:extLst>
          </p:cNvPr>
          <p:cNvSpPr>
            <a:spLocks noGrp="1"/>
          </p:cNvSpPr>
          <p:nvPr/>
        </p:nvSpPr>
        <p:spPr>
          <a:xfrm>
            <a:off x="9858375" y="2905125"/>
            <a:ext cx="1724025" cy="1304925"/>
          </a:xfrm>
          <a:prstGeom prst="rect">
            <a:avLst/>
          </a:prstGeom>
          <a:solidFill>
            <a:srgbClr val="F3F6F8"/>
          </a:solidFill>
          <a:ln w="9525">
            <a:solidFill>
              <a:srgbClr val="173047"/>
            </a:solidFill>
          </a:ln>
        </p:spPr>
        <p:txBody>
          <a:bodyPr lIns="152400" tIns="152400" rIns="152400" bIns="152400" anchor="ctr">
            <a:noAutofit/>
          </a:bodyPr>
          <a:lstStyle>
            <a:defPPr algn="ctr">
              <a:defRPr sz="1875" b="0">
                <a:solidFill>
                  <a:srgbClr val="173047"/>
                </a:solidFill>
                <a:latin typeface="Arial"/>
                <a:ea typeface="Arial"/>
                <a:cs typeface="Arial"/>
              </a:defRPr>
            </a:defPPr>
            <a:lvl1pPr algn="ctr">
              <a:defRPr sz="1875" b="0">
                <a:solidFill>
                  <a:srgbClr val="173047"/>
                </a:solidFill>
                <a:latin typeface="Arial"/>
                <a:ea typeface="Arial"/>
                <a:cs typeface="Arial"/>
              </a:defRPr>
            </a:lvl1pPr>
            <a:lvl2pPr algn="ctr">
              <a:defRPr sz="1875" b="0">
                <a:solidFill>
                  <a:srgbClr val="173047"/>
                </a:solidFill>
                <a:latin typeface="Arial"/>
                <a:ea typeface="Arial"/>
                <a:cs typeface="Arial"/>
              </a:defRPr>
            </a:lvl2pPr>
            <a:lvl3pPr algn="ctr">
              <a:defRPr sz="1875" b="0">
                <a:solidFill>
                  <a:srgbClr val="173047"/>
                </a:solidFill>
                <a:latin typeface="Arial"/>
                <a:ea typeface="Arial"/>
                <a:cs typeface="Arial"/>
              </a:defRPr>
            </a:lvl3pPr>
            <a:lvl4pPr algn="ctr">
              <a:defRPr sz="1875" b="0">
                <a:solidFill>
                  <a:srgbClr val="173047"/>
                </a:solidFill>
                <a:latin typeface="Arial"/>
                <a:ea typeface="Arial"/>
                <a:cs typeface="Arial"/>
              </a:defRPr>
            </a:lvl4pPr>
            <a:lvl5pPr algn="ctr">
              <a:defRPr sz="1875" b="0">
                <a:solidFill>
                  <a:srgbClr val="173047"/>
                </a:solidFill>
                <a:latin typeface="Arial"/>
                <a:ea typeface="Arial"/>
                <a:cs typeface="Arial"/>
              </a:defRPr>
            </a:lvl5pPr>
            <a:lvl6pPr algn="ctr">
              <a:defRPr sz="1875" b="0">
                <a:solidFill>
                  <a:srgbClr val="173047"/>
                </a:solidFill>
                <a:latin typeface="Arial"/>
                <a:ea typeface="Arial"/>
                <a:cs typeface="Arial"/>
              </a:defRPr>
            </a:lvl6pPr>
            <a:lvl7pPr algn="ctr">
              <a:defRPr sz="1875" b="0">
                <a:solidFill>
                  <a:srgbClr val="173047"/>
                </a:solidFill>
                <a:latin typeface="Arial"/>
                <a:ea typeface="Arial"/>
                <a:cs typeface="Arial"/>
              </a:defRPr>
            </a:lvl7pPr>
            <a:lvl8pPr algn="ctr">
              <a:defRPr sz="1875" b="0">
                <a:solidFill>
                  <a:srgbClr val="173047"/>
                </a:solidFill>
                <a:latin typeface="Arial"/>
                <a:ea typeface="Arial"/>
                <a:cs typeface="Arial"/>
              </a:defRPr>
            </a:lvl8pPr>
            <a:lvl9pPr algn="ctr">
              <a:defRPr sz="1875" b="0">
                <a:solidFill>
                  <a:srgbClr val="173047"/>
                </a:solidFill>
                <a:latin typeface="Arial"/>
                <a:ea typeface="Arial"/>
                <a:cs typeface="Arial"/>
              </a:defRPr>
            </a:lvl9pPr>
          </a:lstStyle>
          <a:p>
            <a:pPr algn="ctr">
              <a:defRPr sz="1875" b="0">
                <a:solidFill>
                  <a:srgbClr val="173047"/>
                </a:solidFill>
                <a:latin typeface="Arial"/>
                <a:ea typeface="Arial"/>
                <a:cs typeface="Arial"/>
              </a:defRPr>
            </a:pPr>
            <a:r>
              <a:rPr sz="1875" b="0">
                <a:solidFill>
                  <a:srgbClr val="173047"/>
                </a:solidFill>
                <a:latin typeface="Arial"/>
                <a:ea typeface="Arial"/>
                <a:cs typeface="Arial"/>
              </a:rPr>
              <a:t>Anomaly map</a:t>
            </a:r>
          </a:p>
          <a:p>
            <a:pPr algn="ctr">
              <a:defRPr sz="1875" b="0">
                <a:solidFill>
                  <a:srgbClr val="173047"/>
                </a:solidFill>
                <a:latin typeface="Arial"/>
                <a:ea typeface="Arial"/>
                <a:cs typeface="Arial"/>
              </a:defRPr>
            </a:pPr>
            <a:r>
              <a:rPr sz="1875" b="0">
                <a:solidFill>
                  <a:srgbClr val="173047"/>
                </a:solidFill>
                <a:latin typeface="Arial"/>
                <a:ea typeface="Arial"/>
                <a:cs typeface="Arial"/>
              </a:rPr>
              <a:t>and image score</a:t>
            </a:r>
          </a:p>
        </p:txBody>
      </p:sp>
      <p:sp>
        <p:nvSpPr>
          <p:cNvPr id="15" name="text-Layers 1–3; 100 dimensions&#10;Mahal">
            <a:extLst>
              <a:ext uri="{FF2B5EF4-FFF2-40B4-BE49-F238E27FC236}">
                <a16:creationId xmlns:a16="http://schemas.microsoft.com/office/drawing/2014/main" id="{416E8C28-F01B-402E-BD9E-20F67E081B25}"/>
              </a:ext>
            </a:extLst>
          </p:cNvPr>
          <p:cNvSpPr>
            <a:spLocks noGrp="1"/>
          </p:cNvSpPr>
          <p:nvPr/>
        </p:nvSpPr>
        <p:spPr>
          <a:xfrm>
            <a:off x="6115050" y="2971800"/>
            <a:ext cx="3057525" cy="771525"/>
          </a:xfrm>
          <a:prstGeom prst="rect">
            <a:avLst/>
          </a:prstGeom>
          <a:noFill/>
          <a:ln w="0">
            <a:noFill/>
          </a:ln>
        </p:spPr>
        <p:txBody>
          <a:bodyPr wrap="square" lIns="0" tIns="0" rIns="0" bIns="0" anchor="t">
            <a:noAutofit/>
          </a:bodyPr>
          <a:lstStyle>
            <a:defPPr algn="l">
              <a:defRPr sz="1800" b="0">
                <a:solidFill>
                  <a:srgbClr val="3F729B"/>
                </a:solidFill>
                <a:latin typeface="Arial"/>
                <a:ea typeface="Arial"/>
                <a:cs typeface="Arial"/>
              </a:defRPr>
            </a:defPPr>
            <a:lvl1pPr algn="l">
              <a:defRPr sz="1800" b="0">
                <a:solidFill>
                  <a:srgbClr val="3F729B"/>
                </a:solidFill>
                <a:latin typeface="Arial"/>
                <a:ea typeface="Arial"/>
                <a:cs typeface="Arial"/>
              </a:defRPr>
            </a:lvl1pPr>
            <a:lvl2pPr algn="l">
              <a:defRPr sz="1800" b="0">
                <a:solidFill>
                  <a:srgbClr val="3F729B"/>
                </a:solidFill>
                <a:latin typeface="Arial"/>
                <a:ea typeface="Arial"/>
                <a:cs typeface="Arial"/>
              </a:defRPr>
            </a:lvl2pPr>
            <a:lvl3pPr algn="l">
              <a:defRPr sz="1800" b="0">
                <a:solidFill>
                  <a:srgbClr val="3F729B"/>
                </a:solidFill>
                <a:latin typeface="Arial"/>
                <a:ea typeface="Arial"/>
                <a:cs typeface="Arial"/>
              </a:defRPr>
            </a:lvl3pPr>
            <a:lvl4pPr algn="l">
              <a:defRPr sz="1800" b="0">
                <a:solidFill>
                  <a:srgbClr val="3F729B"/>
                </a:solidFill>
                <a:latin typeface="Arial"/>
                <a:ea typeface="Arial"/>
                <a:cs typeface="Arial"/>
              </a:defRPr>
            </a:lvl4pPr>
            <a:lvl5pPr algn="l">
              <a:defRPr sz="1800" b="0">
                <a:solidFill>
                  <a:srgbClr val="3F729B"/>
                </a:solidFill>
                <a:latin typeface="Arial"/>
                <a:ea typeface="Arial"/>
                <a:cs typeface="Arial"/>
              </a:defRPr>
            </a:lvl5pPr>
            <a:lvl6pPr algn="l">
              <a:defRPr sz="1800" b="0">
                <a:solidFill>
                  <a:srgbClr val="3F729B"/>
                </a:solidFill>
                <a:latin typeface="Arial"/>
                <a:ea typeface="Arial"/>
                <a:cs typeface="Arial"/>
              </a:defRPr>
            </a:lvl6pPr>
            <a:lvl7pPr algn="l">
              <a:defRPr sz="1800" b="0">
                <a:solidFill>
                  <a:srgbClr val="3F729B"/>
                </a:solidFill>
                <a:latin typeface="Arial"/>
                <a:ea typeface="Arial"/>
                <a:cs typeface="Arial"/>
              </a:defRPr>
            </a:lvl7pPr>
            <a:lvl8pPr algn="l">
              <a:defRPr sz="1800" b="0">
                <a:solidFill>
                  <a:srgbClr val="3F729B"/>
                </a:solidFill>
                <a:latin typeface="Arial"/>
                <a:ea typeface="Arial"/>
                <a:cs typeface="Arial"/>
              </a:defRPr>
            </a:lvl8pPr>
            <a:lvl9pPr algn="l">
              <a:defRPr sz="1800" b="0">
                <a:solidFill>
                  <a:srgbClr val="3F729B"/>
                </a:solidFill>
                <a:latin typeface="Arial"/>
                <a:ea typeface="Arial"/>
                <a:cs typeface="Arial"/>
              </a:defRPr>
            </a:lvl9pPr>
          </a:lstStyle>
          <a:p>
            <a:pPr algn="l">
              <a:defRPr sz="1800" b="0">
                <a:solidFill>
                  <a:srgbClr val="3F729B"/>
                </a:solidFill>
                <a:latin typeface="Arial"/>
                <a:ea typeface="Arial"/>
                <a:cs typeface="Arial"/>
              </a:defRPr>
            </a:pPr>
            <a:r>
              <a:rPr sz="1800" b="0">
                <a:solidFill>
                  <a:srgbClr val="3F729B"/>
                </a:solidFill>
                <a:latin typeface="Arial"/>
                <a:ea typeface="Arial"/>
                <a:cs typeface="Arial"/>
              </a:rPr>
              <a:t>Layers 1–3; 100 dimensions</a:t>
            </a:r>
          </a:p>
          <a:p>
            <a:pPr algn="l">
              <a:defRPr sz="1800" b="0">
                <a:solidFill>
                  <a:srgbClr val="3F729B"/>
                </a:solidFill>
                <a:latin typeface="Arial"/>
                <a:ea typeface="Arial"/>
                <a:cs typeface="Arial"/>
              </a:defRPr>
            </a:pPr>
            <a:r>
              <a:rPr sz="1800" b="0">
                <a:solidFill>
                  <a:srgbClr val="3F729B"/>
                </a:solidFill>
                <a:latin typeface="Arial"/>
                <a:ea typeface="Arial"/>
                <a:cs typeface="Arial"/>
              </a:rPr>
              <a:t>Mahalanobis distance</a:t>
            </a:r>
          </a:p>
        </p:txBody>
      </p:sp>
      <p:sp>
        <p:nvSpPr>
          <p:cNvPr id="16" name="text-Layers 2–3; 5% coreset&#10;Nearest-n">
            <a:extLst>
              <a:ext uri="{FF2B5EF4-FFF2-40B4-BE49-F238E27FC236}">
                <a16:creationId xmlns:a16="http://schemas.microsoft.com/office/drawing/2014/main" id="{329494E5-AA7B-440C-8888-ED17FCF223C1}"/>
              </a:ext>
            </a:extLst>
          </p:cNvPr>
          <p:cNvSpPr>
            <a:spLocks noGrp="1"/>
          </p:cNvSpPr>
          <p:nvPr/>
        </p:nvSpPr>
        <p:spPr>
          <a:xfrm>
            <a:off x="6115050" y="5467350"/>
            <a:ext cx="3571875" cy="685800"/>
          </a:xfrm>
          <a:prstGeom prst="rect">
            <a:avLst/>
          </a:prstGeom>
          <a:noFill/>
          <a:ln w="0">
            <a:noFill/>
          </a:ln>
        </p:spPr>
        <p:txBody>
          <a:bodyPr wrap="square" lIns="0" tIns="0" rIns="0" bIns="0" anchor="t">
            <a:noAutofit/>
          </a:bodyPr>
          <a:lstStyle>
            <a:defPPr algn="l">
              <a:defRPr sz="1800" b="0">
                <a:solidFill>
                  <a:srgbClr val="8C4318"/>
                </a:solidFill>
                <a:latin typeface="Arial"/>
                <a:ea typeface="Arial"/>
                <a:cs typeface="Arial"/>
              </a:defRPr>
            </a:defPPr>
            <a:lvl1pPr algn="l">
              <a:defRPr sz="1800" b="0">
                <a:solidFill>
                  <a:srgbClr val="8C4318"/>
                </a:solidFill>
                <a:latin typeface="Arial"/>
                <a:ea typeface="Arial"/>
                <a:cs typeface="Arial"/>
              </a:defRPr>
            </a:lvl1pPr>
            <a:lvl2pPr algn="l">
              <a:defRPr sz="1800" b="0">
                <a:solidFill>
                  <a:srgbClr val="8C4318"/>
                </a:solidFill>
                <a:latin typeface="Arial"/>
                <a:ea typeface="Arial"/>
                <a:cs typeface="Arial"/>
              </a:defRPr>
            </a:lvl2pPr>
            <a:lvl3pPr algn="l">
              <a:defRPr sz="1800" b="0">
                <a:solidFill>
                  <a:srgbClr val="8C4318"/>
                </a:solidFill>
                <a:latin typeface="Arial"/>
                <a:ea typeface="Arial"/>
                <a:cs typeface="Arial"/>
              </a:defRPr>
            </a:lvl3pPr>
            <a:lvl4pPr algn="l">
              <a:defRPr sz="1800" b="0">
                <a:solidFill>
                  <a:srgbClr val="8C4318"/>
                </a:solidFill>
                <a:latin typeface="Arial"/>
                <a:ea typeface="Arial"/>
                <a:cs typeface="Arial"/>
              </a:defRPr>
            </a:lvl4pPr>
            <a:lvl5pPr algn="l">
              <a:defRPr sz="1800" b="0">
                <a:solidFill>
                  <a:srgbClr val="8C4318"/>
                </a:solidFill>
                <a:latin typeface="Arial"/>
                <a:ea typeface="Arial"/>
                <a:cs typeface="Arial"/>
              </a:defRPr>
            </a:lvl5pPr>
            <a:lvl6pPr algn="l">
              <a:defRPr sz="1800" b="0">
                <a:solidFill>
                  <a:srgbClr val="8C4318"/>
                </a:solidFill>
                <a:latin typeface="Arial"/>
                <a:ea typeface="Arial"/>
                <a:cs typeface="Arial"/>
              </a:defRPr>
            </a:lvl6pPr>
            <a:lvl7pPr algn="l">
              <a:defRPr sz="1800" b="0">
                <a:solidFill>
                  <a:srgbClr val="8C4318"/>
                </a:solidFill>
                <a:latin typeface="Arial"/>
                <a:ea typeface="Arial"/>
                <a:cs typeface="Arial"/>
              </a:defRPr>
            </a:lvl7pPr>
            <a:lvl8pPr algn="l">
              <a:defRPr sz="1800" b="0">
                <a:solidFill>
                  <a:srgbClr val="8C4318"/>
                </a:solidFill>
                <a:latin typeface="Arial"/>
                <a:ea typeface="Arial"/>
                <a:cs typeface="Arial"/>
              </a:defRPr>
            </a:lvl8pPr>
            <a:lvl9pPr algn="l">
              <a:defRPr sz="1800" b="0">
                <a:solidFill>
                  <a:srgbClr val="8C4318"/>
                </a:solidFill>
                <a:latin typeface="Arial"/>
                <a:ea typeface="Arial"/>
                <a:cs typeface="Arial"/>
              </a:defRPr>
            </a:lvl9pPr>
          </a:lstStyle>
          <a:p>
            <a:pPr algn="l">
              <a:defRPr sz="1800" b="0">
                <a:solidFill>
                  <a:srgbClr val="8C4318"/>
                </a:solidFill>
                <a:latin typeface="Arial"/>
                <a:ea typeface="Arial"/>
                <a:cs typeface="Arial"/>
              </a:defRPr>
            </a:pPr>
            <a:r>
              <a:rPr sz="1800" b="0">
                <a:solidFill>
                  <a:srgbClr val="8C4318"/>
                </a:solidFill>
                <a:latin typeface="Arial"/>
                <a:ea typeface="Arial"/>
                <a:cs typeface="Arial"/>
              </a:rPr>
              <a:t>Layers 2–3; 5% coreset</a:t>
            </a:r>
          </a:p>
          <a:p>
            <a:pPr algn="l">
              <a:defRPr sz="1800" b="0">
                <a:solidFill>
                  <a:srgbClr val="8C4318"/>
                </a:solidFill>
                <a:latin typeface="Arial"/>
                <a:ea typeface="Arial"/>
                <a:cs typeface="Arial"/>
              </a:defRPr>
            </a:pPr>
            <a:r>
              <a:rPr sz="1800" b="0">
                <a:solidFill>
                  <a:srgbClr val="8C4318"/>
                </a:solidFill>
                <a:latin typeface="Arial"/>
                <a:ea typeface="Arial"/>
                <a:cs typeface="Arial"/>
              </a:rPr>
              <a:t>Nearest-neighbor distance</a:t>
            </a:r>
          </a:p>
        </p:txBody>
      </p:sp>
      <p:sp>
        <p:nvSpPr>
          <p:cNvPr id="17" name="text-256 × 256 input, frozen weights,">
            <a:extLst>
              <a:ext uri="{FF2B5EF4-FFF2-40B4-BE49-F238E27FC236}">
                <a16:creationId xmlns:a16="http://schemas.microsoft.com/office/drawing/2014/main" id="{A1C19FFC-2898-438D-BF16-466C25909722}"/>
              </a:ext>
            </a:extLst>
          </p:cNvPr>
          <p:cNvSpPr>
            <a:spLocks noGrp="1"/>
          </p:cNvSpPr>
          <p:nvPr/>
        </p:nvSpPr>
        <p:spPr>
          <a:xfrm>
            <a:off x="609600" y="5676900"/>
            <a:ext cx="5076825" cy="400050"/>
          </a:xfrm>
          <a:prstGeom prst="rect">
            <a:avLst/>
          </a:prstGeom>
          <a:noFill/>
          <a:ln w="0">
            <a:noFill/>
          </a:ln>
        </p:spPr>
        <p:txBody>
          <a:bodyPr wrap="square" lIns="0" tIns="0" rIns="0" bIns="0" anchor="t">
            <a:noAutofit/>
          </a:bodyPr>
          <a:lstStyle>
            <a:defPPr algn="l">
              <a:defRPr sz="1725" b="0">
                <a:solidFill>
                  <a:srgbClr val="586A79"/>
                </a:solidFill>
                <a:latin typeface="Arial"/>
                <a:ea typeface="Arial"/>
                <a:cs typeface="Arial"/>
              </a:defRPr>
            </a:defPPr>
            <a:lvl1pPr algn="l">
              <a:defRPr sz="1725" b="0">
                <a:solidFill>
                  <a:srgbClr val="586A79"/>
                </a:solidFill>
                <a:latin typeface="Arial"/>
                <a:ea typeface="Arial"/>
                <a:cs typeface="Arial"/>
              </a:defRPr>
            </a:lvl1pPr>
            <a:lvl2pPr algn="l">
              <a:defRPr sz="1725" b="0">
                <a:solidFill>
                  <a:srgbClr val="586A79"/>
                </a:solidFill>
                <a:latin typeface="Arial"/>
                <a:ea typeface="Arial"/>
                <a:cs typeface="Arial"/>
              </a:defRPr>
            </a:lvl2pPr>
            <a:lvl3pPr algn="l">
              <a:defRPr sz="1725" b="0">
                <a:solidFill>
                  <a:srgbClr val="586A79"/>
                </a:solidFill>
                <a:latin typeface="Arial"/>
                <a:ea typeface="Arial"/>
                <a:cs typeface="Arial"/>
              </a:defRPr>
            </a:lvl3pPr>
            <a:lvl4pPr algn="l">
              <a:defRPr sz="1725" b="0">
                <a:solidFill>
                  <a:srgbClr val="586A79"/>
                </a:solidFill>
                <a:latin typeface="Arial"/>
                <a:ea typeface="Arial"/>
                <a:cs typeface="Arial"/>
              </a:defRPr>
            </a:lvl4pPr>
            <a:lvl5pPr algn="l">
              <a:defRPr sz="1725" b="0">
                <a:solidFill>
                  <a:srgbClr val="586A79"/>
                </a:solidFill>
                <a:latin typeface="Arial"/>
                <a:ea typeface="Arial"/>
                <a:cs typeface="Arial"/>
              </a:defRPr>
            </a:lvl5pPr>
            <a:lvl6pPr algn="l">
              <a:defRPr sz="1725" b="0">
                <a:solidFill>
                  <a:srgbClr val="586A79"/>
                </a:solidFill>
                <a:latin typeface="Arial"/>
                <a:ea typeface="Arial"/>
                <a:cs typeface="Arial"/>
              </a:defRPr>
            </a:lvl6pPr>
            <a:lvl7pPr algn="l">
              <a:defRPr sz="1725" b="0">
                <a:solidFill>
                  <a:srgbClr val="586A79"/>
                </a:solidFill>
                <a:latin typeface="Arial"/>
                <a:ea typeface="Arial"/>
                <a:cs typeface="Arial"/>
              </a:defRPr>
            </a:lvl7pPr>
            <a:lvl8pPr algn="l">
              <a:defRPr sz="1725" b="0">
                <a:solidFill>
                  <a:srgbClr val="586A79"/>
                </a:solidFill>
                <a:latin typeface="Arial"/>
                <a:ea typeface="Arial"/>
                <a:cs typeface="Arial"/>
              </a:defRPr>
            </a:lvl8pPr>
            <a:lvl9pPr algn="l">
              <a:defRPr sz="1725" b="0">
                <a:solidFill>
                  <a:srgbClr val="586A79"/>
                </a:solidFill>
                <a:latin typeface="Arial"/>
                <a:ea typeface="Arial"/>
                <a:cs typeface="Arial"/>
              </a:defRPr>
            </a:lvl9pPr>
          </a:lstStyle>
          <a:p>
            <a:pPr algn="l">
              <a:defRPr sz="1725" b="0">
                <a:solidFill>
                  <a:srgbClr val="586A79"/>
                </a:solidFill>
                <a:latin typeface="Arial"/>
                <a:ea typeface="Arial"/>
                <a:cs typeface="Arial"/>
              </a:defRPr>
            </a:pPr>
            <a:r>
              <a:rPr sz="1725" b="0">
                <a:solidFill>
                  <a:srgbClr val="586A79"/>
                </a:solidFill>
                <a:latin typeface="Arial"/>
                <a:ea typeface="Arial"/>
                <a:cs typeface="Arial"/>
              </a:rPr>
              <a:t>256 × 256 input, frozen weights, FP32</a:t>
            </a:r>
          </a:p>
        </p:txBody>
      </p:sp>
    </p:spTree>
    <p:extLst>
      <p:ext uri="{BB962C8B-B14F-4D97-AF65-F5344CB8AC3E}">
        <p14:creationId xmlns:p14="http://schemas.microsoft.com/office/powerpoint/2010/main" val="47192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PatchCore Improves Detection and">
            <a:extLst>
              <a:ext uri="{FF2B5EF4-FFF2-40B4-BE49-F238E27FC236}">
                <a16:creationId xmlns:a16="http://schemas.microsoft.com/office/drawing/2014/main" id="{365F3E78-77D2-42D8-9C28-84EDC94A7B4E}"/>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PatchCore Improves Detection and Localization</a:t>
            </a:r>
          </a:p>
        </p:txBody>
      </p:sp>
      <p:sp>
        <p:nvSpPr>
          <p:cNvPr id="2" name="矩形 1">
            <a:extLst>
              <a:ext uri="{FF2B5EF4-FFF2-40B4-BE49-F238E27FC236}">
                <a16:creationId xmlns:a16="http://schemas.microsoft.com/office/drawing/2014/main" id="{9404AA99-0EAB-4DFA-8AD8-284AC1200FCF}"/>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5EA44FFE-CB27-4943-AFF3-04FA190429F9}"/>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B    04 / 08">
            <a:extLst>
              <a:ext uri="{FF2B5EF4-FFF2-40B4-BE49-F238E27FC236}">
                <a16:creationId xmlns:a16="http://schemas.microsoft.com/office/drawing/2014/main" id="{37924E30-604F-40D7-AC22-874180AC00BA}"/>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04 / 08</a:t>
            </a:r>
          </a:p>
        </p:txBody>
      </p:sp>
      <p:sp>
        <p:nvSpPr>
          <p:cNvPr id="5" name="text-Image AUROC">
            <a:extLst>
              <a:ext uri="{FF2B5EF4-FFF2-40B4-BE49-F238E27FC236}">
                <a16:creationId xmlns:a16="http://schemas.microsoft.com/office/drawing/2014/main" id="{A68EEC6E-5CB7-4EE2-BBAE-1869595BF9D9}"/>
              </a:ext>
            </a:extLst>
          </p:cNvPr>
          <p:cNvSpPr>
            <a:spLocks noGrp="1"/>
          </p:cNvSpPr>
          <p:nvPr/>
        </p:nvSpPr>
        <p:spPr>
          <a:xfrm>
            <a:off x="609600" y="1381125"/>
            <a:ext cx="5257800" cy="361950"/>
          </a:xfrm>
          <a:prstGeom prst="rect">
            <a:avLst/>
          </a:prstGeom>
          <a:noFill/>
          <a:ln w="0">
            <a:noFill/>
          </a:ln>
        </p:spPr>
        <p:txBody>
          <a:bodyPr wrap="square" lIns="0" tIns="0" rIns="0" bIns="0" anchor="t">
            <a:noAutofit/>
          </a:bodyPr>
          <a:lstStyle>
            <a:defPPr algn="l">
              <a:defRPr sz="2025" b="1">
                <a:solidFill>
                  <a:srgbClr val="173047"/>
                </a:solidFill>
                <a:latin typeface="Arial"/>
                <a:ea typeface="Arial"/>
                <a:cs typeface="Arial"/>
              </a:defRPr>
            </a:defPPr>
            <a:lvl1pPr algn="l">
              <a:defRPr sz="2025" b="1">
                <a:solidFill>
                  <a:srgbClr val="173047"/>
                </a:solidFill>
                <a:latin typeface="Arial"/>
                <a:ea typeface="Arial"/>
                <a:cs typeface="Arial"/>
              </a:defRPr>
            </a:lvl1pPr>
            <a:lvl2pPr algn="l">
              <a:defRPr sz="2025" b="1">
                <a:solidFill>
                  <a:srgbClr val="173047"/>
                </a:solidFill>
                <a:latin typeface="Arial"/>
                <a:ea typeface="Arial"/>
                <a:cs typeface="Arial"/>
              </a:defRPr>
            </a:lvl2pPr>
            <a:lvl3pPr algn="l">
              <a:defRPr sz="2025" b="1">
                <a:solidFill>
                  <a:srgbClr val="173047"/>
                </a:solidFill>
                <a:latin typeface="Arial"/>
                <a:ea typeface="Arial"/>
                <a:cs typeface="Arial"/>
              </a:defRPr>
            </a:lvl3pPr>
            <a:lvl4pPr algn="l">
              <a:defRPr sz="2025" b="1">
                <a:solidFill>
                  <a:srgbClr val="173047"/>
                </a:solidFill>
                <a:latin typeface="Arial"/>
                <a:ea typeface="Arial"/>
                <a:cs typeface="Arial"/>
              </a:defRPr>
            </a:lvl4pPr>
            <a:lvl5pPr algn="l">
              <a:defRPr sz="2025" b="1">
                <a:solidFill>
                  <a:srgbClr val="173047"/>
                </a:solidFill>
                <a:latin typeface="Arial"/>
                <a:ea typeface="Arial"/>
                <a:cs typeface="Arial"/>
              </a:defRPr>
            </a:lvl5pPr>
            <a:lvl6pPr algn="l">
              <a:defRPr sz="2025" b="1">
                <a:solidFill>
                  <a:srgbClr val="173047"/>
                </a:solidFill>
                <a:latin typeface="Arial"/>
                <a:ea typeface="Arial"/>
                <a:cs typeface="Arial"/>
              </a:defRPr>
            </a:lvl6pPr>
            <a:lvl7pPr algn="l">
              <a:defRPr sz="2025" b="1">
                <a:solidFill>
                  <a:srgbClr val="173047"/>
                </a:solidFill>
                <a:latin typeface="Arial"/>
                <a:ea typeface="Arial"/>
                <a:cs typeface="Arial"/>
              </a:defRPr>
            </a:lvl7pPr>
            <a:lvl8pPr algn="l">
              <a:defRPr sz="2025" b="1">
                <a:solidFill>
                  <a:srgbClr val="173047"/>
                </a:solidFill>
                <a:latin typeface="Arial"/>
                <a:ea typeface="Arial"/>
                <a:cs typeface="Arial"/>
              </a:defRPr>
            </a:lvl8pPr>
            <a:lvl9pPr algn="l">
              <a:defRPr sz="2025" b="1">
                <a:solidFill>
                  <a:srgbClr val="173047"/>
                </a:solidFill>
                <a:latin typeface="Arial"/>
                <a:ea typeface="Arial"/>
                <a:cs typeface="Arial"/>
              </a:defRPr>
            </a:lvl9pPr>
          </a:lstStyle>
          <a:p>
            <a:pPr algn="l">
              <a:defRPr sz="2025" b="1">
                <a:solidFill>
                  <a:srgbClr val="173047"/>
                </a:solidFill>
                <a:latin typeface="Arial"/>
                <a:ea typeface="Arial"/>
                <a:cs typeface="Arial"/>
              </a:defRPr>
            </a:pPr>
            <a:r>
              <a:rPr sz="2025" b="1">
                <a:solidFill>
                  <a:srgbClr val="173047"/>
                </a:solidFill>
                <a:latin typeface="Arial"/>
                <a:ea typeface="Arial"/>
                <a:cs typeface="Arial"/>
              </a:rPr>
              <a:t>Image AUROC</a:t>
            </a:r>
          </a:p>
        </p:txBody>
      </p:sp>
      <p:graphicFrame>
        <p:nvGraphicFramePr>
          <p:cNvPr id="6" name="Chart">
            <a:extLst>
              <a:ext uri="{FF2B5EF4-FFF2-40B4-BE49-F238E27FC236}">
                <a16:creationId xmlns:a16="http://schemas.microsoft.com/office/drawing/2014/main" id="{9CF4057B-0ADB-4457-8FFE-1EFD64391C40}"/>
              </a:ext>
            </a:extLst>
          </p:cNvPr>
          <p:cNvGraphicFramePr/>
          <p:nvPr/>
        </p:nvGraphicFramePr>
        <p:xfrm>
          <a:off x="609600" y="1866900"/>
          <a:ext cx="5257800" cy="32385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Pixel average precision">
            <a:extLst>
              <a:ext uri="{FF2B5EF4-FFF2-40B4-BE49-F238E27FC236}">
                <a16:creationId xmlns:a16="http://schemas.microsoft.com/office/drawing/2014/main" id="{8554F628-B0C9-4E55-9508-E123D143F3E6}"/>
              </a:ext>
            </a:extLst>
          </p:cNvPr>
          <p:cNvSpPr>
            <a:spLocks noGrp="1"/>
          </p:cNvSpPr>
          <p:nvPr/>
        </p:nvSpPr>
        <p:spPr>
          <a:xfrm>
            <a:off x="6229350" y="1381125"/>
            <a:ext cx="5257800" cy="361950"/>
          </a:xfrm>
          <a:prstGeom prst="rect">
            <a:avLst/>
          </a:prstGeom>
          <a:noFill/>
          <a:ln w="0">
            <a:noFill/>
          </a:ln>
        </p:spPr>
        <p:txBody>
          <a:bodyPr wrap="square" lIns="0" tIns="0" rIns="0" bIns="0" anchor="t">
            <a:noAutofit/>
          </a:bodyPr>
          <a:lstStyle>
            <a:defPPr algn="l">
              <a:defRPr sz="2025" b="1">
                <a:solidFill>
                  <a:srgbClr val="173047"/>
                </a:solidFill>
                <a:latin typeface="Arial"/>
                <a:ea typeface="Arial"/>
                <a:cs typeface="Arial"/>
              </a:defRPr>
            </a:defPPr>
            <a:lvl1pPr algn="l">
              <a:defRPr sz="2025" b="1">
                <a:solidFill>
                  <a:srgbClr val="173047"/>
                </a:solidFill>
                <a:latin typeface="Arial"/>
                <a:ea typeface="Arial"/>
                <a:cs typeface="Arial"/>
              </a:defRPr>
            </a:lvl1pPr>
            <a:lvl2pPr algn="l">
              <a:defRPr sz="2025" b="1">
                <a:solidFill>
                  <a:srgbClr val="173047"/>
                </a:solidFill>
                <a:latin typeface="Arial"/>
                <a:ea typeface="Arial"/>
                <a:cs typeface="Arial"/>
              </a:defRPr>
            </a:lvl2pPr>
            <a:lvl3pPr algn="l">
              <a:defRPr sz="2025" b="1">
                <a:solidFill>
                  <a:srgbClr val="173047"/>
                </a:solidFill>
                <a:latin typeface="Arial"/>
                <a:ea typeface="Arial"/>
                <a:cs typeface="Arial"/>
              </a:defRPr>
            </a:lvl3pPr>
            <a:lvl4pPr algn="l">
              <a:defRPr sz="2025" b="1">
                <a:solidFill>
                  <a:srgbClr val="173047"/>
                </a:solidFill>
                <a:latin typeface="Arial"/>
                <a:ea typeface="Arial"/>
                <a:cs typeface="Arial"/>
              </a:defRPr>
            </a:lvl4pPr>
            <a:lvl5pPr algn="l">
              <a:defRPr sz="2025" b="1">
                <a:solidFill>
                  <a:srgbClr val="173047"/>
                </a:solidFill>
                <a:latin typeface="Arial"/>
                <a:ea typeface="Arial"/>
                <a:cs typeface="Arial"/>
              </a:defRPr>
            </a:lvl5pPr>
            <a:lvl6pPr algn="l">
              <a:defRPr sz="2025" b="1">
                <a:solidFill>
                  <a:srgbClr val="173047"/>
                </a:solidFill>
                <a:latin typeface="Arial"/>
                <a:ea typeface="Arial"/>
                <a:cs typeface="Arial"/>
              </a:defRPr>
            </a:lvl6pPr>
            <a:lvl7pPr algn="l">
              <a:defRPr sz="2025" b="1">
                <a:solidFill>
                  <a:srgbClr val="173047"/>
                </a:solidFill>
                <a:latin typeface="Arial"/>
                <a:ea typeface="Arial"/>
                <a:cs typeface="Arial"/>
              </a:defRPr>
            </a:lvl7pPr>
            <a:lvl8pPr algn="l">
              <a:defRPr sz="2025" b="1">
                <a:solidFill>
                  <a:srgbClr val="173047"/>
                </a:solidFill>
                <a:latin typeface="Arial"/>
                <a:ea typeface="Arial"/>
                <a:cs typeface="Arial"/>
              </a:defRPr>
            </a:lvl8pPr>
            <a:lvl9pPr algn="l">
              <a:defRPr sz="2025" b="1">
                <a:solidFill>
                  <a:srgbClr val="173047"/>
                </a:solidFill>
                <a:latin typeface="Arial"/>
                <a:ea typeface="Arial"/>
                <a:cs typeface="Arial"/>
              </a:defRPr>
            </a:lvl9pPr>
          </a:lstStyle>
          <a:p>
            <a:pPr algn="l">
              <a:defRPr sz="2025" b="1">
                <a:solidFill>
                  <a:srgbClr val="173047"/>
                </a:solidFill>
                <a:latin typeface="Arial"/>
                <a:ea typeface="Arial"/>
                <a:cs typeface="Arial"/>
              </a:defRPr>
            </a:pPr>
            <a:r>
              <a:rPr sz="2025" b="1">
                <a:solidFill>
                  <a:srgbClr val="173047"/>
                </a:solidFill>
                <a:latin typeface="Arial"/>
                <a:ea typeface="Arial"/>
                <a:cs typeface="Arial"/>
              </a:rPr>
              <a:t>Pixel average precision</a:t>
            </a:r>
          </a:p>
        </p:txBody>
      </p:sp>
      <p:graphicFrame>
        <p:nvGraphicFramePr>
          <p:cNvPr id="8" name="Chart">
            <a:extLst>
              <a:ext uri="{FF2B5EF4-FFF2-40B4-BE49-F238E27FC236}">
                <a16:creationId xmlns:a16="http://schemas.microsoft.com/office/drawing/2014/main" id="{1EB60790-FB19-4D26-AD98-C3BB27870C0C}"/>
              </a:ext>
            </a:extLst>
          </p:cNvPr>
          <p:cNvGraphicFramePr/>
          <p:nvPr/>
        </p:nvGraphicFramePr>
        <p:xfrm>
          <a:off x="6229350" y="1866900"/>
          <a:ext cx="5257800" cy="32385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Macro image AUROC">
            <a:extLst>
              <a:ext uri="{FF2B5EF4-FFF2-40B4-BE49-F238E27FC236}">
                <a16:creationId xmlns:a16="http://schemas.microsoft.com/office/drawing/2014/main" id="{07766D5D-8E34-4003-9FB0-DC7928688368}"/>
              </a:ext>
            </a:extLst>
          </p:cNvPr>
          <p:cNvSpPr>
            <a:spLocks noGrp="1"/>
          </p:cNvSpPr>
          <p:nvPr/>
        </p:nvSpPr>
        <p:spPr>
          <a:xfrm>
            <a:off x="609600" y="5238750"/>
            <a:ext cx="5257800" cy="295275"/>
          </a:xfrm>
          <a:prstGeom prst="rect">
            <a:avLst/>
          </a:prstGeom>
          <a:noFill/>
          <a:ln w="0">
            <a:noFill/>
          </a:ln>
        </p:spPr>
        <p:txBody>
          <a:bodyPr wrap="square" lIns="0" tIns="0" rIns="0" bIns="0" anchor="t">
            <a:noAutofit/>
          </a:bodyPr>
          <a:lstStyle>
            <a:defPPr algn="l">
              <a:defRPr sz="1725" b="0">
                <a:solidFill>
                  <a:srgbClr val="586A79"/>
                </a:solidFill>
                <a:latin typeface="Arial"/>
                <a:ea typeface="Arial"/>
                <a:cs typeface="Arial"/>
              </a:defRPr>
            </a:defPPr>
            <a:lvl1pPr algn="l">
              <a:defRPr sz="1725" b="0">
                <a:solidFill>
                  <a:srgbClr val="586A79"/>
                </a:solidFill>
                <a:latin typeface="Arial"/>
                <a:ea typeface="Arial"/>
                <a:cs typeface="Arial"/>
              </a:defRPr>
            </a:lvl1pPr>
            <a:lvl2pPr algn="l">
              <a:defRPr sz="1725" b="0">
                <a:solidFill>
                  <a:srgbClr val="586A79"/>
                </a:solidFill>
                <a:latin typeface="Arial"/>
                <a:ea typeface="Arial"/>
                <a:cs typeface="Arial"/>
              </a:defRPr>
            </a:lvl2pPr>
            <a:lvl3pPr algn="l">
              <a:defRPr sz="1725" b="0">
                <a:solidFill>
                  <a:srgbClr val="586A79"/>
                </a:solidFill>
                <a:latin typeface="Arial"/>
                <a:ea typeface="Arial"/>
                <a:cs typeface="Arial"/>
              </a:defRPr>
            </a:lvl3pPr>
            <a:lvl4pPr algn="l">
              <a:defRPr sz="1725" b="0">
                <a:solidFill>
                  <a:srgbClr val="586A79"/>
                </a:solidFill>
                <a:latin typeface="Arial"/>
                <a:ea typeface="Arial"/>
                <a:cs typeface="Arial"/>
              </a:defRPr>
            </a:lvl4pPr>
            <a:lvl5pPr algn="l">
              <a:defRPr sz="1725" b="0">
                <a:solidFill>
                  <a:srgbClr val="586A79"/>
                </a:solidFill>
                <a:latin typeface="Arial"/>
                <a:ea typeface="Arial"/>
                <a:cs typeface="Arial"/>
              </a:defRPr>
            </a:lvl5pPr>
            <a:lvl6pPr algn="l">
              <a:defRPr sz="1725" b="0">
                <a:solidFill>
                  <a:srgbClr val="586A79"/>
                </a:solidFill>
                <a:latin typeface="Arial"/>
                <a:ea typeface="Arial"/>
                <a:cs typeface="Arial"/>
              </a:defRPr>
            </a:lvl6pPr>
            <a:lvl7pPr algn="l">
              <a:defRPr sz="1725" b="0">
                <a:solidFill>
                  <a:srgbClr val="586A79"/>
                </a:solidFill>
                <a:latin typeface="Arial"/>
                <a:ea typeface="Arial"/>
                <a:cs typeface="Arial"/>
              </a:defRPr>
            </a:lvl7pPr>
            <a:lvl8pPr algn="l">
              <a:defRPr sz="1725" b="0">
                <a:solidFill>
                  <a:srgbClr val="586A79"/>
                </a:solidFill>
                <a:latin typeface="Arial"/>
                <a:ea typeface="Arial"/>
                <a:cs typeface="Arial"/>
              </a:defRPr>
            </a:lvl8pPr>
            <a:lvl9pPr algn="l">
              <a:defRPr sz="1725" b="0">
                <a:solidFill>
                  <a:srgbClr val="586A79"/>
                </a:solidFill>
                <a:latin typeface="Arial"/>
                <a:ea typeface="Arial"/>
                <a:cs typeface="Arial"/>
              </a:defRPr>
            </a:lvl9pPr>
          </a:lstStyle>
          <a:p>
            <a:pPr algn="l">
              <a:defRPr sz="1725" b="0">
                <a:solidFill>
                  <a:srgbClr val="586A79"/>
                </a:solidFill>
                <a:latin typeface="Arial"/>
                <a:ea typeface="Arial"/>
                <a:cs typeface="Arial"/>
              </a:defRPr>
            </a:pPr>
            <a:r>
              <a:rPr sz="1725" b="0">
                <a:solidFill>
                  <a:srgbClr val="586A79"/>
                </a:solidFill>
                <a:latin typeface="Arial"/>
                <a:ea typeface="Arial"/>
                <a:cs typeface="Arial"/>
              </a:rPr>
              <a:t>Macro image AUROC</a:t>
            </a:r>
          </a:p>
        </p:txBody>
      </p:sp>
      <p:sp>
        <p:nvSpPr>
          <p:cNvPr id="10" name="text-87.61 ± 0.61%   /   96.18 ± 0.05">
            <a:extLst>
              <a:ext uri="{FF2B5EF4-FFF2-40B4-BE49-F238E27FC236}">
                <a16:creationId xmlns:a16="http://schemas.microsoft.com/office/drawing/2014/main" id="{6140EF9B-9A46-4B20-98B3-331E00B7F21E}"/>
              </a:ext>
            </a:extLst>
          </p:cNvPr>
          <p:cNvSpPr>
            <a:spLocks noGrp="1"/>
          </p:cNvSpPr>
          <p:nvPr/>
        </p:nvSpPr>
        <p:spPr>
          <a:xfrm>
            <a:off x="609600" y="5562600"/>
            <a:ext cx="5257800" cy="342900"/>
          </a:xfrm>
          <a:prstGeom prst="rect">
            <a:avLst/>
          </a:prstGeom>
          <a:noFill/>
          <a:ln w="0">
            <a:noFill/>
          </a:ln>
        </p:spPr>
        <p:txBody>
          <a:bodyPr wrap="square" lIns="0" tIns="0" rIns="0" bIns="0" anchor="t">
            <a:noAutofit/>
          </a:bodyPr>
          <a:lstStyle>
            <a:defPPr algn="l">
              <a:defRPr sz="2100" b="1">
                <a:solidFill>
                  <a:srgbClr val="173047"/>
                </a:solidFill>
                <a:latin typeface="Arial"/>
                <a:ea typeface="Arial"/>
                <a:cs typeface="Arial"/>
              </a:defRPr>
            </a:defPPr>
            <a:lvl1pPr algn="l">
              <a:defRPr sz="2100" b="1">
                <a:solidFill>
                  <a:srgbClr val="173047"/>
                </a:solidFill>
                <a:latin typeface="Arial"/>
                <a:ea typeface="Arial"/>
                <a:cs typeface="Arial"/>
              </a:defRPr>
            </a:lvl1pPr>
            <a:lvl2pPr algn="l">
              <a:defRPr sz="2100" b="1">
                <a:solidFill>
                  <a:srgbClr val="173047"/>
                </a:solidFill>
                <a:latin typeface="Arial"/>
                <a:ea typeface="Arial"/>
                <a:cs typeface="Arial"/>
              </a:defRPr>
            </a:lvl2pPr>
            <a:lvl3pPr algn="l">
              <a:defRPr sz="2100" b="1">
                <a:solidFill>
                  <a:srgbClr val="173047"/>
                </a:solidFill>
                <a:latin typeface="Arial"/>
                <a:ea typeface="Arial"/>
                <a:cs typeface="Arial"/>
              </a:defRPr>
            </a:lvl3pPr>
            <a:lvl4pPr algn="l">
              <a:defRPr sz="2100" b="1">
                <a:solidFill>
                  <a:srgbClr val="173047"/>
                </a:solidFill>
                <a:latin typeface="Arial"/>
                <a:ea typeface="Arial"/>
                <a:cs typeface="Arial"/>
              </a:defRPr>
            </a:lvl4pPr>
            <a:lvl5pPr algn="l">
              <a:defRPr sz="2100" b="1">
                <a:solidFill>
                  <a:srgbClr val="173047"/>
                </a:solidFill>
                <a:latin typeface="Arial"/>
                <a:ea typeface="Arial"/>
                <a:cs typeface="Arial"/>
              </a:defRPr>
            </a:lvl5pPr>
            <a:lvl6pPr algn="l">
              <a:defRPr sz="2100" b="1">
                <a:solidFill>
                  <a:srgbClr val="173047"/>
                </a:solidFill>
                <a:latin typeface="Arial"/>
                <a:ea typeface="Arial"/>
                <a:cs typeface="Arial"/>
              </a:defRPr>
            </a:lvl6pPr>
            <a:lvl7pPr algn="l">
              <a:defRPr sz="2100" b="1">
                <a:solidFill>
                  <a:srgbClr val="173047"/>
                </a:solidFill>
                <a:latin typeface="Arial"/>
                <a:ea typeface="Arial"/>
                <a:cs typeface="Arial"/>
              </a:defRPr>
            </a:lvl7pPr>
            <a:lvl8pPr algn="l">
              <a:defRPr sz="2100" b="1">
                <a:solidFill>
                  <a:srgbClr val="173047"/>
                </a:solidFill>
                <a:latin typeface="Arial"/>
                <a:ea typeface="Arial"/>
                <a:cs typeface="Arial"/>
              </a:defRPr>
            </a:lvl8pPr>
            <a:lvl9pPr algn="l">
              <a:defRPr sz="2100" b="1">
                <a:solidFill>
                  <a:srgbClr val="173047"/>
                </a:solidFill>
                <a:latin typeface="Arial"/>
                <a:ea typeface="Arial"/>
                <a:cs typeface="Arial"/>
              </a:defRPr>
            </a:lvl9pPr>
          </a:lstStyle>
          <a:p>
            <a:pPr algn="l">
              <a:defRPr sz="2100" b="1">
                <a:solidFill>
                  <a:srgbClr val="173047"/>
                </a:solidFill>
                <a:latin typeface="Arial"/>
                <a:ea typeface="Arial"/>
                <a:cs typeface="Arial"/>
              </a:defRPr>
            </a:pPr>
            <a:r>
              <a:rPr sz="2100" b="1">
                <a:solidFill>
                  <a:srgbClr val="173047"/>
                </a:solidFill>
                <a:latin typeface="Arial"/>
                <a:ea typeface="Arial"/>
                <a:cs typeface="Arial"/>
              </a:rPr>
              <a:t>87.61 ± 0.61%   /   96.18 ± 0.05%</a:t>
            </a:r>
          </a:p>
        </p:txBody>
      </p:sp>
      <p:sp>
        <p:nvSpPr>
          <p:cNvPr id="11" name="text-Macro pixel AP">
            <a:extLst>
              <a:ext uri="{FF2B5EF4-FFF2-40B4-BE49-F238E27FC236}">
                <a16:creationId xmlns:a16="http://schemas.microsoft.com/office/drawing/2014/main" id="{206A2D86-519E-41E0-8CD8-9149C20EB609}"/>
              </a:ext>
            </a:extLst>
          </p:cNvPr>
          <p:cNvSpPr>
            <a:spLocks noGrp="1"/>
          </p:cNvSpPr>
          <p:nvPr/>
        </p:nvSpPr>
        <p:spPr>
          <a:xfrm>
            <a:off x="6229350" y="5238750"/>
            <a:ext cx="5257800" cy="295275"/>
          </a:xfrm>
          <a:prstGeom prst="rect">
            <a:avLst/>
          </a:prstGeom>
          <a:noFill/>
          <a:ln w="0">
            <a:noFill/>
          </a:ln>
        </p:spPr>
        <p:txBody>
          <a:bodyPr wrap="square" lIns="0" tIns="0" rIns="0" bIns="0" anchor="t">
            <a:noAutofit/>
          </a:bodyPr>
          <a:lstStyle>
            <a:defPPr algn="l">
              <a:defRPr sz="1725" b="0">
                <a:solidFill>
                  <a:srgbClr val="586A79"/>
                </a:solidFill>
                <a:latin typeface="Arial"/>
                <a:ea typeface="Arial"/>
                <a:cs typeface="Arial"/>
              </a:defRPr>
            </a:defPPr>
            <a:lvl1pPr algn="l">
              <a:defRPr sz="1725" b="0">
                <a:solidFill>
                  <a:srgbClr val="586A79"/>
                </a:solidFill>
                <a:latin typeface="Arial"/>
                <a:ea typeface="Arial"/>
                <a:cs typeface="Arial"/>
              </a:defRPr>
            </a:lvl1pPr>
            <a:lvl2pPr algn="l">
              <a:defRPr sz="1725" b="0">
                <a:solidFill>
                  <a:srgbClr val="586A79"/>
                </a:solidFill>
                <a:latin typeface="Arial"/>
                <a:ea typeface="Arial"/>
                <a:cs typeface="Arial"/>
              </a:defRPr>
            </a:lvl2pPr>
            <a:lvl3pPr algn="l">
              <a:defRPr sz="1725" b="0">
                <a:solidFill>
                  <a:srgbClr val="586A79"/>
                </a:solidFill>
                <a:latin typeface="Arial"/>
                <a:ea typeface="Arial"/>
                <a:cs typeface="Arial"/>
              </a:defRPr>
            </a:lvl3pPr>
            <a:lvl4pPr algn="l">
              <a:defRPr sz="1725" b="0">
                <a:solidFill>
                  <a:srgbClr val="586A79"/>
                </a:solidFill>
                <a:latin typeface="Arial"/>
                <a:ea typeface="Arial"/>
                <a:cs typeface="Arial"/>
              </a:defRPr>
            </a:lvl4pPr>
            <a:lvl5pPr algn="l">
              <a:defRPr sz="1725" b="0">
                <a:solidFill>
                  <a:srgbClr val="586A79"/>
                </a:solidFill>
                <a:latin typeface="Arial"/>
                <a:ea typeface="Arial"/>
                <a:cs typeface="Arial"/>
              </a:defRPr>
            </a:lvl5pPr>
            <a:lvl6pPr algn="l">
              <a:defRPr sz="1725" b="0">
                <a:solidFill>
                  <a:srgbClr val="586A79"/>
                </a:solidFill>
                <a:latin typeface="Arial"/>
                <a:ea typeface="Arial"/>
                <a:cs typeface="Arial"/>
              </a:defRPr>
            </a:lvl6pPr>
            <a:lvl7pPr algn="l">
              <a:defRPr sz="1725" b="0">
                <a:solidFill>
                  <a:srgbClr val="586A79"/>
                </a:solidFill>
                <a:latin typeface="Arial"/>
                <a:ea typeface="Arial"/>
                <a:cs typeface="Arial"/>
              </a:defRPr>
            </a:lvl7pPr>
            <a:lvl8pPr algn="l">
              <a:defRPr sz="1725" b="0">
                <a:solidFill>
                  <a:srgbClr val="586A79"/>
                </a:solidFill>
                <a:latin typeface="Arial"/>
                <a:ea typeface="Arial"/>
                <a:cs typeface="Arial"/>
              </a:defRPr>
            </a:lvl8pPr>
            <a:lvl9pPr algn="l">
              <a:defRPr sz="1725" b="0">
                <a:solidFill>
                  <a:srgbClr val="586A79"/>
                </a:solidFill>
                <a:latin typeface="Arial"/>
                <a:ea typeface="Arial"/>
                <a:cs typeface="Arial"/>
              </a:defRPr>
            </a:lvl9pPr>
          </a:lstStyle>
          <a:p>
            <a:pPr algn="l">
              <a:defRPr sz="1725" b="0">
                <a:solidFill>
                  <a:srgbClr val="586A79"/>
                </a:solidFill>
                <a:latin typeface="Arial"/>
                <a:ea typeface="Arial"/>
                <a:cs typeface="Arial"/>
              </a:defRPr>
            </a:pPr>
            <a:r>
              <a:rPr sz="1725" b="0">
                <a:solidFill>
                  <a:srgbClr val="586A79"/>
                </a:solidFill>
                <a:latin typeface="Arial"/>
                <a:ea typeface="Arial"/>
                <a:cs typeface="Arial"/>
              </a:rPr>
              <a:t>Macro pixel AP</a:t>
            </a:r>
          </a:p>
        </p:txBody>
      </p:sp>
      <p:sp>
        <p:nvSpPr>
          <p:cNvPr id="12" name="text-38.45 ± 1.00%   /   48.92 ± 0.71">
            <a:extLst>
              <a:ext uri="{FF2B5EF4-FFF2-40B4-BE49-F238E27FC236}">
                <a16:creationId xmlns:a16="http://schemas.microsoft.com/office/drawing/2014/main" id="{F466AFD3-C8B8-42B8-A832-D813D2D5BBB6}"/>
              </a:ext>
            </a:extLst>
          </p:cNvPr>
          <p:cNvSpPr>
            <a:spLocks noGrp="1"/>
          </p:cNvSpPr>
          <p:nvPr/>
        </p:nvSpPr>
        <p:spPr>
          <a:xfrm>
            <a:off x="6229350" y="5562600"/>
            <a:ext cx="5257800" cy="342900"/>
          </a:xfrm>
          <a:prstGeom prst="rect">
            <a:avLst/>
          </a:prstGeom>
          <a:noFill/>
          <a:ln w="0">
            <a:noFill/>
          </a:ln>
        </p:spPr>
        <p:txBody>
          <a:bodyPr wrap="square" lIns="0" tIns="0" rIns="0" bIns="0" anchor="t">
            <a:noAutofit/>
          </a:bodyPr>
          <a:lstStyle>
            <a:defPPr algn="l">
              <a:defRPr sz="2100" b="1">
                <a:solidFill>
                  <a:srgbClr val="173047"/>
                </a:solidFill>
                <a:latin typeface="Arial"/>
                <a:ea typeface="Arial"/>
                <a:cs typeface="Arial"/>
              </a:defRPr>
            </a:defPPr>
            <a:lvl1pPr algn="l">
              <a:defRPr sz="2100" b="1">
                <a:solidFill>
                  <a:srgbClr val="173047"/>
                </a:solidFill>
                <a:latin typeface="Arial"/>
                <a:ea typeface="Arial"/>
                <a:cs typeface="Arial"/>
              </a:defRPr>
            </a:lvl1pPr>
            <a:lvl2pPr algn="l">
              <a:defRPr sz="2100" b="1">
                <a:solidFill>
                  <a:srgbClr val="173047"/>
                </a:solidFill>
                <a:latin typeface="Arial"/>
                <a:ea typeface="Arial"/>
                <a:cs typeface="Arial"/>
              </a:defRPr>
            </a:lvl2pPr>
            <a:lvl3pPr algn="l">
              <a:defRPr sz="2100" b="1">
                <a:solidFill>
                  <a:srgbClr val="173047"/>
                </a:solidFill>
                <a:latin typeface="Arial"/>
                <a:ea typeface="Arial"/>
                <a:cs typeface="Arial"/>
              </a:defRPr>
            </a:lvl3pPr>
            <a:lvl4pPr algn="l">
              <a:defRPr sz="2100" b="1">
                <a:solidFill>
                  <a:srgbClr val="173047"/>
                </a:solidFill>
                <a:latin typeface="Arial"/>
                <a:ea typeface="Arial"/>
                <a:cs typeface="Arial"/>
              </a:defRPr>
            </a:lvl4pPr>
            <a:lvl5pPr algn="l">
              <a:defRPr sz="2100" b="1">
                <a:solidFill>
                  <a:srgbClr val="173047"/>
                </a:solidFill>
                <a:latin typeface="Arial"/>
                <a:ea typeface="Arial"/>
                <a:cs typeface="Arial"/>
              </a:defRPr>
            </a:lvl5pPr>
            <a:lvl6pPr algn="l">
              <a:defRPr sz="2100" b="1">
                <a:solidFill>
                  <a:srgbClr val="173047"/>
                </a:solidFill>
                <a:latin typeface="Arial"/>
                <a:ea typeface="Arial"/>
                <a:cs typeface="Arial"/>
              </a:defRPr>
            </a:lvl6pPr>
            <a:lvl7pPr algn="l">
              <a:defRPr sz="2100" b="1">
                <a:solidFill>
                  <a:srgbClr val="173047"/>
                </a:solidFill>
                <a:latin typeface="Arial"/>
                <a:ea typeface="Arial"/>
                <a:cs typeface="Arial"/>
              </a:defRPr>
            </a:lvl7pPr>
            <a:lvl8pPr algn="l">
              <a:defRPr sz="2100" b="1">
                <a:solidFill>
                  <a:srgbClr val="173047"/>
                </a:solidFill>
                <a:latin typeface="Arial"/>
                <a:ea typeface="Arial"/>
                <a:cs typeface="Arial"/>
              </a:defRPr>
            </a:lvl8pPr>
            <a:lvl9pPr algn="l">
              <a:defRPr sz="2100" b="1">
                <a:solidFill>
                  <a:srgbClr val="173047"/>
                </a:solidFill>
                <a:latin typeface="Arial"/>
                <a:ea typeface="Arial"/>
                <a:cs typeface="Arial"/>
              </a:defRPr>
            </a:lvl9pPr>
          </a:lstStyle>
          <a:p>
            <a:pPr algn="l">
              <a:defRPr sz="2100" b="1">
                <a:solidFill>
                  <a:srgbClr val="173047"/>
                </a:solidFill>
                <a:latin typeface="Arial"/>
                <a:ea typeface="Arial"/>
                <a:cs typeface="Arial"/>
              </a:defRPr>
            </a:pPr>
            <a:r>
              <a:rPr sz="2100" b="1">
                <a:solidFill>
                  <a:srgbClr val="173047"/>
                </a:solidFill>
                <a:latin typeface="Arial"/>
                <a:ea typeface="Arial"/>
                <a:cs typeface="Arial"/>
              </a:rPr>
              <a:t>38.45 ± 1.00%   /   48.92 ± 0.71%</a:t>
            </a:r>
          </a:p>
        </p:txBody>
      </p:sp>
      <p:sp>
        <p:nvSpPr>
          <p:cNvPr id="13" name="text-Native scores; six-category macr">
            <a:extLst>
              <a:ext uri="{FF2B5EF4-FFF2-40B4-BE49-F238E27FC236}">
                <a16:creationId xmlns:a16="http://schemas.microsoft.com/office/drawing/2014/main" id="{83AF94F1-A29B-476C-ADB3-58507CBA4045}"/>
              </a:ext>
            </a:extLst>
          </p:cNvPr>
          <p:cNvSpPr>
            <a:spLocks noGrp="1"/>
          </p:cNvSpPr>
          <p:nvPr/>
        </p:nvSpPr>
        <p:spPr>
          <a:xfrm>
            <a:off x="609600" y="6048375"/>
            <a:ext cx="10972800" cy="238125"/>
          </a:xfrm>
          <a:prstGeom prst="rect">
            <a:avLst/>
          </a:prstGeom>
          <a:noFill/>
          <a:ln w="0">
            <a:noFill/>
          </a:ln>
        </p:spPr>
        <p:txBody>
          <a:bodyPr wrap="square" lIns="0" tIns="0" rIns="0" bIns="0" anchor="t">
            <a:noAutofit/>
          </a:bodyPr>
          <a:lstStyle>
            <a:defPPr algn="l">
              <a:defRPr sz="1425" b="0">
                <a:solidFill>
                  <a:srgbClr val="586A79"/>
                </a:solidFill>
                <a:latin typeface="Arial"/>
                <a:ea typeface="Arial"/>
                <a:cs typeface="Arial"/>
              </a:defRPr>
            </a:defPPr>
            <a:lvl1pPr algn="l">
              <a:defRPr sz="1425" b="0">
                <a:solidFill>
                  <a:srgbClr val="586A79"/>
                </a:solidFill>
                <a:latin typeface="Arial"/>
                <a:ea typeface="Arial"/>
                <a:cs typeface="Arial"/>
              </a:defRPr>
            </a:lvl1pPr>
            <a:lvl2pPr algn="l">
              <a:defRPr sz="1425" b="0">
                <a:solidFill>
                  <a:srgbClr val="586A79"/>
                </a:solidFill>
                <a:latin typeface="Arial"/>
                <a:ea typeface="Arial"/>
                <a:cs typeface="Arial"/>
              </a:defRPr>
            </a:lvl2pPr>
            <a:lvl3pPr algn="l">
              <a:defRPr sz="1425" b="0">
                <a:solidFill>
                  <a:srgbClr val="586A79"/>
                </a:solidFill>
                <a:latin typeface="Arial"/>
                <a:ea typeface="Arial"/>
                <a:cs typeface="Arial"/>
              </a:defRPr>
            </a:lvl3pPr>
            <a:lvl4pPr algn="l">
              <a:defRPr sz="1425" b="0">
                <a:solidFill>
                  <a:srgbClr val="586A79"/>
                </a:solidFill>
                <a:latin typeface="Arial"/>
                <a:ea typeface="Arial"/>
                <a:cs typeface="Arial"/>
              </a:defRPr>
            </a:lvl4pPr>
            <a:lvl5pPr algn="l">
              <a:defRPr sz="1425" b="0">
                <a:solidFill>
                  <a:srgbClr val="586A79"/>
                </a:solidFill>
                <a:latin typeface="Arial"/>
                <a:ea typeface="Arial"/>
                <a:cs typeface="Arial"/>
              </a:defRPr>
            </a:lvl5pPr>
            <a:lvl6pPr algn="l">
              <a:defRPr sz="1425" b="0">
                <a:solidFill>
                  <a:srgbClr val="586A79"/>
                </a:solidFill>
                <a:latin typeface="Arial"/>
                <a:ea typeface="Arial"/>
                <a:cs typeface="Arial"/>
              </a:defRPr>
            </a:lvl6pPr>
            <a:lvl7pPr algn="l">
              <a:defRPr sz="1425" b="0">
                <a:solidFill>
                  <a:srgbClr val="586A79"/>
                </a:solidFill>
                <a:latin typeface="Arial"/>
                <a:ea typeface="Arial"/>
                <a:cs typeface="Arial"/>
              </a:defRPr>
            </a:lvl7pPr>
            <a:lvl8pPr algn="l">
              <a:defRPr sz="1425" b="0">
                <a:solidFill>
                  <a:srgbClr val="586A79"/>
                </a:solidFill>
                <a:latin typeface="Arial"/>
                <a:ea typeface="Arial"/>
                <a:cs typeface="Arial"/>
              </a:defRPr>
            </a:lvl8pPr>
            <a:lvl9pPr algn="l">
              <a:defRPr sz="1425" b="0">
                <a:solidFill>
                  <a:srgbClr val="586A79"/>
                </a:solidFill>
                <a:latin typeface="Arial"/>
                <a:ea typeface="Arial"/>
                <a:cs typeface="Arial"/>
              </a:defRPr>
            </a:lvl9pPr>
          </a:lstStyle>
          <a:p>
            <a:pPr algn="l">
              <a:defRPr sz="1425" b="0">
                <a:solidFill>
                  <a:srgbClr val="586A79"/>
                </a:solidFill>
                <a:latin typeface="Arial"/>
                <a:ea typeface="Arial"/>
                <a:cs typeface="Arial"/>
              </a:defRPr>
            </a:pPr>
            <a:r>
              <a:rPr sz="1425" b="0">
                <a:solidFill>
                  <a:srgbClr val="586A79"/>
                </a:solidFill>
                <a:latin typeface="Arial"/>
                <a:ea typeface="Arial"/>
                <a:cs typeface="Arial"/>
              </a:rPr>
              <a:t>Native scores; six-category macro; mean ± sample SD across three seeds</a:t>
            </a:r>
          </a:p>
        </p:txBody>
      </p:sp>
    </p:spTree>
    <p:extLst>
      <p:ext uri="{BB962C8B-B14F-4D97-AF65-F5344CB8AC3E}">
        <p14:creationId xmlns:p14="http://schemas.microsoft.com/office/powerpoint/2010/main" val="1422379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Normal-Sample Coverage and Cores">
            <a:extLst>
              <a:ext uri="{FF2B5EF4-FFF2-40B4-BE49-F238E27FC236}">
                <a16:creationId xmlns:a16="http://schemas.microsoft.com/office/drawing/2014/main" id="{4009CD7C-9483-477F-ACC1-2A11F91D80F9}"/>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Normal-Sample Coverage and Coreset Sampling</a:t>
            </a:r>
          </a:p>
        </p:txBody>
      </p:sp>
      <p:sp>
        <p:nvSpPr>
          <p:cNvPr id="2" name="矩形 1">
            <a:extLst>
              <a:ext uri="{FF2B5EF4-FFF2-40B4-BE49-F238E27FC236}">
                <a16:creationId xmlns:a16="http://schemas.microsoft.com/office/drawing/2014/main" id="{E0AA1F6B-5F7E-4F23-9407-5525407A9CD0}"/>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98DC6C4D-DFCC-4FE4-9529-BF4271DF3646}"/>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B    05 / 08">
            <a:extLst>
              <a:ext uri="{FF2B5EF4-FFF2-40B4-BE49-F238E27FC236}">
                <a16:creationId xmlns:a16="http://schemas.microsoft.com/office/drawing/2014/main" id="{A0533EB5-450F-4547-925E-32586FF85661}"/>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05 / 08</a:t>
            </a:r>
          </a:p>
        </p:txBody>
      </p:sp>
      <p:sp>
        <p:nvSpPr>
          <p:cNvPr id="5" name="text-PatchCore image AUROC">
            <a:extLst>
              <a:ext uri="{FF2B5EF4-FFF2-40B4-BE49-F238E27FC236}">
                <a16:creationId xmlns:a16="http://schemas.microsoft.com/office/drawing/2014/main" id="{F4398EE2-1C2F-49D1-8B50-0B27ECC1DBFA}"/>
              </a:ext>
            </a:extLst>
          </p:cNvPr>
          <p:cNvSpPr>
            <a:spLocks noGrp="1"/>
          </p:cNvSpPr>
          <p:nvPr/>
        </p:nvSpPr>
        <p:spPr>
          <a:xfrm>
            <a:off x="609600" y="1419225"/>
            <a:ext cx="6896100" cy="352425"/>
          </a:xfrm>
          <a:prstGeom prst="rect">
            <a:avLst/>
          </a:prstGeom>
          <a:noFill/>
          <a:ln w="0">
            <a:noFill/>
          </a:ln>
        </p:spPr>
        <p:txBody>
          <a:bodyPr wrap="square" lIns="0" tIns="0" rIns="0" bIns="0" anchor="t">
            <a:noAutofit/>
          </a:bodyPr>
          <a:lstStyle>
            <a:defPPr algn="l">
              <a:defRPr sz="2025" b="1">
                <a:solidFill>
                  <a:srgbClr val="173047"/>
                </a:solidFill>
                <a:latin typeface="Arial"/>
                <a:ea typeface="Arial"/>
                <a:cs typeface="Arial"/>
              </a:defRPr>
            </a:defPPr>
            <a:lvl1pPr algn="l">
              <a:defRPr sz="2025" b="1">
                <a:solidFill>
                  <a:srgbClr val="173047"/>
                </a:solidFill>
                <a:latin typeface="Arial"/>
                <a:ea typeface="Arial"/>
                <a:cs typeface="Arial"/>
              </a:defRPr>
            </a:lvl1pPr>
            <a:lvl2pPr algn="l">
              <a:defRPr sz="2025" b="1">
                <a:solidFill>
                  <a:srgbClr val="173047"/>
                </a:solidFill>
                <a:latin typeface="Arial"/>
                <a:ea typeface="Arial"/>
                <a:cs typeface="Arial"/>
              </a:defRPr>
            </a:lvl2pPr>
            <a:lvl3pPr algn="l">
              <a:defRPr sz="2025" b="1">
                <a:solidFill>
                  <a:srgbClr val="173047"/>
                </a:solidFill>
                <a:latin typeface="Arial"/>
                <a:ea typeface="Arial"/>
                <a:cs typeface="Arial"/>
              </a:defRPr>
            </a:lvl3pPr>
            <a:lvl4pPr algn="l">
              <a:defRPr sz="2025" b="1">
                <a:solidFill>
                  <a:srgbClr val="173047"/>
                </a:solidFill>
                <a:latin typeface="Arial"/>
                <a:ea typeface="Arial"/>
                <a:cs typeface="Arial"/>
              </a:defRPr>
            </a:lvl4pPr>
            <a:lvl5pPr algn="l">
              <a:defRPr sz="2025" b="1">
                <a:solidFill>
                  <a:srgbClr val="173047"/>
                </a:solidFill>
                <a:latin typeface="Arial"/>
                <a:ea typeface="Arial"/>
                <a:cs typeface="Arial"/>
              </a:defRPr>
            </a:lvl5pPr>
            <a:lvl6pPr algn="l">
              <a:defRPr sz="2025" b="1">
                <a:solidFill>
                  <a:srgbClr val="173047"/>
                </a:solidFill>
                <a:latin typeface="Arial"/>
                <a:ea typeface="Arial"/>
                <a:cs typeface="Arial"/>
              </a:defRPr>
            </a:lvl6pPr>
            <a:lvl7pPr algn="l">
              <a:defRPr sz="2025" b="1">
                <a:solidFill>
                  <a:srgbClr val="173047"/>
                </a:solidFill>
                <a:latin typeface="Arial"/>
                <a:ea typeface="Arial"/>
                <a:cs typeface="Arial"/>
              </a:defRPr>
            </a:lvl7pPr>
            <a:lvl8pPr algn="l">
              <a:defRPr sz="2025" b="1">
                <a:solidFill>
                  <a:srgbClr val="173047"/>
                </a:solidFill>
                <a:latin typeface="Arial"/>
                <a:ea typeface="Arial"/>
                <a:cs typeface="Arial"/>
              </a:defRPr>
            </a:lvl8pPr>
            <a:lvl9pPr algn="l">
              <a:defRPr sz="2025" b="1">
                <a:solidFill>
                  <a:srgbClr val="173047"/>
                </a:solidFill>
                <a:latin typeface="Arial"/>
                <a:ea typeface="Arial"/>
                <a:cs typeface="Arial"/>
              </a:defRPr>
            </a:lvl9pPr>
          </a:lstStyle>
          <a:p>
            <a:pPr algn="l">
              <a:defRPr sz="2025" b="1">
                <a:solidFill>
                  <a:srgbClr val="173047"/>
                </a:solidFill>
                <a:latin typeface="Arial"/>
                <a:ea typeface="Arial"/>
                <a:cs typeface="Arial"/>
              </a:defRPr>
            </a:pPr>
            <a:r>
              <a:rPr sz="2025" b="1">
                <a:solidFill>
                  <a:srgbClr val="173047"/>
                </a:solidFill>
                <a:latin typeface="Arial"/>
                <a:ea typeface="Arial"/>
                <a:cs typeface="Arial"/>
              </a:rPr>
              <a:t>PatchCore image AUROC</a:t>
            </a:r>
          </a:p>
        </p:txBody>
      </p:sp>
      <p:graphicFrame>
        <p:nvGraphicFramePr>
          <p:cNvPr id="6" name="Chart">
            <a:extLst>
              <a:ext uri="{FF2B5EF4-FFF2-40B4-BE49-F238E27FC236}">
                <a16:creationId xmlns:a16="http://schemas.microsoft.com/office/drawing/2014/main" id="{1FFA4836-2C0C-4016-8DC8-62898C458B49}"/>
              </a:ext>
            </a:extLst>
          </p:cNvPr>
          <p:cNvGraphicFramePr/>
          <p:nvPr/>
        </p:nvGraphicFramePr>
        <p:xfrm>
          <a:off x="609600" y="1971675"/>
          <a:ext cx="6981825" cy="3486150"/>
        </p:xfrm>
        <a:graphic>
          <a:graphicData uri="http://schemas.openxmlformats.org/drawingml/2006/chart">
            <c:chart xmlns:c="http://schemas.openxmlformats.org/drawingml/2006/chart" xmlns:r="http://schemas.openxmlformats.org/officeDocument/2006/relationships" r:id="rId3"/>
          </a:graphicData>
        </a:graphic>
      </p:graphicFrame>
      <p:sp>
        <p:nvSpPr>
          <p:cNvPr id="7" name="矩形 6">
            <a:extLst>
              <a:ext uri="{FF2B5EF4-FFF2-40B4-BE49-F238E27FC236}">
                <a16:creationId xmlns:a16="http://schemas.microsoft.com/office/drawing/2014/main" id="{F2F25405-9C10-427A-B2BC-B5DE2DD2EE75}"/>
              </a:ext>
            </a:extLst>
          </p:cNvPr>
          <p:cNvSpPr>
            <a:spLocks noGrp="1"/>
          </p:cNvSpPr>
          <p:nvPr/>
        </p:nvSpPr>
        <p:spPr>
          <a:xfrm>
            <a:off x="8143875" y="1495425"/>
            <a:ext cx="9525" cy="4114800"/>
          </a:xfrm>
          <a:prstGeom prst="rect">
            <a:avLst/>
          </a:prstGeom>
          <a:solidFill>
            <a:srgbClr val="DEE5EB"/>
          </a:solidFill>
          <a:ln w="0">
            <a:noFill/>
          </a:ln>
        </p:spPr>
        <p:txBody>
          <a:bodyPr/>
          <a:lstStyle/>
          <a:p>
            <a:endParaRPr lang="zh-CN" altLang="en-US"/>
          </a:p>
        </p:txBody>
      </p:sp>
      <p:sp>
        <p:nvSpPr>
          <p:cNvPr id="8" name="text-Coreset versus random">
            <a:extLst>
              <a:ext uri="{FF2B5EF4-FFF2-40B4-BE49-F238E27FC236}">
                <a16:creationId xmlns:a16="http://schemas.microsoft.com/office/drawing/2014/main" id="{0A4C2E57-ADAE-496E-B65D-37A71362D952}"/>
              </a:ext>
            </a:extLst>
          </p:cNvPr>
          <p:cNvSpPr>
            <a:spLocks noGrp="1"/>
          </p:cNvSpPr>
          <p:nvPr/>
        </p:nvSpPr>
        <p:spPr>
          <a:xfrm>
            <a:off x="8572500" y="1419225"/>
            <a:ext cx="3009900" cy="742950"/>
          </a:xfrm>
          <a:prstGeom prst="rect">
            <a:avLst/>
          </a:prstGeom>
          <a:noFill/>
          <a:ln w="0">
            <a:noFill/>
          </a:ln>
        </p:spPr>
        <p:txBody>
          <a:bodyPr wrap="square" lIns="0" tIns="0" rIns="0" bIns="0" anchor="t">
            <a:noAutofit/>
          </a:bodyPr>
          <a:lstStyle>
            <a:defPPr algn="l">
              <a:defRPr sz="2100" b="1">
                <a:solidFill>
                  <a:srgbClr val="173047"/>
                </a:solidFill>
                <a:latin typeface="Arial"/>
                <a:ea typeface="Arial"/>
                <a:cs typeface="Arial"/>
              </a:defRPr>
            </a:defPPr>
            <a:lvl1pPr algn="l">
              <a:defRPr sz="2100" b="1">
                <a:solidFill>
                  <a:srgbClr val="173047"/>
                </a:solidFill>
                <a:latin typeface="Arial"/>
                <a:ea typeface="Arial"/>
                <a:cs typeface="Arial"/>
              </a:defRPr>
            </a:lvl1pPr>
            <a:lvl2pPr algn="l">
              <a:defRPr sz="2100" b="1">
                <a:solidFill>
                  <a:srgbClr val="173047"/>
                </a:solidFill>
                <a:latin typeface="Arial"/>
                <a:ea typeface="Arial"/>
                <a:cs typeface="Arial"/>
              </a:defRPr>
            </a:lvl2pPr>
            <a:lvl3pPr algn="l">
              <a:defRPr sz="2100" b="1">
                <a:solidFill>
                  <a:srgbClr val="173047"/>
                </a:solidFill>
                <a:latin typeface="Arial"/>
                <a:ea typeface="Arial"/>
                <a:cs typeface="Arial"/>
              </a:defRPr>
            </a:lvl3pPr>
            <a:lvl4pPr algn="l">
              <a:defRPr sz="2100" b="1">
                <a:solidFill>
                  <a:srgbClr val="173047"/>
                </a:solidFill>
                <a:latin typeface="Arial"/>
                <a:ea typeface="Arial"/>
                <a:cs typeface="Arial"/>
              </a:defRPr>
            </a:lvl4pPr>
            <a:lvl5pPr algn="l">
              <a:defRPr sz="2100" b="1">
                <a:solidFill>
                  <a:srgbClr val="173047"/>
                </a:solidFill>
                <a:latin typeface="Arial"/>
                <a:ea typeface="Arial"/>
                <a:cs typeface="Arial"/>
              </a:defRPr>
            </a:lvl5pPr>
            <a:lvl6pPr algn="l">
              <a:defRPr sz="2100" b="1">
                <a:solidFill>
                  <a:srgbClr val="173047"/>
                </a:solidFill>
                <a:latin typeface="Arial"/>
                <a:ea typeface="Arial"/>
                <a:cs typeface="Arial"/>
              </a:defRPr>
            </a:lvl6pPr>
            <a:lvl7pPr algn="l">
              <a:defRPr sz="2100" b="1">
                <a:solidFill>
                  <a:srgbClr val="173047"/>
                </a:solidFill>
                <a:latin typeface="Arial"/>
                <a:ea typeface="Arial"/>
                <a:cs typeface="Arial"/>
              </a:defRPr>
            </a:lvl7pPr>
            <a:lvl8pPr algn="l">
              <a:defRPr sz="2100" b="1">
                <a:solidFill>
                  <a:srgbClr val="173047"/>
                </a:solidFill>
                <a:latin typeface="Arial"/>
                <a:ea typeface="Arial"/>
                <a:cs typeface="Arial"/>
              </a:defRPr>
            </a:lvl8pPr>
            <a:lvl9pPr algn="l">
              <a:defRPr sz="2100" b="1">
                <a:solidFill>
                  <a:srgbClr val="173047"/>
                </a:solidFill>
                <a:latin typeface="Arial"/>
                <a:ea typeface="Arial"/>
                <a:cs typeface="Arial"/>
              </a:defRPr>
            </a:lvl9pPr>
          </a:lstStyle>
          <a:p>
            <a:pPr algn="l">
              <a:defRPr sz="2100" b="1">
                <a:solidFill>
                  <a:srgbClr val="173047"/>
                </a:solidFill>
                <a:latin typeface="Arial"/>
                <a:ea typeface="Arial"/>
                <a:cs typeface="Arial"/>
              </a:defRPr>
            </a:pPr>
            <a:r>
              <a:rPr sz="2100" b="1">
                <a:solidFill>
                  <a:srgbClr val="173047"/>
                </a:solidFill>
                <a:latin typeface="Arial"/>
                <a:ea typeface="Arial"/>
                <a:cs typeface="Arial"/>
              </a:rPr>
              <a:t>Coreset versus random</a:t>
            </a:r>
          </a:p>
        </p:txBody>
      </p:sp>
      <p:sp>
        <p:nvSpPr>
          <p:cNvPr id="9" name="text-−16.65 pp">
            <a:extLst>
              <a:ext uri="{FF2B5EF4-FFF2-40B4-BE49-F238E27FC236}">
                <a16:creationId xmlns:a16="http://schemas.microsoft.com/office/drawing/2014/main" id="{A4D79934-D2F2-414A-AD34-77B35943AE9E}"/>
              </a:ext>
            </a:extLst>
          </p:cNvPr>
          <p:cNvSpPr>
            <a:spLocks noGrp="1"/>
          </p:cNvSpPr>
          <p:nvPr/>
        </p:nvSpPr>
        <p:spPr>
          <a:xfrm>
            <a:off x="8572500" y="2495550"/>
            <a:ext cx="3009900" cy="657225"/>
          </a:xfrm>
          <a:prstGeom prst="rect">
            <a:avLst/>
          </a:prstGeom>
          <a:noFill/>
          <a:ln w="0">
            <a:noFill/>
          </a:ln>
        </p:spPr>
        <p:txBody>
          <a:bodyPr wrap="square" lIns="0" tIns="0" rIns="0" bIns="0" anchor="t">
            <a:noAutofit/>
          </a:bodyPr>
          <a:lstStyle>
            <a:defPPr algn="l">
              <a:defRPr sz="3675" b="1">
                <a:solidFill>
                  <a:srgbClr val="8C4318"/>
                </a:solidFill>
                <a:latin typeface="Arial"/>
                <a:ea typeface="Arial"/>
                <a:cs typeface="Arial"/>
              </a:defRPr>
            </a:defPPr>
            <a:lvl1pPr algn="l">
              <a:defRPr sz="3675" b="1">
                <a:solidFill>
                  <a:srgbClr val="8C4318"/>
                </a:solidFill>
                <a:latin typeface="Arial"/>
                <a:ea typeface="Arial"/>
                <a:cs typeface="Arial"/>
              </a:defRPr>
            </a:lvl1pPr>
            <a:lvl2pPr algn="l">
              <a:defRPr sz="3675" b="1">
                <a:solidFill>
                  <a:srgbClr val="8C4318"/>
                </a:solidFill>
                <a:latin typeface="Arial"/>
                <a:ea typeface="Arial"/>
                <a:cs typeface="Arial"/>
              </a:defRPr>
            </a:lvl2pPr>
            <a:lvl3pPr algn="l">
              <a:defRPr sz="3675" b="1">
                <a:solidFill>
                  <a:srgbClr val="8C4318"/>
                </a:solidFill>
                <a:latin typeface="Arial"/>
                <a:ea typeface="Arial"/>
                <a:cs typeface="Arial"/>
              </a:defRPr>
            </a:lvl3pPr>
            <a:lvl4pPr algn="l">
              <a:defRPr sz="3675" b="1">
                <a:solidFill>
                  <a:srgbClr val="8C4318"/>
                </a:solidFill>
                <a:latin typeface="Arial"/>
                <a:ea typeface="Arial"/>
                <a:cs typeface="Arial"/>
              </a:defRPr>
            </a:lvl4pPr>
            <a:lvl5pPr algn="l">
              <a:defRPr sz="3675" b="1">
                <a:solidFill>
                  <a:srgbClr val="8C4318"/>
                </a:solidFill>
                <a:latin typeface="Arial"/>
                <a:ea typeface="Arial"/>
                <a:cs typeface="Arial"/>
              </a:defRPr>
            </a:lvl5pPr>
            <a:lvl6pPr algn="l">
              <a:defRPr sz="3675" b="1">
                <a:solidFill>
                  <a:srgbClr val="8C4318"/>
                </a:solidFill>
                <a:latin typeface="Arial"/>
                <a:ea typeface="Arial"/>
                <a:cs typeface="Arial"/>
              </a:defRPr>
            </a:lvl6pPr>
            <a:lvl7pPr algn="l">
              <a:defRPr sz="3675" b="1">
                <a:solidFill>
                  <a:srgbClr val="8C4318"/>
                </a:solidFill>
                <a:latin typeface="Arial"/>
                <a:ea typeface="Arial"/>
                <a:cs typeface="Arial"/>
              </a:defRPr>
            </a:lvl7pPr>
            <a:lvl8pPr algn="l">
              <a:defRPr sz="3675" b="1">
                <a:solidFill>
                  <a:srgbClr val="8C4318"/>
                </a:solidFill>
                <a:latin typeface="Arial"/>
                <a:ea typeface="Arial"/>
                <a:cs typeface="Arial"/>
              </a:defRPr>
            </a:lvl8pPr>
            <a:lvl9pPr algn="l">
              <a:defRPr sz="3675" b="1">
                <a:solidFill>
                  <a:srgbClr val="8C4318"/>
                </a:solidFill>
                <a:latin typeface="Arial"/>
                <a:ea typeface="Arial"/>
                <a:cs typeface="Arial"/>
              </a:defRPr>
            </a:lvl9pPr>
          </a:lstStyle>
          <a:p>
            <a:pPr algn="l">
              <a:defRPr sz="3675" b="1">
                <a:solidFill>
                  <a:srgbClr val="8C4318"/>
                </a:solidFill>
                <a:latin typeface="Arial"/>
                <a:ea typeface="Arial"/>
                <a:cs typeface="Arial"/>
              </a:defRPr>
            </a:pPr>
            <a:r>
              <a:rPr sz="3675" b="1">
                <a:solidFill>
                  <a:srgbClr val="8C4318"/>
                </a:solidFill>
                <a:latin typeface="Arial"/>
                <a:ea typeface="Arial"/>
                <a:cs typeface="Arial"/>
              </a:rPr>
              <a:t>−16.65 pp</a:t>
            </a:r>
          </a:p>
        </p:txBody>
      </p:sp>
      <p:sp>
        <p:nvSpPr>
          <p:cNvPr id="10" name="text-Image AUROC when the&#10;coreset is ">
            <a:extLst>
              <a:ext uri="{FF2B5EF4-FFF2-40B4-BE49-F238E27FC236}">
                <a16:creationId xmlns:a16="http://schemas.microsoft.com/office/drawing/2014/main" id="{405AD40F-86B8-415B-B1A1-6543C225BDEE}"/>
              </a:ext>
            </a:extLst>
          </p:cNvPr>
          <p:cNvSpPr>
            <a:spLocks noGrp="1"/>
          </p:cNvSpPr>
          <p:nvPr/>
        </p:nvSpPr>
        <p:spPr>
          <a:xfrm>
            <a:off x="8572500" y="3333750"/>
            <a:ext cx="3009900" cy="1219200"/>
          </a:xfrm>
          <a:prstGeom prst="rect">
            <a:avLst/>
          </a:prstGeom>
          <a:noFill/>
          <a:ln w="0">
            <a:noFill/>
          </a:ln>
        </p:spPr>
        <p:txBody>
          <a:bodyPr wrap="square" lIns="0" tIns="0" rIns="0" bIns="0" anchor="t">
            <a:noAutofit/>
          </a:bodyPr>
          <a:lstStyle>
            <a:defPPr algn="l">
              <a:defRPr sz="1950" b="0">
                <a:solidFill>
                  <a:srgbClr val="173047"/>
                </a:solidFill>
                <a:latin typeface="Arial"/>
                <a:ea typeface="Arial"/>
                <a:cs typeface="Arial"/>
              </a:defRPr>
            </a:defPPr>
            <a:lvl1pPr algn="l">
              <a:defRPr sz="1950" b="0">
                <a:solidFill>
                  <a:srgbClr val="173047"/>
                </a:solidFill>
                <a:latin typeface="Arial"/>
                <a:ea typeface="Arial"/>
                <a:cs typeface="Arial"/>
              </a:defRPr>
            </a:lvl1pPr>
            <a:lvl2pPr algn="l">
              <a:defRPr sz="1950" b="0">
                <a:solidFill>
                  <a:srgbClr val="173047"/>
                </a:solidFill>
                <a:latin typeface="Arial"/>
                <a:ea typeface="Arial"/>
                <a:cs typeface="Arial"/>
              </a:defRPr>
            </a:lvl2pPr>
            <a:lvl3pPr algn="l">
              <a:defRPr sz="1950" b="0">
                <a:solidFill>
                  <a:srgbClr val="173047"/>
                </a:solidFill>
                <a:latin typeface="Arial"/>
                <a:ea typeface="Arial"/>
                <a:cs typeface="Arial"/>
              </a:defRPr>
            </a:lvl3pPr>
            <a:lvl4pPr algn="l">
              <a:defRPr sz="1950" b="0">
                <a:solidFill>
                  <a:srgbClr val="173047"/>
                </a:solidFill>
                <a:latin typeface="Arial"/>
                <a:ea typeface="Arial"/>
                <a:cs typeface="Arial"/>
              </a:defRPr>
            </a:lvl4pPr>
            <a:lvl5pPr algn="l">
              <a:defRPr sz="1950" b="0">
                <a:solidFill>
                  <a:srgbClr val="173047"/>
                </a:solidFill>
                <a:latin typeface="Arial"/>
                <a:ea typeface="Arial"/>
                <a:cs typeface="Arial"/>
              </a:defRPr>
            </a:lvl5pPr>
            <a:lvl6pPr algn="l">
              <a:defRPr sz="1950" b="0">
                <a:solidFill>
                  <a:srgbClr val="173047"/>
                </a:solidFill>
                <a:latin typeface="Arial"/>
                <a:ea typeface="Arial"/>
                <a:cs typeface="Arial"/>
              </a:defRPr>
            </a:lvl6pPr>
            <a:lvl7pPr algn="l">
              <a:defRPr sz="1950" b="0">
                <a:solidFill>
                  <a:srgbClr val="173047"/>
                </a:solidFill>
                <a:latin typeface="Arial"/>
                <a:ea typeface="Arial"/>
                <a:cs typeface="Arial"/>
              </a:defRPr>
            </a:lvl7pPr>
            <a:lvl8pPr algn="l">
              <a:defRPr sz="1950" b="0">
                <a:solidFill>
                  <a:srgbClr val="173047"/>
                </a:solidFill>
                <a:latin typeface="Arial"/>
                <a:ea typeface="Arial"/>
                <a:cs typeface="Arial"/>
              </a:defRPr>
            </a:lvl8pPr>
            <a:lvl9pPr algn="l">
              <a:defRPr sz="1950" b="0">
                <a:solidFill>
                  <a:srgbClr val="173047"/>
                </a:solidFill>
                <a:latin typeface="Arial"/>
                <a:ea typeface="Arial"/>
                <a:cs typeface="Arial"/>
              </a:defRPr>
            </a:lvl9pPr>
          </a:lstStyle>
          <a:p>
            <a:pPr algn="l">
              <a:defRPr sz="1950" b="0">
                <a:solidFill>
                  <a:srgbClr val="173047"/>
                </a:solidFill>
                <a:latin typeface="Arial"/>
                <a:ea typeface="Arial"/>
                <a:cs typeface="Arial"/>
              </a:defRPr>
            </a:pPr>
            <a:r>
              <a:rPr sz="1950" b="0">
                <a:solidFill>
                  <a:srgbClr val="173047"/>
                </a:solidFill>
                <a:latin typeface="Arial"/>
                <a:ea typeface="Arial"/>
                <a:cs typeface="Arial"/>
              </a:rPr>
              <a:t>Image AUROC when the</a:t>
            </a:r>
          </a:p>
          <a:p>
            <a:pPr algn="l">
              <a:defRPr sz="1950" b="0">
                <a:solidFill>
                  <a:srgbClr val="173047"/>
                </a:solidFill>
                <a:latin typeface="Arial"/>
                <a:ea typeface="Arial"/>
                <a:cs typeface="Arial"/>
              </a:defRPr>
            </a:pPr>
            <a:r>
              <a:rPr sz="1950" b="0">
                <a:solidFill>
                  <a:srgbClr val="173047"/>
                </a:solidFill>
                <a:latin typeface="Arial"/>
                <a:ea typeface="Arial"/>
                <a:cs typeface="Arial"/>
              </a:rPr>
              <a:t>coreset is replaced by</a:t>
            </a:r>
          </a:p>
          <a:p>
            <a:pPr algn="l">
              <a:defRPr sz="1950" b="0">
                <a:solidFill>
                  <a:srgbClr val="173047"/>
                </a:solidFill>
                <a:latin typeface="Arial"/>
                <a:ea typeface="Arial"/>
                <a:cs typeface="Arial"/>
              </a:defRPr>
            </a:pPr>
            <a:r>
              <a:rPr sz="1950" b="0">
                <a:solidFill>
                  <a:srgbClr val="173047"/>
                </a:solidFill>
                <a:latin typeface="Arial"/>
                <a:ea typeface="Arial"/>
                <a:cs typeface="Arial"/>
              </a:rPr>
              <a:t>equal-size random sampling</a:t>
            </a:r>
          </a:p>
        </p:txBody>
      </p:sp>
      <p:sp>
        <p:nvSpPr>
          <p:cNvPr id="11" name="text-± 2.16 pp sample SD&#10;Cable + scre">
            <a:extLst>
              <a:ext uri="{FF2B5EF4-FFF2-40B4-BE49-F238E27FC236}">
                <a16:creationId xmlns:a16="http://schemas.microsoft.com/office/drawing/2014/main" id="{C11FAE76-7ECC-410B-A99B-C0223D3EDA1A}"/>
              </a:ext>
            </a:extLst>
          </p:cNvPr>
          <p:cNvSpPr>
            <a:spLocks noGrp="1"/>
          </p:cNvSpPr>
          <p:nvPr/>
        </p:nvSpPr>
        <p:spPr>
          <a:xfrm>
            <a:off x="8572500" y="4838700"/>
            <a:ext cx="3009900" cy="723900"/>
          </a:xfrm>
          <a:prstGeom prst="rect">
            <a:avLst/>
          </a:prstGeom>
          <a:noFill/>
          <a:ln w="0">
            <a:noFill/>
          </a:ln>
        </p:spPr>
        <p:txBody>
          <a:bodyPr wrap="square" lIns="0" tIns="0" rIns="0" bIns="0" anchor="t">
            <a:noAutofit/>
          </a:bodyPr>
          <a:lstStyle>
            <a:defPPr algn="l">
              <a:defRPr sz="1725" b="0">
                <a:solidFill>
                  <a:srgbClr val="586A79"/>
                </a:solidFill>
                <a:latin typeface="Arial"/>
                <a:ea typeface="Arial"/>
                <a:cs typeface="Arial"/>
              </a:defRPr>
            </a:defPPr>
            <a:lvl1pPr algn="l">
              <a:defRPr sz="1725" b="0">
                <a:solidFill>
                  <a:srgbClr val="586A79"/>
                </a:solidFill>
                <a:latin typeface="Arial"/>
                <a:ea typeface="Arial"/>
                <a:cs typeface="Arial"/>
              </a:defRPr>
            </a:lvl1pPr>
            <a:lvl2pPr algn="l">
              <a:defRPr sz="1725" b="0">
                <a:solidFill>
                  <a:srgbClr val="586A79"/>
                </a:solidFill>
                <a:latin typeface="Arial"/>
                <a:ea typeface="Arial"/>
                <a:cs typeface="Arial"/>
              </a:defRPr>
            </a:lvl2pPr>
            <a:lvl3pPr algn="l">
              <a:defRPr sz="1725" b="0">
                <a:solidFill>
                  <a:srgbClr val="586A79"/>
                </a:solidFill>
                <a:latin typeface="Arial"/>
                <a:ea typeface="Arial"/>
                <a:cs typeface="Arial"/>
              </a:defRPr>
            </a:lvl3pPr>
            <a:lvl4pPr algn="l">
              <a:defRPr sz="1725" b="0">
                <a:solidFill>
                  <a:srgbClr val="586A79"/>
                </a:solidFill>
                <a:latin typeface="Arial"/>
                <a:ea typeface="Arial"/>
                <a:cs typeface="Arial"/>
              </a:defRPr>
            </a:lvl4pPr>
            <a:lvl5pPr algn="l">
              <a:defRPr sz="1725" b="0">
                <a:solidFill>
                  <a:srgbClr val="586A79"/>
                </a:solidFill>
                <a:latin typeface="Arial"/>
                <a:ea typeface="Arial"/>
                <a:cs typeface="Arial"/>
              </a:defRPr>
            </a:lvl5pPr>
            <a:lvl6pPr algn="l">
              <a:defRPr sz="1725" b="0">
                <a:solidFill>
                  <a:srgbClr val="586A79"/>
                </a:solidFill>
                <a:latin typeface="Arial"/>
                <a:ea typeface="Arial"/>
                <a:cs typeface="Arial"/>
              </a:defRPr>
            </a:lvl6pPr>
            <a:lvl7pPr algn="l">
              <a:defRPr sz="1725" b="0">
                <a:solidFill>
                  <a:srgbClr val="586A79"/>
                </a:solidFill>
                <a:latin typeface="Arial"/>
                <a:ea typeface="Arial"/>
                <a:cs typeface="Arial"/>
              </a:defRPr>
            </a:lvl7pPr>
            <a:lvl8pPr algn="l">
              <a:defRPr sz="1725" b="0">
                <a:solidFill>
                  <a:srgbClr val="586A79"/>
                </a:solidFill>
                <a:latin typeface="Arial"/>
                <a:ea typeface="Arial"/>
                <a:cs typeface="Arial"/>
              </a:defRPr>
            </a:lvl8pPr>
            <a:lvl9pPr algn="l">
              <a:defRPr sz="1725" b="0">
                <a:solidFill>
                  <a:srgbClr val="586A79"/>
                </a:solidFill>
                <a:latin typeface="Arial"/>
                <a:ea typeface="Arial"/>
                <a:cs typeface="Arial"/>
              </a:defRPr>
            </a:lvl9pPr>
          </a:lstStyle>
          <a:p>
            <a:pPr algn="l">
              <a:defRPr sz="1725" b="0">
                <a:solidFill>
                  <a:srgbClr val="586A79"/>
                </a:solidFill>
                <a:latin typeface="Arial"/>
                <a:ea typeface="Arial"/>
                <a:cs typeface="Arial"/>
              </a:defRPr>
            </a:pPr>
            <a:r>
              <a:rPr sz="1725" b="0">
                <a:solidFill>
                  <a:srgbClr val="586A79"/>
                </a:solidFill>
                <a:latin typeface="Arial"/>
                <a:ea typeface="Arial"/>
                <a:cs typeface="Arial"/>
              </a:rPr>
              <a:t>± 2.16 pp sample SD</a:t>
            </a:r>
          </a:p>
          <a:p>
            <a:pPr algn="l">
              <a:defRPr sz="1725" b="0">
                <a:solidFill>
                  <a:srgbClr val="586A79"/>
                </a:solidFill>
                <a:latin typeface="Arial"/>
                <a:ea typeface="Arial"/>
                <a:cs typeface="Arial"/>
              </a:defRPr>
            </a:pPr>
            <a:r>
              <a:rPr sz="1725" b="0">
                <a:solidFill>
                  <a:srgbClr val="586A79"/>
                </a:solidFill>
                <a:latin typeface="Arial"/>
                <a:ea typeface="Arial"/>
                <a:cs typeface="Arial"/>
              </a:rPr>
              <a:t>Cable + screw, three seeds</a:t>
            </a:r>
          </a:p>
        </p:txBody>
      </p:sp>
      <p:sp>
        <p:nvSpPr>
          <p:cNvPr id="12" name="text-Few-shot curves: seed 17 only; f">
            <a:extLst>
              <a:ext uri="{FF2B5EF4-FFF2-40B4-BE49-F238E27FC236}">
                <a16:creationId xmlns:a16="http://schemas.microsoft.com/office/drawing/2014/main" id="{E481EC0F-EEFE-4229-81AD-4008B76EF4AF}"/>
              </a:ext>
            </a:extLst>
          </p:cNvPr>
          <p:cNvSpPr>
            <a:spLocks noGrp="1"/>
          </p:cNvSpPr>
          <p:nvPr/>
        </p:nvSpPr>
        <p:spPr>
          <a:xfrm>
            <a:off x="609600" y="5800725"/>
            <a:ext cx="10477500" cy="333375"/>
          </a:xfrm>
          <a:prstGeom prst="rect">
            <a:avLst/>
          </a:prstGeom>
          <a:noFill/>
          <a:ln w="0">
            <a:noFill/>
          </a:ln>
        </p:spPr>
        <p:txBody>
          <a:bodyPr wrap="square" lIns="0" tIns="0" rIns="0" bIns="0" anchor="t">
            <a:noAutofit/>
          </a:bodyPr>
          <a:lstStyle>
            <a:defPPr algn="l">
              <a:defRPr sz="1650" b="0">
                <a:solidFill>
                  <a:srgbClr val="586A79"/>
                </a:solidFill>
                <a:latin typeface="Arial"/>
                <a:ea typeface="Arial"/>
                <a:cs typeface="Arial"/>
              </a:defRPr>
            </a:defPPr>
            <a:lvl1pPr algn="l">
              <a:defRPr sz="1650" b="0">
                <a:solidFill>
                  <a:srgbClr val="586A79"/>
                </a:solidFill>
                <a:latin typeface="Arial"/>
                <a:ea typeface="Arial"/>
                <a:cs typeface="Arial"/>
              </a:defRPr>
            </a:lvl1pPr>
            <a:lvl2pPr algn="l">
              <a:defRPr sz="1650" b="0">
                <a:solidFill>
                  <a:srgbClr val="586A79"/>
                </a:solidFill>
                <a:latin typeface="Arial"/>
                <a:ea typeface="Arial"/>
                <a:cs typeface="Arial"/>
              </a:defRPr>
            </a:lvl2pPr>
            <a:lvl3pPr algn="l">
              <a:defRPr sz="1650" b="0">
                <a:solidFill>
                  <a:srgbClr val="586A79"/>
                </a:solidFill>
                <a:latin typeface="Arial"/>
                <a:ea typeface="Arial"/>
                <a:cs typeface="Arial"/>
              </a:defRPr>
            </a:lvl3pPr>
            <a:lvl4pPr algn="l">
              <a:defRPr sz="1650" b="0">
                <a:solidFill>
                  <a:srgbClr val="586A79"/>
                </a:solidFill>
                <a:latin typeface="Arial"/>
                <a:ea typeface="Arial"/>
                <a:cs typeface="Arial"/>
              </a:defRPr>
            </a:lvl4pPr>
            <a:lvl5pPr algn="l">
              <a:defRPr sz="1650" b="0">
                <a:solidFill>
                  <a:srgbClr val="586A79"/>
                </a:solidFill>
                <a:latin typeface="Arial"/>
                <a:ea typeface="Arial"/>
                <a:cs typeface="Arial"/>
              </a:defRPr>
            </a:lvl5pPr>
            <a:lvl6pPr algn="l">
              <a:defRPr sz="1650" b="0">
                <a:solidFill>
                  <a:srgbClr val="586A79"/>
                </a:solidFill>
                <a:latin typeface="Arial"/>
                <a:ea typeface="Arial"/>
                <a:cs typeface="Arial"/>
              </a:defRPr>
            </a:lvl6pPr>
            <a:lvl7pPr algn="l">
              <a:defRPr sz="1650" b="0">
                <a:solidFill>
                  <a:srgbClr val="586A79"/>
                </a:solidFill>
                <a:latin typeface="Arial"/>
                <a:ea typeface="Arial"/>
                <a:cs typeface="Arial"/>
              </a:defRPr>
            </a:lvl7pPr>
            <a:lvl8pPr algn="l">
              <a:defRPr sz="1650" b="0">
                <a:solidFill>
                  <a:srgbClr val="586A79"/>
                </a:solidFill>
                <a:latin typeface="Arial"/>
                <a:ea typeface="Arial"/>
                <a:cs typeface="Arial"/>
              </a:defRPr>
            </a:lvl8pPr>
            <a:lvl9pPr algn="l">
              <a:defRPr sz="1650" b="0">
                <a:solidFill>
                  <a:srgbClr val="586A79"/>
                </a:solidFill>
                <a:latin typeface="Arial"/>
                <a:ea typeface="Arial"/>
                <a:cs typeface="Arial"/>
              </a:defRPr>
            </a:lvl9pPr>
          </a:lstStyle>
          <a:p>
            <a:pPr algn="l">
              <a:defRPr sz="1650" b="0">
                <a:solidFill>
                  <a:srgbClr val="586A79"/>
                </a:solidFill>
                <a:latin typeface="Arial"/>
                <a:ea typeface="Arial"/>
                <a:cs typeface="Arial"/>
              </a:defRPr>
            </a:pPr>
            <a:r>
              <a:rPr sz="1650" b="0">
                <a:solidFill>
                  <a:srgbClr val="586A79"/>
                </a:solidFill>
                <a:latin typeface="Arial"/>
                <a:ea typeface="Arial"/>
                <a:cs typeface="Arial"/>
              </a:rPr>
              <a:t>Few-shot curves: seed 17 only; focused study on cable and screw</a:t>
            </a:r>
          </a:p>
        </p:txBody>
      </p:sp>
    </p:spTree>
    <p:extLst>
      <p:ext uri="{BB962C8B-B14F-4D97-AF65-F5344CB8AC3E}">
        <p14:creationId xmlns:p14="http://schemas.microsoft.com/office/powerpoint/2010/main" val="1575005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Top-1% Pooling Has a False-Posit">
            <a:extLst>
              <a:ext uri="{FF2B5EF4-FFF2-40B4-BE49-F238E27FC236}">
                <a16:creationId xmlns:a16="http://schemas.microsoft.com/office/drawing/2014/main" id="{EBC1B45A-4E99-4BDE-AD83-732A8123DB90}"/>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Top-1% Pooling Has a False-Positive Tradeoff</a:t>
            </a:r>
          </a:p>
        </p:txBody>
      </p:sp>
      <p:sp>
        <p:nvSpPr>
          <p:cNvPr id="2" name="矩形 1">
            <a:extLst>
              <a:ext uri="{FF2B5EF4-FFF2-40B4-BE49-F238E27FC236}">
                <a16:creationId xmlns:a16="http://schemas.microsoft.com/office/drawing/2014/main" id="{F94B2BFF-CBDE-4C81-997F-A9DEB8F4A1E1}"/>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9379CC5A-8A7B-4EFF-AF3C-79436E4661B8}"/>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C    06 / 08">
            <a:extLst>
              <a:ext uri="{FF2B5EF4-FFF2-40B4-BE49-F238E27FC236}">
                <a16:creationId xmlns:a16="http://schemas.microsoft.com/office/drawing/2014/main" id="{441CF017-874C-4979-9CA7-DEF93DC04629}"/>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06 / 08</a:t>
            </a:r>
          </a:p>
        </p:txBody>
      </p:sp>
      <p:sp>
        <p:nvSpPr>
          <p:cNvPr id="5" name="text-Image score = mean of the highes">
            <a:extLst>
              <a:ext uri="{FF2B5EF4-FFF2-40B4-BE49-F238E27FC236}">
                <a16:creationId xmlns:a16="http://schemas.microsoft.com/office/drawing/2014/main" id="{B766F6A9-C3A7-4CD1-8103-75DCB6281DA1}"/>
              </a:ext>
            </a:extLst>
          </p:cNvPr>
          <p:cNvSpPr>
            <a:spLocks noGrp="1"/>
          </p:cNvSpPr>
          <p:nvPr/>
        </p:nvSpPr>
        <p:spPr>
          <a:xfrm>
            <a:off x="609600" y="1362075"/>
            <a:ext cx="10972800" cy="590550"/>
          </a:xfrm>
          <a:prstGeom prst="rect">
            <a:avLst/>
          </a:prstGeom>
          <a:noFill/>
          <a:ln w="0">
            <a:noFill/>
          </a:ln>
        </p:spPr>
        <p:txBody>
          <a:bodyPr wrap="square" lIns="0" tIns="0" rIns="0" bIns="0" anchor="t">
            <a:noAutofit/>
          </a:bodyPr>
          <a:lstStyle>
            <a:defPPr algn="l">
              <a:defRPr sz="2100" b="0">
                <a:solidFill>
                  <a:srgbClr val="173047"/>
                </a:solidFill>
                <a:latin typeface="Arial"/>
                <a:ea typeface="Arial"/>
                <a:cs typeface="Arial"/>
              </a:defRPr>
            </a:defPPr>
            <a:lvl1pPr algn="l">
              <a:defRPr sz="2100" b="0">
                <a:solidFill>
                  <a:srgbClr val="173047"/>
                </a:solidFill>
                <a:latin typeface="Arial"/>
                <a:ea typeface="Arial"/>
                <a:cs typeface="Arial"/>
              </a:defRPr>
            </a:lvl1pPr>
            <a:lvl2pPr algn="l">
              <a:defRPr sz="2100" b="0">
                <a:solidFill>
                  <a:srgbClr val="173047"/>
                </a:solidFill>
                <a:latin typeface="Arial"/>
                <a:ea typeface="Arial"/>
                <a:cs typeface="Arial"/>
              </a:defRPr>
            </a:lvl2pPr>
            <a:lvl3pPr algn="l">
              <a:defRPr sz="2100" b="0">
                <a:solidFill>
                  <a:srgbClr val="173047"/>
                </a:solidFill>
                <a:latin typeface="Arial"/>
                <a:ea typeface="Arial"/>
                <a:cs typeface="Arial"/>
              </a:defRPr>
            </a:lvl3pPr>
            <a:lvl4pPr algn="l">
              <a:defRPr sz="2100" b="0">
                <a:solidFill>
                  <a:srgbClr val="173047"/>
                </a:solidFill>
                <a:latin typeface="Arial"/>
                <a:ea typeface="Arial"/>
                <a:cs typeface="Arial"/>
              </a:defRPr>
            </a:lvl4pPr>
            <a:lvl5pPr algn="l">
              <a:defRPr sz="2100" b="0">
                <a:solidFill>
                  <a:srgbClr val="173047"/>
                </a:solidFill>
                <a:latin typeface="Arial"/>
                <a:ea typeface="Arial"/>
                <a:cs typeface="Arial"/>
              </a:defRPr>
            </a:lvl5pPr>
            <a:lvl6pPr algn="l">
              <a:defRPr sz="2100" b="0">
                <a:solidFill>
                  <a:srgbClr val="173047"/>
                </a:solidFill>
                <a:latin typeface="Arial"/>
                <a:ea typeface="Arial"/>
                <a:cs typeface="Arial"/>
              </a:defRPr>
            </a:lvl6pPr>
            <a:lvl7pPr algn="l">
              <a:defRPr sz="2100" b="0">
                <a:solidFill>
                  <a:srgbClr val="173047"/>
                </a:solidFill>
                <a:latin typeface="Arial"/>
                <a:ea typeface="Arial"/>
                <a:cs typeface="Arial"/>
              </a:defRPr>
            </a:lvl7pPr>
            <a:lvl8pPr algn="l">
              <a:defRPr sz="2100" b="0">
                <a:solidFill>
                  <a:srgbClr val="173047"/>
                </a:solidFill>
                <a:latin typeface="Arial"/>
                <a:ea typeface="Arial"/>
                <a:cs typeface="Arial"/>
              </a:defRPr>
            </a:lvl8pPr>
            <a:lvl9pPr algn="l">
              <a:defRPr sz="2100" b="0">
                <a:solidFill>
                  <a:srgbClr val="173047"/>
                </a:solidFill>
                <a:latin typeface="Arial"/>
                <a:ea typeface="Arial"/>
                <a:cs typeface="Arial"/>
              </a:defRPr>
            </a:lvl9pPr>
          </a:lstStyle>
          <a:p>
            <a:pPr algn="l">
              <a:defRPr sz="2100" b="0">
                <a:solidFill>
                  <a:srgbClr val="173047"/>
                </a:solidFill>
                <a:latin typeface="Arial"/>
                <a:ea typeface="Arial"/>
                <a:cs typeface="Arial"/>
              </a:defRPr>
            </a:pPr>
            <a:r>
              <a:rPr sz="2100" b="0">
                <a:solidFill>
                  <a:srgbClr val="173047"/>
                </a:solidFill>
                <a:latin typeface="Arial"/>
                <a:ea typeface="Arial"/>
                <a:cs typeface="Arial"/>
              </a:rPr>
              <a:t>Image score = mean of the highest 1% of heatmap values</a:t>
            </a:r>
          </a:p>
        </p:txBody>
      </p:sp>
      <p:graphicFrame>
        <p:nvGraphicFramePr>
          <p:cNvPr id="6" name="表格 5">
            <a:extLst>
              <a:ext uri="{FF2B5EF4-FFF2-40B4-BE49-F238E27FC236}">
                <a16:creationId xmlns:a16="http://schemas.microsoft.com/office/drawing/2014/main" id="{EDA31BDF-45EF-4B7C-9C3A-95950E3F3F37}"/>
              </a:ext>
            </a:extLst>
          </p:cNvPr>
          <p:cNvGraphicFramePr/>
          <p:nvPr/>
        </p:nvGraphicFramePr>
        <p:xfrm>
          <a:off x="609600" y="2200275"/>
          <a:ext cx="10972800" cy="2676524"/>
        </p:xfrm>
        <a:graphic>
          <a:graphicData uri="http://schemas.openxmlformats.org/drawingml/2006/table">
            <a:tbl>
              <a:tblPr/>
              <a:tblGrid>
                <a:gridCol w="33147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gridCol w="2552700">
                  <a:extLst>
                    <a:ext uri="{9D8B030D-6E8A-4147-A177-3AD203B41FA5}">
                      <a16:colId xmlns:a16="http://schemas.microsoft.com/office/drawing/2014/main" val="20002"/>
                    </a:ext>
                  </a:extLst>
                </a:gridCol>
                <a:gridCol w="2552700">
                  <a:extLst>
                    <a:ext uri="{9D8B030D-6E8A-4147-A177-3AD203B41FA5}">
                      <a16:colId xmlns:a16="http://schemas.microsoft.com/office/drawing/2014/main" val="20003"/>
                    </a:ext>
                  </a:extLst>
                </a:gridCol>
              </a:tblGrid>
              <a:tr h="669131">
                <a:tc>
                  <a:txBody>
                    <a:bodyPr/>
                    <a:lstStyle/>
                    <a:p>
                      <a:pPr algn="l"/>
                      <a:r>
                        <a:rPr sz="1875" b="1">
                          <a:solidFill>
                            <a:srgbClr val="173047"/>
                          </a:solidFill>
                          <a:latin typeface="Arial"/>
                          <a:ea typeface="Arial"/>
                          <a:cs typeface="Arial"/>
                        </a:rPr>
                        <a:t>Scoring rule</a:t>
                      </a:r>
                    </a:p>
                  </a:txBody>
                  <a:tcPr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F3F6F8"/>
                    </a:solidFill>
                  </a:tcPr>
                </a:tc>
                <a:tc>
                  <a:txBody>
                    <a:bodyPr/>
                    <a:lstStyle/>
                    <a:p>
                      <a:pPr algn="ctr"/>
                      <a:r>
                        <a:rPr sz="1875" b="1">
                          <a:solidFill>
                            <a:srgbClr val="173047"/>
                          </a:solidFill>
                          <a:latin typeface="Arial"/>
                          <a:ea typeface="Arial"/>
                          <a:cs typeface="Arial"/>
                        </a:rPr>
                        <a:t>Image AUROC</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3F6F8"/>
                    </a:solidFill>
                  </a:tcPr>
                </a:tc>
                <a:tc>
                  <a:txBody>
                    <a:bodyPr/>
                    <a:lstStyle/>
                    <a:p>
                      <a:pPr algn="ctr"/>
                      <a:r>
                        <a:rPr sz="1875" b="1">
                          <a:solidFill>
                            <a:srgbClr val="173047"/>
                          </a:solidFill>
                          <a:latin typeface="Arial"/>
                          <a:ea typeface="Arial"/>
                          <a:cs typeface="Arial"/>
                        </a:rPr>
                        <a:t>Normal FPR</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3F6F8"/>
                    </a:solidFill>
                  </a:tcPr>
                </a:tc>
                <a:tc>
                  <a:txBody>
                    <a:bodyPr/>
                    <a:lstStyle/>
                    <a:p>
                      <a:pPr algn="ctr"/>
                      <a:r>
                        <a:rPr sz="1875" b="1">
                          <a:solidFill>
                            <a:srgbClr val="173047"/>
                          </a:solidFill>
                          <a:latin typeface="Arial"/>
                          <a:ea typeface="Arial"/>
                          <a:cs typeface="Arial"/>
                        </a:rPr>
                        <a:t>Anomaly recall</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3F6F8"/>
                    </a:solidFill>
                  </a:tcPr>
                </a:tc>
                <a:extLst>
                  <a:ext uri="{0D108BD9-81ED-4DB2-BD59-A6C34878D82A}">
                    <a16:rowId xmlns:a16="http://schemas.microsoft.com/office/drawing/2014/main" val="10000"/>
                  </a:ext>
                </a:extLst>
              </a:tr>
              <a:tr h="669131">
                <a:tc>
                  <a:txBody>
                    <a:bodyPr/>
                    <a:lstStyle/>
                    <a:p>
                      <a:pPr algn="l"/>
                      <a:r>
                        <a:rPr sz="2175" b="0">
                          <a:solidFill>
                            <a:srgbClr val="173047"/>
                          </a:solidFill>
                          <a:latin typeface="Arial"/>
                          <a:ea typeface="Arial"/>
                          <a:cs typeface="Arial"/>
                        </a:rPr>
                        <a:t>Native PatchCore</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0">
                          <a:solidFill>
                            <a:srgbClr val="173047"/>
                          </a:solidFill>
                          <a:latin typeface="Arial"/>
                          <a:ea typeface="Arial"/>
                          <a:cs typeface="Arial"/>
                        </a:rPr>
                        <a:t>96.18%</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0">
                          <a:solidFill>
                            <a:srgbClr val="173047"/>
                          </a:solidFill>
                          <a:latin typeface="Arial"/>
                          <a:ea typeface="Arial"/>
                          <a:cs typeface="Arial"/>
                        </a:rPr>
                        <a:t>10.65%</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0">
                          <a:solidFill>
                            <a:srgbClr val="173047"/>
                          </a:solidFill>
                          <a:latin typeface="Arial"/>
                          <a:ea typeface="Arial"/>
                          <a:cs typeface="Arial"/>
                        </a:rPr>
                        <a:t>82.31%</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1"/>
                  </a:ext>
                </a:extLst>
              </a:tr>
              <a:tr h="669131">
                <a:tc>
                  <a:txBody>
                    <a:bodyPr/>
                    <a:lstStyle/>
                    <a:p>
                      <a:pPr algn="l"/>
                      <a:r>
                        <a:rPr sz="2175" b="0">
                          <a:solidFill>
                            <a:srgbClr val="173047"/>
                          </a:solidFill>
                          <a:latin typeface="Arial"/>
                          <a:ea typeface="Arial"/>
                          <a:cs typeface="Arial"/>
                        </a:rPr>
                        <a:t>Map maximum</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0">
                          <a:solidFill>
                            <a:srgbClr val="173047"/>
                          </a:solidFill>
                          <a:latin typeface="Arial"/>
                          <a:ea typeface="Arial"/>
                          <a:cs typeface="Arial"/>
                        </a:rPr>
                        <a:t>96.95%</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0">
                          <a:solidFill>
                            <a:srgbClr val="173047"/>
                          </a:solidFill>
                          <a:latin typeface="Arial"/>
                          <a:ea typeface="Arial"/>
                          <a:cs typeface="Arial"/>
                        </a:rPr>
                        <a:t>11.62%</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0">
                          <a:solidFill>
                            <a:srgbClr val="173047"/>
                          </a:solidFill>
                          <a:latin typeface="Arial"/>
                          <a:ea typeface="Arial"/>
                          <a:cs typeface="Arial"/>
                        </a:rPr>
                        <a:t>83.93%</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2"/>
                  </a:ext>
                </a:extLst>
              </a:tr>
              <a:tr h="669131">
                <a:tc>
                  <a:txBody>
                    <a:bodyPr/>
                    <a:lstStyle/>
                    <a:p>
                      <a:pPr algn="l"/>
                      <a:r>
                        <a:rPr sz="2175" b="1">
                          <a:solidFill>
                            <a:srgbClr val="8C4318"/>
                          </a:solidFill>
                          <a:latin typeface="Arial"/>
                          <a:ea typeface="Arial"/>
                          <a:cs typeface="Arial"/>
                        </a:rPr>
                        <a:t>Top-1% mean</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1">
                          <a:solidFill>
                            <a:srgbClr val="8C4318"/>
                          </a:solidFill>
                          <a:latin typeface="Arial"/>
                          <a:ea typeface="Arial"/>
                          <a:cs typeface="Arial"/>
                        </a:rPr>
                        <a:t>96.86%</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1">
                          <a:solidFill>
                            <a:srgbClr val="8C4318"/>
                          </a:solidFill>
                          <a:latin typeface="Arial"/>
                          <a:ea typeface="Arial"/>
                          <a:cs typeface="Arial"/>
                        </a:rPr>
                        <a:t>15.11%</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75" b="1">
                          <a:solidFill>
                            <a:srgbClr val="8C4318"/>
                          </a:solidFill>
                          <a:latin typeface="Arial"/>
                          <a:ea typeface="Arial"/>
                          <a:cs typeface="Arial"/>
                        </a:rPr>
                        <a:t>81.98%</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text-+0.67 pp in AUROC">
            <a:extLst>
              <a:ext uri="{FF2B5EF4-FFF2-40B4-BE49-F238E27FC236}">
                <a16:creationId xmlns:a16="http://schemas.microsoft.com/office/drawing/2014/main" id="{FD781284-60C2-4030-80D5-320F9386B71F}"/>
              </a:ext>
            </a:extLst>
          </p:cNvPr>
          <p:cNvSpPr>
            <a:spLocks noGrp="1"/>
          </p:cNvSpPr>
          <p:nvPr/>
        </p:nvSpPr>
        <p:spPr>
          <a:xfrm>
            <a:off x="609600" y="5219700"/>
            <a:ext cx="5048250" cy="409575"/>
          </a:xfrm>
          <a:prstGeom prst="rect">
            <a:avLst/>
          </a:prstGeom>
          <a:noFill/>
          <a:ln w="0">
            <a:noFill/>
          </a:ln>
        </p:spPr>
        <p:txBody>
          <a:bodyPr wrap="square" lIns="0" tIns="0" rIns="0" bIns="0" anchor="t">
            <a:noAutofit/>
          </a:bodyPr>
          <a:lstStyle>
            <a:defPPr algn="l">
              <a:defRPr sz="2325" b="1">
                <a:solidFill>
                  <a:srgbClr val="173047"/>
                </a:solidFill>
                <a:latin typeface="Arial"/>
                <a:ea typeface="Arial"/>
                <a:cs typeface="Arial"/>
              </a:defRPr>
            </a:defPPr>
            <a:lvl1pPr algn="l">
              <a:defRPr sz="2325" b="1">
                <a:solidFill>
                  <a:srgbClr val="173047"/>
                </a:solidFill>
                <a:latin typeface="Arial"/>
                <a:ea typeface="Arial"/>
                <a:cs typeface="Arial"/>
              </a:defRPr>
            </a:lvl1pPr>
            <a:lvl2pPr algn="l">
              <a:defRPr sz="2325" b="1">
                <a:solidFill>
                  <a:srgbClr val="173047"/>
                </a:solidFill>
                <a:latin typeface="Arial"/>
                <a:ea typeface="Arial"/>
                <a:cs typeface="Arial"/>
              </a:defRPr>
            </a:lvl2pPr>
            <a:lvl3pPr algn="l">
              <a:defRPr sz="2325" b="1">
                <a:solidFill>
                  <a:srgbClr val="173047"/>
                </a:solidFill>
                <a:latin typeface="Arial"/>
                <a:ea typeface="Arial"/>
                <a:cs typeface="Arial"/>
              </a:defRPr>
            </a:lvl3pPr>
            <a:lvl4pPr algn="l">
              <a:defRPr sz="2325" b="1">
                <a:solidFill>
                  <a:srgbClr val="173047"/>
                </a:solidFill>
                <a:latin typeface="Arial"/>
                <a:ea typeface="Arial"/>
                <a:cs typeface="Arial"/>
              </a:defRPr>
            </a:lvl4pPr>
            <a:lvl5pPr algn="l">
              <a:defRPr sz="2325" b="1">
                <a:solidFill>
                  <a:srgbClr val="173047"/>
                </a:solidFill>
                <a:latin typeface="Arial"/>
                <a:ea typeface="Arial"/>
                <a:cs typeface="Arial"/>
              </a:defRPr>
            </a:lvl5pPr>
            <a:lvl6pPr algn="l">
              <a:defRPr sz="2325" b="1">
                <a:solidFill>
                  <a:srgbClr val="173047"/>
                </a:solidFill>
                <a:latin typeface="Arial"/>
                <a:ea typeface="Arial"/>
                <a:cs typeface="Arial"/>
              </a:defRPr>
            </a:lvl6pPr>
            <a:lvl7pPr algn="l">
              <a:defRPr sz="2325" b="1">
                <a:solidFill>
                  <a:srgbClr val="173047"/>
                </a:solidFill>
                <a:latin typeface="Arial"/>
                <a:ea typeface="Arial"/>
                <a:cs typeface="Arial"/>
              </a:defRPr>
            </a:lvl7pPr>
            <a:lvl8pPr algn="l">
              <a:defRPr sz="2325" b="1">
                <a:solidFill>
                  <a:srgbClr val="173047"/>
                </a:solidFill>
                <a:latin typeface="Arial"/>
                <a:ea typeface="Arial"/>
                <a:cs typeface="Arial"/>
              </a:defRPr>
            </a:lvl8pPr>
            <a:lvl9pPr algn="l">
              <a:defRPr sz="2325" b="1">
                <a:solidFill>
                  <a:srgbClr val="173047"/>
                </a:solidFill>
                <a:latin typeface="Arial"/>
                <a:ea typeface="Arial"/>
                <a:cs typeface="Arial"/>
              </a:defRPr>
            </a:lvl9pPr>
          </a:lstStyle>
          <a:p>
            <a:pPr algn="l">
              <a:defRPr sz="2325" b="1">
                <a:solidFill>
                  <a:srgbClr val="173047"/>
                </a:solidFill>
                <a:latin typeface="Arial"/>
                <a:ea typeface="Arial"/>
                <a:cs typeface="Arial"/>
              </a:defRPr>
            </a:pPr>
            <a:r>
              <a:rPr sz="2325" b="1">
                <a:solidFill>
                  <a:srgbClr val="173047"/>
                </a:solidFill>
                <a:latin typeface="Arial"/>
                <a:ea typeface="Arial"/>
                <a:cs typeface="Arial"/>
              </a:rPr>
              <a:t>+0.67 pp in AUROC</a:t>
            </a:r>
          </a:p>
        </p:txBody>
      </p:sp>
      <p:sp>
        <p:nvSpPr>
          <p:cNvPr id="8" name="text-+4.46 pp in false positives">
            <a:extLst>
              <a:ext uri="{FF2B5EF4-FFF2-40B4-BE49-F238E27FC236}">
                <a16:creationId xmlns:a16="http://schemas.microsoft.com/office/drawing/2014/main" id="{6EAA80C8-B410-41D7-84FB-99872EA06CD8}"/>
              </a:ext>
            </a:extLst>
          </p:cNvPr>
          <p:cNvSpPr>
            <a:spLocks noGrp="1"/>
          </p:cNvSpPr>
          <p:nvPr/>
        </p:nvSpPr>
        <p:spPr>
          <a:xfrm>
            <a:off x="6229350" y="5219700"/>
            <a:ext cx="5353050" cy="409575"/>
          </a:xfrm>
          <a:prstGeom prst="rect">
            <a:avLst/>
          </a:prstGeom>
          <a:noFill/>
          <a:ln w="0">
            <a:noFill/>
          </a:ln>
        </p:spPr>
        <p:txBody>
          <a:bodyPr wrap="square" lIns="0" tIns="0" rIns="0" bIns="0" anchor="t">
            <a:noAutofit/>
          </a:bodyPr>
          <a:lstStyle>
            <a:defPPr algn="l">
              <a:defRPr sz="2325" b="1">
                <a:solidFill>
                  <a:srgbClr val="8C4318"/>
                </a:solidFill>
                <a:latin typeface="Arial"/>
                <a:ea typeface="Arial"/>
                <a:cs typeface="Arial"/>
              </a:defRPr>
            </a:defPPr>
            <a:lvl1pPr algn="l">
              <a:defRPr sz="2325" b="1">
                <a:solidFill>
                  <a:srgbClr val="8C4318"/>
                </a:solidFill>
                <a:latin typeface="Arial"/>
                <a:ea typeface="Arial"/>
                <a:cs typeface="Arial"/>
              </a:defRPr>
            </a:lvl1pPr>
            <a:lvl2pPr algn="l">
              <a:defRPr sz="2325" b="1">
                <a:solidFill>
                  <a:srgbClr val="8C4318"/>
                </a:solidFill>
                <a:latin typeface="Arial"/>
                <a:ea typeface="Arial"/>
                <a:cs typeface="Arial"/>
              </a:defRPr>
            </a:lvl2pPr>
            <a:lvl3pPr algn="l">
              <a:defRPr sz="2325" b="1">
                <a:solidFill>
                  <a:srgbClr val="8C4318"/>
                </a:solidFill>
                <a:latin typeface="Arial"/>
                <a:ea typeface="Arial"/>
                <a:cs typeface="Arial"/>
              </a:defRPr>
            </a:lvl3pPr>
            <a:lvl4pPr algn="l">
              <a:defRPr sz="2325" b="1">
                <a:solidFill>
                  <a:srgbClr val="8C4318"/>
                </a:solidFill>
                <a:latin typeface="Arial"/>
                <a:ea typeface="Arial"/>
                <a:cs typeface="Arial"/>
              </a:defRPr>
            </a:lvl4pPr>
            <a:lvl5pPr algn="l">
              <a:defRPr sz="2325" b="1">
                <a:solidFill>
                  <a:srgbClr val="8C4318"/>
                </a:solidFill>
                <a:latin typeface="Arial"/>
                <a:ea typeface="Arial"/>
                <a:cs typeface="Arial"/>
              </a:defRPr>
            </a:lvl5pPr>
            <a:lvl6pPr algn="l">
              <a:defRPr sz="2325" b="1">
                <a:solidFill>
                  <a:srgbClr val="8C4318"/>
                </a:solidFill>
                <a:latin typeface="Arial"/>
                <a:ea typeface="Arial"/>
                <a:cs typeface="Arial"/>
              </a:defRPr>
            </a:lvl6pPr>
            <a:lvl7pPr algn="l">
              <a:defRPr sz="2325" b="1">
                <a:solidFill>
                  <a:srgbClr val="8C4318"/>
                </a:solidFill>
                <a:latin typeface="Arial"/>
                <a:ea typeface="Arial"/>
                <a:cs typeface="Arial"/>
              </a:defRPr>
            </a:lvl7pPr>
            <a:lvl8pPr algn="l">
              <a:defRPr sz="2325" b="1">
                <a:solidFill>
                  <a:srgbClr val="8C4318"/>
                </a:solidFill>
                <a:latin typeface="Arial"/>
                <a:ea typeface="Arial"/>
                <a:cs typeface="Arial"/>
              </a:defRPr>
            </a:lvl8pPr>
            <a:lvl9pPr algn="l">
              <a:defRPr sz="2325" b="1">
                <a:solidFill>
                  <a:srgbClr val="8C4318"/>
                </a:solidFill>
                <a:latin typeface="Arial"/>
                <a:ea typeface="Arial"/>
                <a:cs typeface="Arial"/>
              </a:defRPr>
            </a:lvl9pPr>
          </a:lstStyle>
          <a:p>
            <a:pPr algn="l">
              <a:defRPr sz="2325" b="1">
                <a:solidFill>
                  <a:srgbClr val="8C4318"/>
                </a:solidFill>
                <a:latin typeface="Arial"/>
                <a:ea typeface="Arial"/>
                <a:cs typeface="Arial"/>
              </a:defRPr>
            </a:pPr>
            <a:r>
              <a:rPr sz="2325" b="1">
                <a:solidFill>
                  <a:srgbClr val="8C4318"/>
                </a:solidFill>
                <a:latin typeface="Arial"/>
                <a:ea typeface="Arial"/>
                <a:cs typeface="Arial"/>
              </a:rPr>
              <a:t>+4.46 pp in false positives</a:t>
            </a:r>
          </a:p>
        </p:txBody>
      </p:sp>
      <p:sp>
        <p:nvSpPr>
          <p:cNvPr id="9" name="text-The pixel maps and localization ">
            <a:extLst>
              <a:ext uri="{FF2B5EF4-FFF2-40B4-BE49-F238E27FC236}">
                <a16:creationId xmlns:a16="http://schemas.microsoft.com/office/drawing/2014/main" id="{989ADDC3-1396-406F-889B-EE34E7812641}"/>
              </a:ext>
            </a:extLst>
          </p:cNvPr>
          <p:cNvSpPr>
            <a:spLocks noGrp="1"/>
          </p:cNvSpPr>
          <p:nvPr/>
        </p:nvSpPr>
        <p:spPr>
          <a:xfrm>
            <a:off x="609600" y="5819775"/>
            <a:ext cx="10972800" cy="352425"/>
          </a:xfrm>
          <a:prstGeom prst="rect">
            <a:avLst/>
          </a:prstGeom>
          <a:noFill/>
          <a:ln w="0">
            <a:noFill/>
          </a:ln>
        </p:spPr>
        <p:txBody>
          <a:bodyPr wrap="square" lIns="0" tIns="0" rIns="0" bIns="0" anchor="t">
            <a:noAutofit/>
          </a:bodyPr>
          <a:lstStyle>
            <a:defPPr algn="l">
              <a:defRPr sz="1950" b="0">
                <a:solidFill>
                  <a:srgbClr val="586A79"/>
                </a:solidFill>
                <a:latin typeface="Arial"/>
                <a:ea typeface="Arial"/>
                <a:cs typeface="Arial"/>
              </a:defRPr>
            </a:defPPr>
            <a:lvl1pPr algn="l">
              <a:defRPr sz="1950" b="0">
                <a:solidFill>
                  <a:srgbClr val="586A79"/>
                </a:solidFill>
                <a:latin typeface="Arial"/>
                <a:ea typeface="Arial"/>
                <a:cs typeface="Arial"/>
              </a:defRPr>
            </a:lvl1pPr>
            <a:lvl2pPr algn="l">
              <a:defRPr sz="1950" b="0">
                <a:solidFill>
                  <a:srgbClr val="586A79"/>
                </a:solidFill>
                <a:latin typeface="Arial"/>
                <a:ea typeface="Arial"/>
                <a:cs typeface="Arial"/>
              </a:defRPr>
            </a:lvl2pPr>
            <a:lvl3pPr algn="l">
              <a:defRPr sz="1950" b="0">
                <a:solidFill>
                  <a:srgbClr val="586A79"/>
                </a:solidFill>
                <a:latin typeface="Arial"/>
                <a:ea typeface="Arial"/>
                <a:cs typeface="Arial"/>
              </a:defRPr>
            </a:lvl3pPr>
            <a:lvl4pPr algn="l">
              <a:defRPr sz="1950" b="0">
                <a:solidFill>
                  <a:srgbClr val="586A79"/>
                </a:solidFill>
                <a:latin typeface="Arial"/>
                <a:ea typeface="Arial"/>
                <a:cs typeface="Arial"/>
              </a:defRPr>
            </a:lvl4pPr>
            <a:lvl5pPr algn="l">
              <a:defRPr sz="1950" b="0">
                <a:solidFill>
                  <a:srgbClr val="586A79"/>
                </a:solidFill>
                <a:latin typeface="Arial"/>
                <a:ea typeface="Arial"/>
                <a:cs typeface="Arial"/>
              </a:defRPr>
            </a:lvl5pPr>
            <a:lvl6pPr algn="l">
              <a:defRPr sz="1950" b="0">
                <a:solidFill>
                  <a:srgbClr val="586A79"/>
                </a:solidFill>
                <a:latin typeface="Arial"/>
                <a:ea typeface="Arial"/>
                <a:cs typeface="Arial"/>
              </a:defRPr>
            </a:lvl6pPr>
            <a:lvl7pPr algn="l">
              <a:defRPr sz="1950" b="0">
                <a:solidFill>
                  <a:srgbClr val="586A79"/>
                </a:solidFill>
                <a:latin typeface="Arial"/>
                <a:ea typeface="Arial"/>
                <a:cs typeface="Arial"/>
              </a:defRPr>
            </a:lvl7pPr>
            <a:lvl8pPr algn="l">
              <a:defRPr sz="1950" b="0">
                <a:solidFill>
                  <a:srgbClr val="586A79"/>
                </a:solidFill>
                <a:latin typeface="Arial"/>
                <a:ea typeface="Arial"/>
                <a:cs typeface="Arial"/>
              </a:defRPr>
            </a:lvl8pPr>
            <a:lvl9pPr algn="l">
              <a:defRPr sz="1950" b="0">
                <a:solidFill>
                  <a:srgbClr val="586A79"/>
                </a:solidFill>
                <a:latin typeface="Arial"/>
                <a:ea typeface="Arial"/>
                <a:cs typeface="Arial"/>
              </a:defRPr>
            </a:lvl9pPr>
          </a:lstStyle>
          <a:p>
            <a:pPr algn="l">
              <a:defRPr sz="1950" b="0">
                <a:solidFill>
                  <a:srgbClr val="586A79"/>
                </a:solidFill>
                <a:latin typeface="Arial"/>
                <a:ea typeface="Arial"/>
                <a:cs typeface="Arial"/>
              </a:defRPr>
            </a:pPr>
            <a:r>
              <a:rPr sz="1950" b="0">
                <a:solidFill>
                  <a:srgbClr val="586A79"/>
                </a:solidFill>
                <a:latin typeface="Arial"/>
                <a:ea typeface="Arial"/>
                <a:cs typeface="Arial"/>
              </a:rPr>
              <a:t>The pixel maps and localization metrics stay unchanged</a:t>
            </a:r>
          </a:p>
        </p:txBody>
      </p:sp>
    </p:spTree>
    <p:extLst>
      <p:ext uri="{BB962C8B-B14F-4D97-AF65-F5344CB8AC3E}">
        <p14:creationId xmlns:p14="http://schemas.microsoft.com/office/powerpoint/2010/main" val="1655505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ext-Failure Cases and Logical Anomal">
            <a:extLst>
              <a:ext uri="{FF2B5EF4-FFF2-40B4-BE49-F238E27FC236}">
                <a16:creationId xmlns:a16="http://schemas.microsoft.com/office/drawing/2014/main" id="{327F10A7-AD45-451D-BD02-5322806E8983}"/>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Failure Cases and Logical Anomalies</a:t>
            </a:r>
          </a:p>
        </p:txBody>
      </p:sp>
      <p:sp>
        <p:nvSpPr>
          <p:cNvPr id="2" name="矩形 1">
            <a:extLst>
              <a:ext uri="{FF2B5EF4-FFF2-40B4-BE49-F238E27FC236}">
                <a16:creationId xmlns:a16="http://schemas.microsoft.com/office/drawing/2014/main" id="{0F2672D4-25E0-40AA-9E76-38C6E563EB07}"/>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6CFEC721-6AD8-454A-8CB7-55CF97F09905}"/>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C    07 / 08">
            <a:extLst>
              <a:ext uri="{FF2B5EF4-FFF2-40B4-BE49-F238E27FC236}">
                <a16:creationId xmlns:a16="http://schemas.microsoft.com/office/drawing/2014/main" id="{65F92B7A-12C3-486D-B83A-1B16D4396ADA}"/>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07 / 08</a:t>
            </a:r>
          </a:p>
        </p:txBody>
      </p:sp>
      <p:sp>
        <p:nvSpPr>
          <p:cNvPr id="5" name="text-Native scores; fixed development">
            <a:extLst>
              <a:ext uri="{FF2B5EF4-FFF2-40B4-BE49-F238E27FC236}">
                <a16:creationId xmlns:a16="http://schemas.microsoft.com/office/drawing/2014/main" id="{39F8C600-F050-4B83-B69B-9359FA043A11}"/>
              </a:ext>
            </a:extLst>
          </p:cNvPr>
          <p:cNvSpPr>
            <a:spLocks noGrp="1"/>
          </p:cNvSpPr>
          <p:nvPr/>
        </p:nvSpPr>
        <p:spPr>
          <a:xfrm>
            <a:off x="609600" y="1047750"/>
            <a:ext cx="10972800" cy="257175"/>
          </a:xfrm>
          <a:prstGeom prst="rect">
            <a:avLst/>
          </a:prstGeom>
          <a:noFill/>
          <a:ln w="0">
            <a:noFill/>
          </a:ln>
        </p:spPr>
        <p:txBody>
          <a:bodyPr wrap="square" lIns="0" tIns="0" rIns="0" bIns="0" anchor="t">
            <a:noAutofit/>
          </a:bodyPr>
          <a:lstStyle>
            <a:defPPr algn="l">
              <a:defRPr sz="1575" b="0">
                <a:solidFill>
                  <a:srgbClr val="586A79"/>
                </a:solidFill>
                <a:latin typeface="Arial"/>
                <a:ea typeface="Arial"/>
                <a:cs typeface="Arial"/>
              </a:defRPr>
            </a:defPPr>
            <a:lvl1pPr algn="l">
              <a:defRPr sz="1575" b="0">
                <a:solidFill>
                  <a:srgbClr val="586A79"/>
                </a:solidFill>
                <a:latin typeface="Arial"/>
                <a:ea typeface="Arial"/>
                <a:cs typeface="Arial"/>
              </a:defRPr>
            </a:lvl1pPr>
            <a:lvl2pPr algn="l">
              <a:defRPr sz="1575" b="0">
                <a:solidFill>
                  <a:srgbClr val="586A79"/>
                </a:solidFill>
                <a:latin typeface="Arial"/>
                <a:ea typeface="Arial"/>
                <a:cs typeface="Arial"/>
              </a:defRPr>
            </a:lvl2pPr>
            <a:lvl3pPr algn="l">
              <a:defRPr sz="1575" b="0">
                <a:solidFill>
                  <a:srgbClr val="586A79"/>
                </a:solidFill>
                <a:latin typeface="Arial"/>
                <a:ea typeface="Arial"/>
                <a:cs typeface="Arial"/>
              </a:defRPr>
            </a:lvl3pPr>
            <a:lvl4pPr algn="l">
              <a:defRPr sz="1575" b="0">
                <a:solidFill>
                  <a:srgbClr val="586A79"/>
                </a:solidFill>
                <a:latin typeface="Arial"/>
                <a:ea typeface="Arial"/>
                <a:cs typeface="Arial"/>
              </a:defRPr>
            </a:lvl4pPr>
            <a:lvl5pPr algn="l">
              <a:defRPr sz="1575" b="0">
                <a:solidFill>
                  <a:srgbClr val="586A79"/>
                </a:solidFill>
                <a:latin typeface="Arial"/>
                <a:ea typeface="Arial"/>
                <a:cs typeface="Arial"/>
              </a:defRPr>
            </a:lvl5pPr>
            <a:lvl6pPr algn="l">
              <a:defRPr sz="1575" b="0">
                <a:solidFill>
                  <a:srgbClr val="586A79"/>
                </a:solidFill>
                <a:latin typeface="Arial"/>
                <a:ea typeface="Arial"/>
                <a:cs typeface="Arial"/>
              </a:defRPr>
            </a:lvl6pPr>
            <a:lvl7pPr algn="l">
              <a:defRPr sz="1575" b="0">
                <a:solidFill>
                  <a:srgbClr val="586A79"/>
                </a:solidFill>
                <a:latin typeface="Arial"/>
                <a:ea typeface="Arial"/>
                <a:cs typeface="Arial"/>
              </a:defRPr>
            </a:lvl7pPr>
            <a:lvl8pPr algn="l">
              <a:defRPr sz="1575" b="0">
                <a:solidFill>
                  <a:srgbClr val="586A79"/>
                </a:solidFill>
                <a:latin typeface="Arial"/>
                <a:ea typeface="Arial"/>
                <a:cs typeface="Arial"/>
              </a:defRPr>
            </a:lvl8pPr>
            <a:lvl9pPr algn="l">
              <a:defRPr sz="1575" b="0">
                <a:solidFill>
                  <a:srgbClr val="586A79"/>
                </a:solidFill>
                <a:latin typeface="Arial"/>
                <a:ea typeface="Arial"/>
                <a:cs typeface="Arial"/>
              </a:defRPr>
            </a:lvl9pPr>
          </a:lstStyle>
          <a:p>
            <a:pPr algn="l">
              <a:defRPr sz="1575" b="0">
                <a:solidFill>
                  <a:srgbClr val="586A79"/>
                </a:solidFill>
                <a:latin typeface="Arial"/>
                <a:ea typeface="Arial"/>
                <a:cs typeface="Arial"/>
              </a:defRPr>
            </a:pPr>
            <a:r>
              <a:rPr sz="1575" b="0">
                <a:solidFill>
                  <a:srgbClr val="586A79"/>
                </a:solidFill>
                <a:latin typeface="Arial"/>
                <a:ea typeface="Arial"/>
                <a:cs typeface="Arial"/>
              </a:rPr>
              <a:t>Native scores; fixed development thresholds; separate method heatmap scales</a:t>
            </a:r>
          </a:p>
        </p:txBody>
      </p:sp>
      <p:sp>
        <p:nvSpPr>
          <p:cNvPr id="6" name="text-Input">
            <a:extLst>
              <a:ext uri="{FF2B5EF4-FFF2-40B4-BE49-F238E27FC236}">
                <a16:creationId xmlns:a16="http://schemas.microsoft.com/office/drawing/2014/main" id="{560725D0-9AE1-43E2-9ED3-A85B5E186006}"/>
              </a:ext>
            </a:extLst>
          </p:cNvPr>
          <p:cNvSpPr>
            <a:spLocks noGrp="1"/>
          </p:cNvSpPr>
          <p:nvPr/>
        </p:nvSpPr>
        <p:spPr>
          <a:xfrm>
            <a:off x="609600" y="1362075"/>
            <a:ext cx="2133600" cy="342900"/>
          </a:xfrm>
          <a:prstGeom prst="rect">
            <a:avLst/>
          </a:prstGeom>
          <a:noFill/>
          <a:ln w="0">
            <a:noFill/>
          </a:ln>
        </p:spPr>
        <p:txBody>
          <a:bodyPr wrap="square" lIns="0" tIns="0" rIns="0" bIns="0" anchor="t">
            <a:noAutofit/>
          </a:bodyPr>
          <a:lstStyle>
            <a:defPPr algn="ctr">
              <a:defRPr sz="2025" b="1">
                <a:solidFill>
                  <a:srgbClr val="173047"/>
                </a:solidFill>
                <a:latin typeface="Arial"/>
                <a:ea typeface="Arial"/>
                <a:cs typeface="Arial"/>
              </a:defRPr>
            </a:defPPr>
            <a:lvl1pPr algn="ctr">
              <a:defRPr sz="2025" b="1">
                <a:solidFill>
                  <a:srgbClr val="173047"/>
                </a:solidFill>
                <a:latin typeface="Arial"/>
                <a:ea typeface="Arial"/>
                <a:cs typeface="Arial"/>
              </a:defRPr>
            </a:lvl1pPr>
            <a:lvl2pPr algn="ctr">
              <a:defRPr sz="2025" b="1">
                <a:solidFill>
                  <a:srgbClr val="173047"/>
                </a:solidFill>
                <a:latin typeface="Arial"/>
                <a:ea typeface="Arial"/>
                <a:cs typeface="Arial"/>
              </a:defRPr>
            </a:lvl2pPr>
            <a:lvl3pPr algn="ctr">
              <a:defRPr sz="2025" b="1">
                <a:solidFill>
                  <a:srgbClr val="173047"/>
                </a:solidFill>
                <a:latin typeface="Arial"/>
                <a:ea typeface="Arial"/>
                <a:cs typeface="Arial"/>
              </a:defRPr>
            </a:lvl3pPr>
            <a:lvl4pPr algn="ctr">
              <a:defRPr sz="2025" b="1">
                <a:solidFill>
                  <a:srgbClr val="173047"/>
                </a:solidFill>
                <a:latin typeface="Arial"/>
                <a:ea typeface="Arial"/>
                <a:cs typeface="Arial"/>
              </a:defRPr>
            </a:lvl4pPr>
            <a:lvl5pPr algn="ctr">
              <a:defRPr sz="2025" b="1">
                <a:solidFill>
                  <a:srgbClr val="173047"/>
                </a:solidFill>
                <a:latin typeface="Arial"/>
                <a:ea typeface="Arial"/>
                <a:cs typeface="Arial"/>
              </a:defRPr>
            </a:lvl5pPr>
            <a:lvl6pPr algn="ctr">
              <a:defRPr sz="2025" b="1">
                <a:solidFill>
                  <a:srgbClr val="173047"/>
                </a:solidFill>
                <a:latin typeface="Arial"/>
                <a:ea typeface="Arial"/>
                <a:cs typeface="Arial"/>
              </a:defRPr>
            </a:lvl6pPr>
            <a:lvl7pPr algn="ctr">
              <a:defRPr sz="2025" b="1">
                <a:solidFill>
                  <a:srgbClr val="173047"/>
                </a:solidFill>
                <a:latin typeface="Arial"/>
                <a:ea typeface="Arial"/>
                <a:cs typeface="Arial"/>
              </a:defRPr>
            </a:lvl7pPr>
            <a:lvl8pPr algn="ctr">
              <a:defRPr sz="2025" b="1">
                <a:solidFill>
                  <a:srgbClr val="173047"/>
                </a:solidFill>
                <a:latin typeface="Arial"/>
                <a:ea typeface="Arial"/>
                <a:cs typeface="Arial"/>
              </a:defRPr>
            </a:lvl8pPr>
            <a:lvl9pPr algn="ctr">
              <a:defRPr sz="2025" b="1">
                <a:solidFill>
                  <a:srgbClr val="173047"/>
                </a:solidFill>
                <a:latin typeface="Arial"/>
                <a:ea typeface="Arial"/>
                <a:cs typeface="Arial"/>
              </a:defRPr>
            </a:lvl9pPr>
          </a:lstStyle>
          <a:p>
            <a:pPr algn="ctr">
              <a:defRPr sz="2025" b="1">
                <a:solidFill>
                  <a:srgbClr val="173047"/>
                </a:solidFill>
                <a:latin typeface="Arial"/>
                <a:ea typeface="Arial"/>
                <a:cs typeface="Arial"/>
              </a:defRPr>
            </a:pPr>
            <a:r>
              <a:rPr sz="2025" b="1">
                <a:solidFill>
                  <a:srgbClr val="173047"/>
                </a:solidFill>
                <a:latin typeface="Arial"/>
                <a:ea typeface="Arial"/>
                <a:cs typeface="Arial"/>
              </a:rPr>
              <a:t>Input</a:t>
            </a:r>
          </a:p>
        </p:txBody>
      </p:sp>
      <p:sp>
        <p:nvSpPr>
          <p:cNvPr id="7" name="text-Ground truth">
            <a:extLst>
              <a:ext uri="{FF2B5EF4-FFF2-40B4-BE49-F238E27FC236}">
                <a16:creationId xmlns:a16="http://schemas.microsoft.com/office/drawing/2014/main" id="{6DC43AA8-1F27-45D8-8D06-769E83470252}"/>
              </a:ext>
            </a:extLst>
          </p:cNvPr>
          <p:cNvSpPr>
            <a:spLocks noGrp="1"/>
          </p:cNvSpPr>
          <p:nvPr/>
        </p:nvSpPr>
        <p:spPr>
          <a:xfrm>
            <a:off x="3352800" y="1362075"/>
            <a:ext cx="2133600" cy="342900"/>
          </a:xfrm>
          <a:prstGeom prst="rect">
            <a:avLst/>
          </a:prstGeom>
          <a:noFill/>
          <a:ln w="0">
            <a:noFill/>
          </a:ln>
        </p:spPr>
        <p:txBody>
          <a:bodyPr wrap="square" lIns="0" tIns="0" rIns="0" bIns="0" anchor="t">
            <a:noAutofit/>
          </a:bodyPr>
          <a:lstStyle>
            <a:defPPr algn="ctr">
              <a:defRPr sz="2025" b="1">
                <a:solidFill>
                  <a:srgbClr val="173047"/>
                </a:solidFill>
                <a:latin typeface="Arial"/>
                <a:ea typeface="Arial"/>
                <a:cs typeface="Arial"/>
              </a:defRPr>
            </a:defPPr>
            <a:lvl1pPr algn="ctr">
              <a:defRPr sz="2025" b="1">
                <a:solidFill>
                  <a:srgbClr val="173047"/>
                </a:solidFill>
                <a:latin typeface="Arial"/>
                <a:ea typeface="Arial"/>
                <a:cs typeface="Arial"/>
              </a:defRPr>
            </a:lvl1pPr>
            <a:lvl2pPr algn="ctr">
              <a:defRPr sz="2025" b="1">
                <a:solidFill>
                  <a:srgbClr val="173047"/>
                </a:solidFill>
                <a:latin typeface="Arial"/>
                <a:ea typeface="Arial"/>
                <a:cs typeface="Arial"/>
              </a:defRPr>
            </a:lvl2pPr>
            <a:lvl3pPr algn="ctr">
              <a:defRPr sz="2025" b="1">
                <a:solidFill>
                  <a:srgbClr val="173047"/>
                </a:solidFill>
                <a:latin typeface="Arial"/>
                <a:ea typeface="Arial"/>
                <a:cs typeface="Arial"/>
              </a:defRPr>
            </a:lvl3pPr>
            <a:lvl4pPr algn="ctr">
              <a:defRPr sz="2025" b="1">
                <a:solidFill>
                  <a:srgbClr val="173047"/>
                </a:solidFill>
                <a:latin typeface="Arial"/>
                <a:ea typeface="Arial"/>
                <a:cs typeface="Arial"/>
              </a:defRPr>
            </a:lvl4pPr>
            <a:lvl5pPr algn="ctr">
              <a:defRPr sz="2025" b="1">
                <a:solidFill>
                  <a:srgbClr val="173047"/>
                </a:solidFill>
                <a:latin typeface="Arial"/>
                <a:ea typeface="Arial"/>
                <a:cs typeface="Arial"/>
              </a:defRPr>
            </a:lvl5pPr>
            <a:lvl6pPr algn="ctr">
              <a:defRPr sz="2025" b="1">
                <a:solidFill>
                  <a:srgbClr val="173047"/>
                </a:solidFill>
                <a:latin typeface="Arial"/>
                <a:ea typeface="Arial"/>
                <a:cs typeface="Arial"/>
              </a:defRPr>
            </a:lvl6pPr>
            <a:lvl7pPr algn="ctr">
              <a:defRPr sz="2025" b="1">
                <a:solidFill>
                  <a:srgbClr val="173047"/>
                </a:solidFill>
                <a:latin typeface="Arial"/>
                <a:ea typeface="Arial"/>
                <a:cs typeface="Arial"/>
              </a:defRPr>
            </a:lvl7pPr>
            <a:lvl8pPr algn="ctr">
              <a:defRPr sz="2025" b="1">
                <a:solidFill>
                  <a:srgbClr val="173047"/>
                </a:solidFill>
                <a:latin typeface="Arial"/>
                <a:ea typeface="Arial"/>
                <a:cs typeface="Arial"/>
              </a:defRPr>
            </a:lvl8pPr>
            <a:lvl9pPr algn="ctr">
              <a:defRPr sz="2025" b="1">
                <a:solidFill>
                  <a:srgbClr val="173047"/>
                </a:solidFill>
                <a:latin typeface="Arial"/>
                <a:ea typeface="Arial"/>
                <a:cs typeface="Arial"/>
              </a:defRPr>
            </a:lvl9pPr>
          </a:lstStyle>
          <a:p>
            <a:pPr algn="ctr">
              <a:defRPr sz="2025" b="1">
                <a:solidFill>
                  <a:srgbClr val="173047"/>
                </a:solidFill>
                <a:latin typeface="Arial"/>
                <a:ea typeface="Arial"/>
                <a:cs typeface="Arial"/>
              </a:defRPr>
            </a:pPr>
            <a:r>
              <a:rPr sz="2025" b="1">
                <a:solidFill>
                  <a:srgbClr val="173047"/>
                </a:solidFill>
                <a:latin typeface="Arial"/>
                <a:ea typeface="Arial"/>
                <a:cs typeface="Arial"/>
              </a:rPr>
              <a:t>Ground truth</a:t>
            </a:r>
          </a:p>
        </p:txBody>
      </p:sp>
      <p:sp>
        <p:nvSpPr>
          <p:cNvPr id="8" name="text-PaDiM">
            <a:extLst>
              <a:ext uri="{FF2B5EF4-FFF2-40B4-BE49-F238E27FC236}">
                <a16:creationId xmlns:a16="http://schemas.microsoft.com/office/drawing/2014/main" id="{80A93A1A-99C0-48E7-90DC-D2607D2C7FAB}"/>
              </a:ext>
            </a:extLst>
          </p:cNvPr>
          <p:cNvSpPr>
            <a:spLocks noGrp="1"/>
          </p:cNvSpPr>
          <p:nvPr/>
        </p:nvSpPr>
        <p:spPr>
          <a:xfrm>
            <a:off x="6096000" y="1362075"/>
            <a:ext cx="2133600" cy="342900"/>
          </a:xfrm>
          <a:prstGeom prst="rect">
            <a:avLst/>
          </a:prstGeom>
          <a:noFill/>
          <a:ln w="0">
            <a:noFill/>
          </a:ln>
        </p:spPr>
        <p:txBody>
          <a:bodyPr wrap="square" lIns="0" tIns="0" rIns="0" bIns="0" anchor="t">
            <a:noAutofit/>
          </a:bodyPr>
          <a:lstStyle>
            <a:defPPr algn="ctr">
              <a:defRPr sz="2025" b="1">
                <a:solidFill>
                  <a:srgbClr val="3F729B"/>
                </a:solidFill>
                <a:latin typeface="Arial"/>
                <a:ea typeface="Arial"/>
                <a:cs typeface="Arial"/>
              </a:defRPr>
            </a:defPPr>
            <a:lvl1pPr algn="ctr">
              <a:defRPr sz="2025" b="1">
                <a:solidFill>
                  <a:srgbClr val="3F729B"/>
                </a:solidFill>
                <a:latin typeface="Arial"/>
                <a:ea typeface="Arial"/>
                <a:cs typeface="Arial"/>
              </a:defRPr>
            </a:lvl1pPr>
            <a:lvl2pPr algn="ctr">
              <a:defRPr sz="2025" b="1">
                <a:solidFill>
                  <a:srgbClr val="3F729B"/>
                </a:solidFill>
                <a:latin typeface="Arial"/>
                <a:ea typeface="Arial"/>
                <a:cs typeface="Arial"/>
              </a:defRPr>
            </a:lvl2pPr>
            <a:lvl3pPr algn="ctr">
              <a:defRPr sz="2025" b="1">
                <a:solidFill>
                  <a:srgbClr val="3F729B"/>
                </a:solidFill>
                <a:latin typeface="Arial"/>
                <a:ea typeface="Arial"/>
                <a:cs typeface="Arial"/>
              </a:defRPr>
            </a:lvl3pPr>
            <a:lvl4pPr algn="ctr">
              <a:defRPr sz="2025" b="1">
                <a:solidFill>
                  <a:srgbClr val="3F729B"/>
                </a:solidFill>
                <a:latin typeface="Arial"/>
                <a:ea typeface="Arial"/>
                <a:cs typeface="Arial"/>
              </a:defRPr>
            </a:lvl4pPr>
            <a:lvl5pPr algn="ctr">
              <a:defRPr sz="2025" b="1">
                <a:solidFill>
                  <a:srgbClr val="3F729B"/>
                </a:solidFill>
                <a:latin typeface="Arial"/>
                <a:ea typeface="Arial"/>
                <a:cs typeface="Arial"/>
              </a:defRPr>
            </a:lvl5pPr>
            <a:lvl6pPr algn="ctr">
              <a:defRPr sz="2025" b="1">
                <a:solidFill>
                  <a:srgbClr val="3F729B"/>
                </a:solidFill>
                <a:latin typeface="Arial"/>
                <a:ea typeface="Arial"/>
                <a:cs typeface="Arial"/>
              </a:defRPr>
            </a:lvl6pPr>
            <a:lvl7pPr algn="ctr">
              <a:defRPr sz="2025" b="1">
                <a:solidFill>
                  <a:srgbClr val="3F729B"/>
                </a:solidFill>
                <a:latin typeface="Arial"/>
                <a:ea typeface="Arial"/>
                <a:cs typeface="Arial"/>
              </a:defRPr>
            </a:lvl7pPr>
            <a:lvl8pPr algn="ctr">
              <a:defRPr sz="2025" b="1">
                <a:solidFill>
                  <a:srgbClr val="3F729B"/>
                </a:solidFill>
                <a:latin typeface="Arial"/>
                <a:ea typeface="Arial"/>
                <a:cs typeface="Arial"/>
              </a:defRPr>
            </a:lvl8pPr>
            <a:lvl9pPr algn="ctr">
              <a:defRPr sz="2025" b="1">
                <a:solidFill>
                  <a:srgbClr val="3F729B"/>
                </a:solidFill>
                <a:latin typeface="Arial"/>
                <a:ea typeface="Arial"/>
                <a:cs typeface="Arial"/>
              </a:defRPr>
            </a:lvl9pPr>
          </a:lstStyle>
          <a:p>
            <a:pPr algn="ctr">
              <a:defRPr sz="2025" b="1">
                <a:solidFill>
                  <a:srgbClr val="3F729B"/>
                </a:solidFill>
                <a:latin typeface="Arial"/>
                <a:ea typeface="Arial"/>
                <a:cs typeface="Arial"/>
              </a:defRPr>
            </a:pPr>
            <a:r>
              <a:rPr sz="2025" b="1">
                <a:solidFill>
                  <a:srgbClr val="3F729B"/>
                </a:solidFill>
                <a:latin typeface="Arial"/>
                <a:ea typeface="Arial"/>
                <a:cs typeface="Arial"/>
              </a:rPr>
              <a:t>PaDiM</a:t>
            </a:r>
          </a:p>
        </p:txBody>
      </p:sp>
      <p:sp>
        <p:nvSpPr>
          <p:cNvPr id="9" name="text-PatchCore">
            <a:extLst>
              <a:ext uri="{FF2B5EF4-FFF2-40B4-BE49-F238E27FC236}">
                <a16:creationId xmlns:a16="http://schemas.microsoft.com/office/drawing/2014/main" id="{8FFDC2FF-6906-42DD-882B-880884E1B6B8}"/>
              </a:ext>
            </a:extLst>
          </p:cNvPr>
          <p:cNvSpPr>
            <a:spLocks noGrp="1"/>
          </p:cNvSpPr>
          <p:nvPr/>
        </p:nvSpPr>
        <p:spPr>
          <a:xfrm>
            <a:off x="8839200" y="1362075"/>
            <a:ext cx="2133600" cy="342900"/>
          </a:xfrm>
          <a:prstGeom prst="rect">
            <a:avLst/>
          </a:prstGeom>
          <a:noFill/>
          <a:ln w="0">
            <a:noFill/>
          </a:ln>
        </p:spPr>
        <p:txBody>
          <a:bodyPr wrap="square" lIns="0" tIns="0" rIns="0" bIns="0" anchor="t">
            <a:noAutofit/>
          </a:bodyPr>
          <a:lstStyle>
            <a:defPPr algn="ctr">
              <a:defRPr sz="2025" b="1">
                <a:solidFill>
                  <a:srgbClr val="C77735"/>
                </a:solidFill>
                <a:latin typeface="Arial"/>
                <a:ea typeface="Arial"/>
                <a:cs typeface="Arial"/>
              </a:defRPr>
            </a:defPPr>
            <a:lvl1pPr algn="ctr">
              <a:defRPr sz="2025" b="1">
                <a:solidFill>
                  <a:srgbClr val="C77735"/>
                </a:solidFill>
                <a:latin typeface="Arial"/>
                <a:ea typeface="Arial"/>
                <a:cs typeface="Arial"/>
              </a:defRPr>
            </a:lvl1pPr>
            <a:lvl2pPr algn="ctr">
              <a:defRPr sz="2025" b="1">
                <a:solidFill>
                  <a:srgbClr val="C77735"/>
                </a:solidFill>
                <a:latin typeface="Arial"/>
                <a:ea typeface="Arial"/>
                <a:cs typeface="Arial"/>
              </a:defRPr>
            </a:lvl2pPr>
            <a:lvl3pPr algn="ctr">
              <a:defRPr sz="2025" b="1">
                <a:solidFill>
                  <a:srgbClr val="C77735"/>
                </a:solidFill>
                <a:latin typeface="Arial"/>
                <a:ea typeface="Arial"/>
                <a:cs typeface="Arial"/>
              </a:defRPr>
            </a:lvl3pPr>
            <a:lvl4pPr algn="ctr">
              <a:defRPr sz="2025" b="1">
                <a:solidFill>
                  <a:srgbClr val="C77735"/>
                </a:solidFill>
                <a:latin typeface="Arial"/>
                <a:ea typeface="Arial"/>
                <a:cs typeface="Arial"/>
              </a:defRPr>
            </a:lvl4pPr>
            <a:lvl5pPr algn="ctr">
              <a:defRPr sz="2025" b="1">
                <a:solidFill>
                  <a:srgbClr val="C77735"/>
                </a:solidFill>
                <a:latin typeface="Arial"/>
                <a:ea typeface="Arial"/>
                <a:cs typeface="Arial"/>
              </a:defRPr>
            </a:lvl5pPr>
            <a:lvl6pPr algn="ctr">
              <a:defRPr sz="2025" b="1">
                <a:solidFill>
                  <a:srgbClr val="C77735"/>
                </a:solidFill>
                <a:latin typeface="Arial"/>
                <a:ea typeface="Arial"/>
                <a:cs typeface="Arial"/>
              </a:defRPr>
            </a:lvl6pPr>
            <a:lvl7pPr algn="ctr">
              <a:defRPr sz="2025" b="1">
                <a:solidFill>
                  <a:srgbClr val="C77735"/>
                </a:solidFill>
                <a:latin typeface="Arial"/>
                <a:ea typeface="Arial"/>
                <a:cs typeface="Arial"/>
              </a:defRPr>
            </a:lvl7pPr>
            <a:lvl8pPr algn="ctr">
              <a:defRPr sz="2025" b="1">
                <a:solidFill>
                  <a:srgbClr val="C77735"/>
                </a:solidFill>
                <a:latin typeface="Arial"/>
                <a:ea typeface="Arial"/>
                <a:cs typeface="Arial"/>
              </a:defRPr>
            </a:lvl8pPr>
            <a:lvl9pPr algn="ctr">
              <a:defRPr sz="2025" b="1">
                <a:solidFill>
                  <a:srgbClr val="C77735"/>
                </a:solidFill>
                <a:latin typeface="Arial"/>
                <a:ea typeface="Arial"/>
                <a:cs typeface="Arial"/>
              </a:defRPr>
            </a:lvl9pPr>
          </a:lstStyle>
          <a:p>
            <a:pPr algn="ctr">
              <a:defRPr sz="2025" b="1">
                <a:solidFill>
                  <a:srgbClr val="C77735"/>
                </a:solidFill>
                <a:latin typeface="Arial"/>
                <a:ea typeface="Arial"/>
                <a:cs typeface="Arial"/>
              </a:defRPr>
            </a:pPr>
            <a:r>
              <a:rPr sz="2025" b="1">
                <a:solidFill>
                  <a:srgbClr val="C77735"/>
                </a:solidFill>
                <a:latin typeface="Arial"/>
                <a:ea typeface="Arial"/>
                <a:cs typeface="Arial"/>
              </a:rPr>
              <a:t>PatchCore</a:t>
            </a:r>
          </a:p>
        </p:txBody>
      </p:sp>
      <p:pic>
        <p:nvPicPr>
          <p:cNvPr id="10" name="图片 9">
            <a:extLst>
              <a:ext uri="{FF2B5EF4-FFF2-40B4-BE49-F238E27FC236}">
                <a16:creationId xmlns:a16="http://schemas.microsoft.com/office/drawing/2014/main" id="{1B7E89B0-8E75-4DA9-8415-FC0247E974F5}"/>
              </a:ext>
            </a:extLst>
          </p:cNvPr>
          <p:cNvPicPr>
            <a:picLocks noChangeAspect="1"/>
          </p:cNvPicPr>
          <p:nvPr/>
        </p:nvPicPr>
        <p:blipFill>
          <a:blip r:embed="rId3"/>
          <a:stretch/>
        </p:blipFill>
        <p:spPr>
          <a:xfrm>
            <a:off x="690563" y="1866900"/>
            <a:ext cx="1971675" cy="1971675"/>
          </a:xfrm>
          <a:prstGeom prst="rect">
            <a:avLst/>
          </a:prstGeom>
        </p:spPr>
      </p:pic>
      <p:pic>
        <p:nvPicPr>
          <p:cNvPr id="11" name="图片 10">
            <a:extLst>
              <a:ext uri="{FF2B5EF4-FFF2-40B4-BE49-F238E27FC236}">
                <a16:creationId xmlns:a16="http://schemas.microsoft.com/office/drawing/2014/main" id="{6D350624-5E8E-463F-A568-0EA92D05BBCD}"/>
              </a:ext>
            </a:extLst>
          </p:cNvPr>
          <p:cNvPicPr>
            <a:picLocks noChangeAspect="1"/>
          </p:cNvPicPr>
          <p:nvPr/>
        </p:nvPicPr>
        <p:blipFill>
          <a:blip r:embed="rId4"/>
          <a:stretch/>
        </p:blipFill>
        <p:spPr>
          <a:xfrm>
            <a:off x="3433763" y="1866900"/>
            <a:ext cx="1971675" cy="1971675"/>
          </a:xfrm>
          <a:prstGeom prst="rect">
            <a:avLst/>
          </a:prstGeom>
        </p:spPr>
      </p:pic>
      <p:pic>
        <p:nvPicPr>
          <p:cNvPr id="12" name="图片 11">
            <a:extLst>
              <a:ext uri="{FF2B5EF4-FFF2-40B4-BE49-F238E27FC236}">
                <a16:creationId xmlns:a16="http://schemas.microsoft.com/office/drawing/2014/main" id="{3BCD6D37-92BC-4390-AD5E-513BC1A3663C}"/>
              </a:ext>
            </a:extLst>
          </p:cNvPr>
          <p:cNvPicPr>
            <a:picLocks noChangeAspect="1"/>
          </p:cNvPicPr>
          <p:nvPr/>
        </p:nvPicPr>
        <p:blipFill>
          <a:blip r:embed="rId5"/>
          <a:stretch/>
        </p:blipFill>
        <p:spPr>
          <a:xfrm>
            <a:off x="6179497" y="1866900"/>
            <a:ext cx="1966606" cy="1971675"/>
          </a:xfrm>
          <a:prstGeom prst="rect">
            <a:avLst/>
          </a:prstGeom>
        </p:spPr>
      </p:pic>
      <p:pic>
        <p:nvPicPr>
          <p:cNvPr id="13" name="图片 12">
            <a:extLst>
              <a:ext uri="{FF2B5EF4-FFF2-40B4-BE49-F238E27FC236}">
                <a16:creationId xmlns:a16="http://schemas.microsoft.com/office/drawing/2014/main" id="{C73074C1-6A83-4512-A05F-859D4E47AC91}"/>
              </a:ext>
            </a:extLst>
          </p:cNvPr>
          <p:cNvPicPr>
            <a:picLocks noChangeAspect="1"/>
          </p:cNvPicPr>
          <p:nvPr/>
        </p:nvPicPr>
        <p:blipFill>
          <a:blip r:embed="rId6"/>
          <a:stretch/>
        </p:blipFill>
        <p:spPr>
          <a:xfrm>
            <a:off x="8922697" y="1866900"/>
            <a:ext cx="1966606" cy="1971675"/>
          </a:xfrm>
          <a:prstGeom prst="rect">
            <a:avLst/>
          </a:prstGeom>
        </p:spPr>
      </p:pic>
      <p:sp>
        <p:nvSpPr>
          <p:cNvPr id="14" name="text-Cable bent wire: PaDiM misses; P">
            <a:extLst>
              <a:ext uri="{FF2B5EF4-FFF2-40B4-BE49-F238E27FC236}">
                <a16:creationId xmlns:a16="http://schemas.microsoft.com/office/drawing/2014/main" id="{63EC8466-D552-44D2-AB12-59E7EE5D2001}"/>
              </a:ext>
            </a:extLst>
          </p:cNvPr>
          <p:cNvSpPr>
            <a:spLocks noGrp="1"/>
          </p:cNvSpPr>
          <p:nvPr/>
        </p:nvSpPr>
        <p:spPr>
          <a:xfrm>
            <a:off x="609600" y="3952875"/>
            <a:ext cx="10972800" cy="323850"/>
          </a:xfrm>
          <a:prstGeom prst="rect">
            <a:avLst/>
          </a:prstGeom>
          <a:noFill/>
          <a:ln w="0">
            <a:noFill/>
          </a:ln>
        </p:spPr>
        <p:txBody>
          <a:bodyPr wrap="square" lIns="0" tIns="0" rIns="0" bIns="0" anchor="t">
            <a:noAutofit/>
          </a:bodyPr>
          <a:lstStyle>
            <a:defPPr algn="l">
              <a:defRPr sz="1875" b="0">
                <a:solidFill>
                  <a:srgbClr val="173047"/>
                </a:solidFill>
                <a:latin typeface="Arial"/>
                <a:ea typeface="Arial"/>
                <a:cs typeface="Arial"/>
              </a:defRPr>
            </a:defPPr>
            <a:lvl1pPr algn="l">
              <a:defRPr sz="1875" b="0">
                <a:solidFill>
                  <a:srgbClr val="173047"/>
                </a:solidFill>
                <a:latin typeface="Arial"/>
                <a:ea typeface="Arial"/>
                <a:cs typeface="Arial"/>
              </a:defRPr>
            </a:lvl1pPr>
            <a:lvl2pPr algn="l">
              <a:defRPr sz="1875" b="0">
                <a:solidFill>
                  <a:srgbClr val="173047"/>
                </a:solidFill>
                <a:latin typeface="Arial"/>
                <a:ea typeface="Arial"/>
                <a:cs typeface="Arial"/>
              </a:defRPr>
            </a:lvl2pPr>
            <a:lvl3pPr algn="l">
              <a:defRPr sz="1875" b="0">
                <a:solidFill>
                  <a:srgbClr val="173047"/>
                </a:solidFill>
                <a:latin typeface="Arial"/>
                <a:ea typeface="Arial"/>
                <a:cs typeface="Arial"/>
              </a:defRPr>
            </a:lvl3pPr>
            <a:lvl4pPr algn="l">
              <a:defRPr sz="1875" b="0">
                <a:solidFill>
                  <a:srgbClr val="173047"/>
                </a:solidFill>
                <a:latin typeface="Arial"/>
                <a:ea typeface="Arial"/>
                <a:cs typeface="Arial"/>
              </a:defRPr>
            </a:lvl4pPr>
            <a:lvl5pPr algn="l">
              <a:defRPr sz="1875" b="0">
                <a:solidFill>
                  <a:srgbClr val="173047"/>
                </a:solidFill>
                <a:latin typeface="Arial"/>
                <a:ea typeface="Arial"/>
                <a:cs typeface="Arial"/>
              </a:defRPr>
            </a:lvl5pPr>
            <a:lvl6pPr algn="l">
              <a:defRPr sz="1875" b="0">
                <a:solidFill>
                  <a:srgbClr val="173047"/>
                </a:solidFill>
                <a:latin typeface="Arial"/>
                <a:ea typeface="Arial"/>
                <a:cs typeface="Arial"/>
              </a:defRPr>
            </a:lvl6pPr>
            <a:lvl7pPr algn="l">
              <a:defRPr sz="1875" b="0">
                <a:solidFill>
                  <a:srgbClr val="173047"/>
                </a:solidFill>
                <a:latin typeface="Arial"/>
                <a:ea typeface="Arial"/>
                <a:cs typeface="Arial"/>
              </a:defRPr>
            </a:lvl7pPr>
            <a:lvl8pPr algn="l">
              <a:defRPr sz="1875" b="0">
                <a:solidFill>
                  <a:srgbClr val="173047"/>
                </a:solidFill>
                <a:latin typeface="Arial"/>
                <a:ea typeface="Arial"/>
                <a:cs typeface="Arial"/>
              </a:defRPr>
            </a:lvl8pPr>
            <a:lvl9pPr algn="l">
              <a:defRPr sz="1875" b="0">
                <a:solidFill>
                  <a:srgbClr val="173047"/>
                </a:solidFill>
                <a:latin typeface="Arial"/>
                <a:ea typeface="Arial"/>
                <a:cs typeface="Arial"/>
              </a:defRPr>
            </a:lvl9pPr>
          </a:lstStyle>
          <a:p>
            <a:pPr algn="l">
              <a:defRPr sz="1875" b="0">
                <a:solidFill>
                  <a:srgbClr val="173047"/>
                </a:solidFill>
                <a:latin typeface="Arial"/>
                <a:ea typeface="Arial"/>
                <a:cs typeface="Arial"/>
              </a:defRPr>
            </a:pPr>
            <a:r>
              <a:rPr sz="1875" b="0">
                <a:solidFill>
                  <a:srgbClr val="173047"/>
                </a:solidFill>
                <a:latin typeface="Arial"/>
                <a:ea typeface="Arial"/>
                <a:cs typeface="Arial"/>
              </a:rPr>
              <a:t>Cable bent wire: PaDiM misses; PatchCore detects</a:t>
            </a:r>
          </a:p>
        </p:txBody>
      </p:sp>
      <p:pic>
        <p:nvPicPr>
          <p:cNvPr id="15" name="图片 14">
            <a:extLst>
              <a:ext uri="{FF2B5EF4-FFF2-40B4-BE49-F238E27FC236}">
                <a16:creationId xmlns:a16="http://schemas.microsoft.com/office/drawing/2014/main" id="{B7C59521-5E45-43BC-86C9-FB4B1816ABA5}"/>
              </a:ext>
            </a:extLst>
          </p:cNvPr>
          <p:cNvPicPr>
            <a:picLocks noChangeAspect="1"/>
          </p:cNvPicPr>
          <p:nvPr/>
        </p:nvPicPr>
        <p:blipFill>
          <a:blip r:embed="rId7"/>
          <a:stretch/>
        </p:blipFill>
        <p:spPr>
          <a:xfrm>
            <a:off x="671945" y="4438650"/>
            <a:ext cx="2008909" cy="1381125"/>
          </a:xfrm>
          <a:prstGeom prst="rect">
            <a:avLst/>
          </a:prstGeom>
        </p:spPr>
      </p:pic>
      <p:pic>
        <p:nvPicPr>
          <p:cNvPr id="16" name="图片 15">
            <a:extLst>
              <a:ext uri="{FF2B5EF4-FFF2-40B4-BE49-F238E27FC236}">
                <a16:creationId xmlns:a16="http://schemas.microsoft.com/office/drawing/2014/main" id="{AD872FDA-1F1D-4229-ADEE-A4E9BE827968}"/>
              </a:ext>
            </a:extLst>
          </p:cNvPr>
          <p:cNvPicPr>
            <a:picLocks noChangeAspect="1"/>
          </p:cNvPicPr>
          <p:nvPr/>
        </p:nvPicPr>
        <p:blipFill>
          <a:blip r:embed="rId8"/>
          <a:stretch/>
        </p:blipFill>
        <p:spPr>
          <a:xfrm>
            <a:off x="3415145" y="4438650"/>
            <a:ext cx="2008909" cy="1381125"/>
          </a:xfrm>
          <a:prstGeom prst="rect">
            <a:avLst/>
          </a:prstGeom>
        </p:spPr>
      </p:pic>
      <p:pic>
        <p:nvPicPr>
          <p:cNvPr id="17" name="图片 16">
            <a:extLst>
              <a:ext uri="{FF2B5EF4-FFF2-40B4-BE49-F238E27FC236}">
                <a16:creationId xmlns:a16="http://schemas.microsoft.com/office/drawing/2014/main" id="{B44ECF13-EF61-4CA7-95A2-48B2E0EE2BE0}"/>
              </a:ext>
            </a:extLst>
          </p:cNvPr>
          <p:cNvPicPr>
            <a:picLocks noChangeAspect="1"/>
          </p:cNvPicPr>
          <p:nvPr/>
        </p:nvPicPr>
        <p:blipFill>
          <a:blip r:embed="rId9"/>
          <a:stretch/>
        </p:blipFill>
        <p:spPr>
          <a:xfrm>
            <a:off x="6158706" y="4438650"/>
            <a:ext cx="2008188" cy="1381125"/>
          </a:xfrm>
          <a:prstGeom prst="rect">
            <a:avLst/>
          </a:prstGeom>
        </p:spPr>
      </p:pic>
      <p:pic>
        <p:nvPicPr>
          <p:cNvPr id="18" name="图片 17">
            <a:extLst>
              <a:ext uri="{FF2B5EF4-FFF2-40B4-BE49-F238E27FC236}">
                <a16:creationId xmlns:a16="http://schemas.microsoft.com/office/drawing/2014/main" id="{38861C56-2C10-4F5D-A1BC-FD4D5ACE9A1B}"/>
              </a:ext>
            </a:extLst>
          </p:cNvPr>
          <p:cNvPicPr>
            <a:picLocks noChangeAspect="1"/>
          </p:cNvPicPr>
          <p:nvPr/>
        </p:nvPicPr>
        <p:blipFill>
          <a:blip r:embed="rId10"/>
          <a:stretch/>
        </p:blipFill>
        <p:spPr>
          <a:xfrm>
            <a:off x="8901906" y="4438650"/>
            <a:ext cx="2008188" cy="1381125"/>
          </a:xfrm>
          <a:prstGeom prst="rect">
            <a:avLst/>
          </a:prstGeom>
        </p:spPr>
      </p:pic>
      <p:sp>
        <p:nvSpPr>
          <p:cNvPr id="19" name="text-Screw bag, logical anomaly: both">
            <a:extLst>
              <a:ext uri="{FF2B5EF4-FFF2-40B4-BE49-F238E27FC236}">
                <a16:creationId xmlns:a16="http://schemas.microsoft.com/office/drawing/2014/main" id="{6E098D12-19F4-443A-ABC8-F2D356C8DDF6}"/>
              </a:ext>
            </a:extLst>
          </p:cNvPr>
          <p:cNvSpPr>
            <a:spLocks noGrp="1"/>
          </p:cNvSpPr>
          <p:nvPr/>
        </p:nvSpPr>
        <p:spPr>
          <a:xfrm>
            <a:off x="609600" y="5895975"/>
            <a:ext cx="6191250" cy="304800"/>
          </a:xfrm>
          <a:prstGeom prst="rect">
            <a:avLst/>
          </a:prstGeom>
          <a:noFill/>
          <a:ln w="0">
            <a:noFill/>
          </a:ln>
        </p:spPr>
        <p:txBody>
          <a:bodyPr wrap="square" lIns="0" tIns="0" rIns="0" bIns="0" anchor="t">
            <a:noAutofit/>
          </a:bodyPr>
          <a:lstStyle>
            <a:defPPr algn="l">
              <a:defRPr sz="1875" b="0">
                <a:solidFill>
                  <a:srgbClr val="173047"/>
                </a:solidFill>
                <a:latin typeface="Arial"/>
                <a:ea typeface="Arial"/>
                <a:cs typeface="Arial"/>
              </a:defRPr>
            </a:defPPr>
            <a:lvl1pPr algn="l">
              <a:defRPr sz="1875" b="0">
                <a:solidFill>
                  <a:srgbClr val="173047"/>
                </a:solidFill>
                <a:latin typeface="Arial"/>
                <a:ea typeface="Arial"/>
                <a:cs typeface="Arial"/>
              </a:defRPr>
            </a:lvl1pPr>
            <a:lvl2pPr algn="l">
              <a:defRPr sz="1875" b="0">
                <a:solidFill>
                  <a:srgbClr val="173047"/>
                </a:solidFill>
                <a:latin typeface="Arial"/>
                <a:ea typeface="Arial"/>
                <a:cs typeface="Arial"/>
              </a:defRPr>
            </a:lvl2pPr>
            <a:lvl3pPr algn="l">
              <a:defRPr sz="1875" b="0">
                <a:solidFill>
                  <a:srgbClr val="173047"/>
                </a:solidFill>
                <a:latin typeface="Arial"/>
                <a:ea typeface="Arial"/>
                <a:cs typeface="Arial"/>
              </a:defRPr>
            </a:lvl3pPr>
            <a:lvl4pPr algn="l">
              <a:defRPr sz="1875" b="0">
                <a:solidFill>
                  <a:srgbClr val="173047"/>
                </a:solidFill>
                <a:latin typeface="Arial"/>
                <a:ea typeface="Arial"/>
                <a:cs typeface="Arial"/>
              </a:defRPr>
            </a:lvl4pPr>
            <a:lvl5pPr algn="l">
              <a:defRPr sz="1875" b="0">
                <a:solidFill>
                  <a:srgbClr val="173047"/>
                </a:solidFill>
                <a:latin typeface="Arial"/>
                <a:ea typeface="Arial"/>
                <a:cs typeface="Arial"/>
              </a:defRPr>
            </a:lvl5pPr>
            <a:lvl6pPr algn="l">
              <a:defRPr sz="1875" b="0">
                <a:solidFill>
                  <a:srgbClr val="173047"/>
                </a:solidFill>
                <a:latin typeface="Arial"/>
                <a:ea typeface="Arial"/>
                <a:cs typeface="Arial"/>
              </a:defRPr>
            </a:lvl6pPr>
            <a:lvl7pPr algn="l">
              <a:defRPr sz="1875" b="0">
                <a:solidFill>
                  <a:srgbClr val="173047"/>
                </a:solidFill>
                <a:latin typeface="Arial"/>
                <a:ea typeface="Arial"/>
                <a:cs typeface="Arial"/>
              </a:defRPr>
            </a:lvl7pPr>
            <a:lvl8pPr algn="l">
              <a:defRPr sz="1875" b="0">
                <a:solidFill>
                  <a:srgbClr val="173047"/>
                </a:solidFill>
                <a:latin typeface="Arial"/>
                <a:ea typeface="Arial"/>
                <a:cs typeface="Arial"/>
              </a:defRPr>
            </a:lvl8pPr>
            <a:lvl9pPr algn="l">
              <a:defRPr sz="1875" b="0">
                <a:solidFill>
                  <a:srgbClr val="173047"/>
                </a:solidFill>
                <a:latin typeface="Arial"/>
                <a:ea typeface="Arial"/>
                <a:cs typeface="Arial"/>
              </a:defRPr>
            </a:lvl9pPr>
          </a:lstStyle>
          <a:p>
            <a:pPr algn="l">
              <a:defRPr sz="1875" b="0">
                <a:solidFill>
                  <a:srgbClr val="173047"/>
                </a:solidFill>
                <a:latin typeface="Arial"/>
                <a:ea typeface="Arial"/>
                <a:cs typeface="Arial"/>
              </a:defRPr>
            </a:pPr>
            <a:r>
              <a:rPr sz="1875" b="0">
                <a:solidFill>
                  <a:srgbClr val="173047"/>
                </a:solidFill>
                <a:latin typeface="Arial"/>
                <a:ea typeface="Arial"/>
                <a:cs typeface="Arial"/>
              </a:rPr>
              <a:t>Screw bag, logical anomaly: both miss</a:t>
            </a:r>
          </a:p>
        </p:txBody>
      </p:sp>
      <p:sp>
        <p:nvSpPr>
          <p:cNvPr id="20" name="text-Logical AUROC (seed 17): 51.68% ">
            <a:extLst>
              <a:ext uri="{FF2B5EF4-FFF2-40B4-BE49-F238E27FC236}">
                <a16:creationId xmlns:a16="http://schemas.microsoft.com/office/drawing/2014/main" id="{2BDCA69E-0786-41A8-843D-6C2292918EF9}"/>
              </a:ext>
            </a:extLst>
          </p:cNvPr>
          <p:cNvSpPr>
            <a:spLocks noGrp="1"/>
          </p:cNvSpPr>
          <p:nvPr/>
        </p:nvSpPr>
        <p:spPr>
          <a:xfrm>
            <a:off x="6705600" y="5895975"/>
            <a:ext cx="4876800" cy="304800"/>
          </a:xfrm>
          <a:prstGeom prst="rect">
            <a:avLst/>
          </a:prstGeom>
          <a:noFill/>
          <a:ln w="0">
            <a:noFill/>
          </a:ln>
        </p:spPr>
        <p:txBody>
          <a:bodyPr wrap="square" lIns="0" tIns="0" rIns="0" bIns="0" anchor="t">
            <a:noAutofit/>
          </a:bodyPr>
          <a:lstStyle>
            <a:defPPr algn="r">
              <a:defRPr sz="1575" b="0">
                <a:solidFill>
                  <a:srgbClr val="586A79"/>
                </a:solidFill>
                <a:latin typeface="Arial"/>
                <a:ea typeface="Arial"/>
                <a:cs typeface="Arial"/>
              </a:defRPr>
            </a:defPPr>
            <a:lvl1pPr algn="r">
              <a:defRPr sz="1575" b="0">
                <a:solidFill>
                  <a:srgbClr val="586A79"/>
                </a:solidFill>
                <a:latin typeface="Arial"/>
                <a:ea typeface="Arial"/>
                <a:cs typeface="Arial"/>
              </a:defRPr>
            </a:lvl1pPr>
            <a:lvl2pPr algn="r">
              <a:defRPr sz="1575" b="0">
                <a:solidFill>
                  <a:srgbClr val="586A79"/>
                </a:solidFill>
                <a:latin typeface="Arial"/>
                <a:ea typeface="Arial"/>
                <a:cs typeface="Arial"/>
              </a:defRPr>
            </a:lvl2pPr>
            <a:lvl3pPr algn="r">
              <a:defRPr sz="1575" b="0">
                <a:solidFill>
                  <a:srgbClr val="586A79"/>
                </a:solidFill>
                <a:latin typeface="Arial"/>
                <a:ea typeface="Arial"/>
                <a:cs typeface="Arial"/>
              </a:defRPr>
            </a:lvl3pPr>
            <a:lvl4pPr algn="r">
              <a:defRPr sz="1575" b="0">
                <a:solidFill>
                  <a:srgbClr val="586A79"/>
                </a:solidFill>
                <a:latin typeface="Arial"/>
                <a:ea typeface="Arial"/>
                <a:cs typeface="Arial"/>
              </a:defRPr>
            </a:lvl4pPr>
            <a:lvl5pPr algn="r">
              <a:defRPr sz="1575" b="0">
                <a:solidFill>
                  <a:srgbClr val="586A79"/>
                </a:solidFill>
                <a:latin typeface="Arial"/>
                <a:ea typeface="Arial"/>
                <a:cs typeface="Arial"/>
              </a:defRPr>
            </a:lvl5pPr>
            <a:lvl6pPr algn="r">
              <a:defRPr sz="1575" b="0">
                <a:solidFill>
                  <a:srgbClr val="586A79"/>
                </a:solidFill>
                <a:latin typeface="Arial"/>
                <a:ea typeface="Arial"/>
                <a:cs typeface="Arial"/>
              </a:defRPr>
            </a:lvl6pPr>
            <a:lvl7pPr algn="r">
              <a:defRPr sz="1575" b="0">
                <a:solidFill>
                  <a:srgbClr val="586A79"/>
                </a:solidFill>
                <a:latin typeface="Arial"/>
                <a:ea typeface="Arial"/>
                <a:cs typeface="Arial"/>
              </a:defRPr>
            </a:lvl7pPr>
            <a:lvl8pPr algn="r">
              <a:defRPr sz="1575" b="0">
                <a:solidFill>
                  <a:srgbClr val="586A79"/>
                </a:solidFill>
                <a:latin typeface="Arial"/>
                <a:ea typeface="Arial"/>
                <a:cs typeface="Arial"/>
              </a:defRPr>
            </a:lvl8pPr>
            <a:lvl9pPr algn="r">
              <a:defRPr sz="1575" b="0">
                <a:solidFill>
                  <a:srgbClr val="586A79"/>
                </a:solidFill>
                <a:latin typeface="Arial"/>
                <a:ea typeface="Arial"/>
                <a:cs typeface="Arial"/>
              </a:defRPr>
            </a:lvl9pPr>
          </a:lstStyle>
          <a:p>
            <a:pPr algn="r">
              <a:defRPr sz="1575" b="0">
                <a:solidFill>
                  <a:srgbClr val="586A79"/>
                </a:solidFill>
                <a:latin typeface="Arial"/>
                <a:ea typeface="Arial"/>
                <a:cs typeface="Arial"/>
              </a:defRPr>
            </a:pPr>
            <a:r>
              <a:rPr sz="1575" b="0">
                <a:solidFill>
                  <a:srgbClr val="586A79"/>
                </a:solidFill>
                <a:latin typeface="Arial"/>
                <a:ea typeface="Arial"/>
                <a:cs typeface="Arial"/>
              </a:rPr>
              <a:t>Logical AUROC (seed 17): 51.68% / 55.98%</a:t>
            </a:r>
          </a:p>
        </p:txBody>
      </p:sp>
    </p:spTree>
    <p:extLst>
      <p:ext uri="{BB962C8B-B14F-4D97-AF65-F5344CB8AC3E}">
        <p14:creationId xmlns:p14="http://schemas.microsoft.com/office/powerpoint/2010/main" val="20117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Conclusions">
            <a:extLst>
              <a:ext uri="{FF2B5EF4-FFF2-40B4-BE49-F238E27FC236}">
                <a16:creationId xmlns:a16="http://schemas.microsoft.com/office/drawing/2014/main" id="{B5D39149-35DE-4DB3-9773-4476339FD90F}"/>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Conclusions</a:t>
            </a:r>
          </a:p>
        </p:txBody>
      </p:sp>
      <p:sp>
        <p:nvSpPr>
          <p:cNvPr id="2" name="矩形 1">
            <a:extLst>
              <a:ext uri="{FF2B5EF4-FFF2-40B4-BE49-F238E27FC236}">
                <a16:creationId xmlns:a16="http://schemas.microsoft.com/office/drawing/2014/main" id="{DE665AE7-FD9C-4A57-938B-D68C5857EE9F}"/>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AA49B0B7-7D49-4C08-9160-DA3AE5789BB2}"/>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C    08 / 08">
            <a:extLst>
              <a:ext uri="{FF2B5EF4-FFF2-40B4-BE49-F238E27FC236}">
                <a16:creationId xmlns:a16="http://schemas.microsoft.com/office/drawing/2014/main" id="{65AD4F7F-A9B2-4D34-AD43-DE2721F997AA}"/>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08 / 08</a:t>
            </a:r>
          </a:p>
        </p:txBody>
      </p:sp>
      <p:sp>
        <p:nvSpPr>
          <p:cNvPr id="5" name="text-01">
            <a:extLst>
              <a:ext uri="{FF2B5EF4-FFF2-40B4-BE49-F238E27FC236}">
                <a16:creationId xmlns:a16="http://schemas.microsoft.com/office/drawing/2014/main" id="{8876F9C0-5FEA-4574-A42F-F82AF40D4F68}"/>
              </a:ext>
            </a:extLst>
          </p:cNvPr>
          <p:cNvSpPr>
            <a:spLocks noGrp="1"/>
          </p:cNvSpPr>
          <p:nvPr/>
        </p:nvSpPr>
        <p:spPr>
          <a:xfrm>
            <a:off x="609600" y="1733550"/>
            <a:ext cx="838200" cy="542925"/>
          </a:xfrm>
          <a:prstGeom prst="rect">
            <a:avLst/>
          </a:prstGeom>
          <a:noFill/>
          <a:ln w="0">
            <a:noFill/>
          </a:ln>
        </p:spPr>
        <p:txBody>
          <a:bodyPr wrap="square" lIns="0" tIns="0" rIns="0" bIns="0" anchor="t">
            <a:noAutofit/>
          </a:bodyPr>
          <a:lstStyle>
            <a:defPPr algn="l">
              <a:defRPr sz="2925" b="1">
                <a:solidFill>
                  <a:srgbClr val="C77735"/>
                </a:solidFill>
                <a:latin typeface="Arial"/>
                <a:ea typeface="Arial"/>
                <a:cs typeface="Arial"/>
              </a:defRPr>
            </a:defPPr>
            <a:lvl1pPr algn="l">
              <a:defRPr sz="2925" b="1">
                <a:solidFill>
                  <a:srgbClr val="C77735"/>
                </a:solidFill>
                <a:latin typeface="Arial"/>
                <a:ea typeface="Arial"/>
                <a:cs typeface="Arial"/>
              </a:defRPr>
            </a:lvl1pPr>
            <a:lvl2pPr algn="l">
              <a:defRPr sz="2925" b="1">
                <a:solidFill>
                  <a:srgbClr val="C77735"/>
                </a:solidFill>
                <a:latin typeface="Arial"/>
                <a:ea typeface="Arial"/>
                <a:cs typeface="Arial"/>
              </a:defRPr>
            </a:lvl2pPr>
            <a:lvl3pPr algn="l">
              <a:defRPr sz="2925" b="1">
                <a:solidFill>
                  <a:srgbClr val="C77735"/>
                </a:solidFill>
                <a:latin typeface="Arial"/>
                <a:ea typeface="Arial"/>
                <a:cs typeface="Arial"/>
              </a:defRPr>
            </a:lvl3pPr>
            <a:lvl4pPr algn="l">
              <a:defRPr sz="2925" b="1">
                <a:solidFill>
                  <a:srgbClr val="C77735"/>
                </a:solidFill>
                <a:latin typeface="Arial"/>
                <a:ea typeface="Arial"/>
                <a:cs typeface="Arial"/>
              </a:defRPr>
            </a:lvl4pPr>
            <a:lvl5pPr algn="l">
              <a:defRPr sz="2925" b="1">
                <a:solidFill>
                  <a:srgbClr val="C77735"/>
                </a:solidFill>
                <a:latin typeface="Arial"/>
                <a:ea typeface="Arial"/>
                <a:cs typeface="Arial"/>
              </a:defRPr>
            </a:lvl5pPr>
            <a:lvl6pPr algn="l">
              <a:defRPr sz="2925" b="1">
                <a:solidFill>
                  <a:srgbClr val="C77735"/>
                </a:solidFill>
                <a:latin typeface="Arial"/>
                <a:ea typeface="Arial"/>
                <a:cs typeface="Arial"/>
              </a:defRPr>
            </a:lvl6pPr>
            <a:lvl7pPr algn="l">
              <a:defRPr sz="2925" b="1">
                <a:solidFill>
                  <a:srgbClr val="C77735"/>
                </a:solidFill>
                <a:latin typeface="Arial"/>
                <a:ea typeface="Arial"/>
                <a:cs typeface="Arial"/>
              </a:defRPr>
            </a:lvl7pPr>
            <a:lvl8pPr algn="l">
              <a:defRPr sz="2925" b="1">
                <a:solidFill>
                  <a:srgbClr val="C77735"/>
                </a:solidFill>
                <a:latin typeface="Arial"/>
                <a:ea typeface="Arial"/>
                <a:cs typeface="Arial"/>
              </a:defRPr>
            </a:lvl8pPr>
            <a:lvl9pPr algn="l">
              <a:defRPr sz="2925" b="1">
                <a:solidFill>
                  <a:srgbClr val="C77735"/>
                </a:solidFill>
                <a:latin typeface="Arial"/>
                <a:ea typeface="Arial"/>
                <a:cs typeface="Arial"/>
              </a:defRPr>
            </a:lvl9pPr>
          </a:lstStyle>
          <a:p>
            <a:pPr algn="l">
              <a:defRPr sz="2925" b="1">
                <a:solidFill>
                  <a:srgbClr val="C77735"/>
                </a:solidFill>
                <a:latin typeface="Arial"/>
                <a:ea typeface="Arial"/>
                <a:cs typeface="Arial"/>
              </a:defRPr>
            </a:pPr>
            <a:r>
              <a:rPr sz="2925" b="1">
                <a:solidFill>
                  <a:srgbClr val="C77735"/>
                </a:solidFill>
                <a:latin typeface="Arial"/>
                <a:ea typeface="Arial"/>
                <a:cs typeface="Arial"/>
              </a:rPr>
              <a:t>01</a:t>
            </a:r>
          </a:p>
        </p:txBody>
      </p:sp>
      <p:sp>
        <p:nvSpPr>
          <p:cNvPr id="6" name="text-PatchCore is stronger in this se">
            <a:extLst>
              <a:ext uri="{FF2B5EF4-FFF2-40B4-BE49-F238E27FC236}">
                <a16:creationId xmlns:a16="http://schemas.microsoft.com/office/drawing/2014/main" id="{2009ED98-04D5-45B4-B567-3F820F1969C6}"/>
              </a:ext>
            </a:extLst>
          </p:cNvPr>
          <p:cNvSpPr>
            <a:spLocks noGrp="1"/>
          </p:cNvSpPr>
          <p:nvPr/>
        </p:nvSpPr>
        <p:spPr>
          <a:xfrm>
            <a:off x="1685925" y="1752600"/>
            <a:ext cx="9896475" cy="800100"/>
          </a:xfrm>
          <a:prstGeom prst="rect">
            <a:avLst/>
          </a:prstGeom>
          <a:noFill/>
          <a:ln w="0">
            <a:noFill/>
          </a:ln>
        </p:spPr>
        <p:txBody>
          <a:bodyPr wrap="square" lIns="0" tIns="0" rIns="0" bIns="0" anchor="t">
            <a:noAutofit/>
          </a:bodyPr>
          <a:lstStyle>
            <a:defPPr algn="l">
              <a:defRPr sz="2550" b="1">
                <a:solidFill>
                  <a:srgbClr val="173047"/>
                </a:solidFill>
                <a:latin typeface="Arial"/>
                <a:ea typeface="Arial"/>
                <a:cs typeface="Arial"/>
              </a:defRPr>
            </a:defPPr>
            <a:lvl1pPr algn="l">
              <a:defRPr sz="2550" b="1">
                <a:solidFill>
                  <a:srgbClr val="173047"/>
                </a:solidFill>
                <a:latin typeface="Arial"/>
                <a:ea typeface="Arial"/>
                <a:cs typeface="Arial"/>
              </a:defRPr>
            </a:lvl1pPr>
            <a:lvl2pPr algn="l">
              <a:defRPr sz="2550" b="1">
                <a:solidFill>
                  <a:srgbClr val="173047"/>
                </a:solidFill>
                <a:latin typeface="Arial"/>
                <a:ea typeface="Arial"/>
                <a:cs typeface="Arial"/>
              </a:defRPr>
            </a:lvl2pPr>
            <a:lvl3pPr algn="l">
              <a:defRPr sz="2550" b="1">
                <a:solidFill>
                  <a:srgbClr val="173047"/>
                </a:solidFill>
                <a:latin typeface="Arial"/>
                <a:ea typeface="Arial"/>
                <a:cs typeface="Arial"/>
              </a:defRPr>
            </a:lvl3pPr>
            <a:lvl4pPr algn="l">
              <a:defRPr sz="2550" b="1">
                <a:solidFill>
                  <a:srgbClr val="173047"/>
                </a:solidFill>
                <a:latin typeface="Arial"/>
                <a:ea typeface="Arial"/>
                <a:cs typeface="Arial"/>
              </a:defRPr>
            </a:lvl4pPr>
            <a:lvl5pPr algn="l">
              <a:defRPr sz="2550" b="1">
                <a:solidFill>
                  <a:srgbClr val="173047"/>
                </a:solidFill>
                <a:latin typeface="Arial"/>
                <a:ea typeface="Arial"/>
                <a:cs typeface="Arial"/>
              </a:defRPr>
            </a:lvl5pPr>
            <a:lvl6pPr algn="l">
              <a:defRPr sz="2550" b="1">
                <a:solidFill>
                  <a:srgbClr val="173047"/>
                </a:solidFill>
                <a:latin typeface="Arial"/>
                <a:ea typeface="Arial"/>
                <a:cs typeface="Arial"/>
              </a:defRPr>
            </a:lvl6pPr>
            <a:lvl7pPr algn="l">
              <a:defRPr sz="2550" b="1">
                <a:solidFill>
                  <a:srgbClr val="173047"/>
                </a:solidFill>
                <a:latin typeface="Arial"/>
                <a:ea typeface="Arial"/>
                <a:cs typeface="Arial"/>
              </a:defRPr>
            </a:lvl7pPr>
            <a:lvl8pPr algn="l">
              <a:defRPr sz="2550" b="1">
                <a:solidFill>
                  <a:srgbClr val="173047"/>
                </a:solidFill>
                <a:latin typeface="Arial"/>
                <a:ea typeface="Arial"/>
                <a:cs typeface="Arial"/>
              </a:defRPr>
            </a:lvl8pPr>
            <a:lvl9pPr algn="l">
              <a:defRPr sz="2550" b="1">
                <a:solidFill>
                  <a:srgbClr val="173047"/>
                </a:solidFill>
                <a:latin typeface="Arial"/>
                <a:ea typeface="Arial"/>
                <a:cs typeface="Arial"/>
              </a:defRPr>
            </a:lvl9pPr>
          </a:lstStyle>
          <a:p>
            <a:pPr algn="l">
              <a:defRPr sz="2550" b="1">
                <a:solidFill>
                  <a:srgbClr val="173047"/>
                </a:solidFill>
                <a:latin typeface="Arial"/>
                <a:ea typeface="Arial"/>
                <a:cs typeface="Arial"/>
              </a:defRPr>
            </a:pPr>
            <a:r>
              <a:rPr sz="2550" b="1">
                <a:solidFill>
                  <a:srgbClr val="173047"/>
                </a:solidFill>
                <a:latin typeface="Arial"/>
                <a:ea typeface="Arial"/>
                <a:cs typeface="Arial"/>
              </a:rPr>
              <a:t>PatchCore is stronger in this setting</a:t>
            </a:r>
          </a:p>
        </p:txBody>
      </p:sp>
      <p:sp>
        <p:nvSpPr>
          <p:cNvPr id="7" name="text-02">
            <a:extLst>
              <a:ext uri="{FF2B5EF4-FFF2-40B4-BE49-F238E27FC236}">
                <a16:creationId xmlns:a16="http://schemas.microsoft.com/office/drawing/2014/main" id="{3E772BA1-FD2A-421A-BF91-CEDCA932A49C}"/>
              </a:ext>
            </a:extLst>
          </p:cNvPr>
          <p:cNvSpPr>
            <a:spLocks noGrp="1"/>
          </p:cNvSpPr>
          <p:nvPr/>
        </p:nvSpPr>
        <p:spPr>
          <a:xfrm>
            <a:off x="609600" y="2857500"/>
            <a:ext cx="838200" cy="542925"/>
          </a:xfrm>
          <a:prstGeom prst="rect">
            <a:avLst/>
          </a:prstGeom>
          <a:noFill/>
          <a:ln w="0">
            <a:noFill/>
          </a:ln>
        </p:spPr>
        <p:txBody>
          <a:bodyPr wrap="square" lIns="0" tIns="0" rIns="0" bIns="0" anchor="t">
            <a:noAutofit/>
          </a:bodyPr>
          <a:lstStyle>
            <a:defPPr algn="l">
              <a:defRPr sz="2925" b="1">
                <a:solidFill>
                  <a:srgbClr val="C77735"/>
                </a:solidFill>
                <a:latin typeface="Arial"/>
                <a:ea typeface="Arial"/>
                <a:cs typeface="Arial"/>
              </a:defRPr>
            </a:defPPr>
            <a:lvl1pPr algn="l">
              <a:defRPr sz="2925" b="1">
                <a:solidFill>
                  <a:srgbClr val="C77735"/>
                </a:solidFill>
                <a:latin typeface="Arial"/>
                <a:ea typeface="Arial"/>
                <a:cs typeface="Arial"/>
              </a:defRPr>
            </a:lvl1pPr>
            <a:lvl2pPr algn="l">
              <a:defRPr sz="2925" b="1">
                <a:solidFill>
                  <a:srgbClr val="C77735"/>
                </a:solidFill>
                <a:latin typeface="Arial"/>
                <a:ea typeface="Arial"/>
                <a:cs typeface="Arial"/>
              </a:defRPr>
            </a:lvl2pPr>
            <a:lvl3pPr algn="l">
              <a:defRPr sz="2925" b="1">
                <a:solidFill>
                  <a:srgbClr val="C77735"/>
                </a:solidFill>
                <a:latin typeface="Arial"/>
                <a:ea typeface="Arial"/>
                <a:cs typeface="Arial"/>
              </a:defRPr>
            </a:lvl3pPr>
            <a:lvl4pPr algn="l">
              <a:defRPr sz="2925" b="1">
                <a:solidFill>
                  <a:srgbClr val="C77735"/>
                </a:solidFill>
                <a:latin typeface="Arial"/>
                <a:ea typeface="Arial"/>
                <a:cs typeface="Arial"/>
              </a:defRPr>
            </a:lvl4pPr>
            <a:lvl5pPr algn="l">
              <a:defRPr sz="2925" b="1">
                <a:solidFill>
                  <a:srgbClr val="C77735"/>
                </a:solidFill>
                <a:latin typeface="Arial"/>
                <a:ea typeface="Arial"/>
                <a:cs typeface="Arial"/>
              </a:defRPr>
            </a:lvl5pPr>
            <a:lvl6pPr algn="l">
              <a:defRPr sz="2925" b="1">
                <a:solidFill>
                  <a:srgbClr val="C77735"/>
                </a:solidFill>
                <a:latin typeface="Arial"/>
                <a:ea typeface="Arial"/>
                <a:cs typeface="Arial"/>
              </a:defRPr>
            </a:lvl6pPr>
            <a:lvl7pPr algn="l">
              <a:defRPr sz="2925" b="1">
                <a:solidFill>
                  <a:srgbClr val="C77735"/>
                </a:solidFill>
                <a:latin typeface="Arial"/>
                <a:ea typeface="Arial"/>
                <a:cs typeface="Arial"/>
              </a:defRPr>
            </a:lvl7pPr>
            <a:lvl8pPr algn="l">
              <a:defRPr sz="2925" b="1">
                <a:solidFill>
                  <a:srgbClr val="C77735"/>
                </a:solidFill>
                <a:latin typeface="Arial"/>
                <a:ea typeface="Arial"/>
                <a:cs typeface="Arial"/>
              </a:defRPr>
            </a:lvl8pPr>
            <a:lvl9pPr algn="l">
              <a:defRPr sz="2925" b="1">
                <a:solidFill>
                  <a:srgbClr val="C77735"/>
                </a:solidFill>
                <a:latin typeface="Arial"/>
                <a:ea typeface="Arial"/>
                <a:cs typeface="Arial"/>
              </a:defRPr>
            </a:lvl9pPr>
          </a:lstStyle>
          <a:p>
            <a:pPr algn="l">
              <a:defRPr sz="2925" b="1">
                <a:solidFill>
                  <a:srgbClr val="C77735"/>
                </a:solidFill>
                <a:latin typeface="Arial"/>
                <a:ea typeface="Arial"/>
                <a:cs typeface="Arial"/>
              </a:defRPr>
            </a:pPr>
            <a:r>
              <a:rPr sz="2925" b="1">
                <a:solidFill>
                  <a:srgbClr val="C77735"/>
                </a:solidFill>
                <a:latin typeface="Arial"/>
                <a:ea typeface="Arial"/>
                <a:cs typeface="Arial"/>
              </a:rPr>
              <a:t>02</a:t>
            </a:r>
          </a:p>
        </p:txBody>
      </p:sp>
      <p:sp>
        <p:nvSpPr>
          <p:cNvPr id="8" name="text-Normal coverage and representati">
            <a:extLst>
              <a:ext uri="{FF2B5EF4-FFF2-40B4-BE49-F238E27FC236}">
                <a16:creationId xmlns:a16="http://schemas.microsoft.com/office/drawing/2014/main" id="{82D1810C-0E8D-40E3-AE51-7666E30E8823}"/>
              </a:ext>
            </a:extLst>
          </p:cNvPr>
          <p:cNvSpPr>
            <a:spLocks noGrp="1"/>
          </p:cNvSpPr>
          <p:nvPr/>
        </p:nvSpPr>
        <p:spPr>
          <a:xfrm>
            <a:off x="1685925" y="2876550"/>
            <a:ext cx="9896475" cy="800100"/>
          </a:xfrm>
          <a:prstGeom prst="rect">
            <a:avLst/>
          </a:prstGeom>
          <a:noFill/>
          <a:ln w="0">
            <a:noFill/>
          </a:ln>
        </p:spPr>
        <p:txBody>
          <a:bodyPr wrap="square" lIns="0" tIns="0" rIns="0" bIns="0" anchor="t">
            <a:noAutofit/>
          </a:bodyPr>
          <a:lstStyle>
            <a:defPPr algn="l">
              <a:defRPr sz="2550" b="1">
                <a:solidFill>
                  <a:srgbClr val="173047"/>
                </a:solidFill>
                <a:latin typeface="Arial"/>
                <a:ea typeface="Arial"/>
                <a:cs typeface="Arial"/>
              </a:defRPr>
            </a:defPPr>
            <a:lvl1pPr algn="l">
              <a:defRPr sz="2550" b="1">
                <a:solidFill>
                  <a:srgbClr val="173047"/>
                </a:solidFill>
                <a:latin typeface="Arial"/>
                <a:ea typeface="Arial"/>
                <a:cs typeface="Arial"/>
              </a:defRPr>
            </a:lvl1pPr>
            <a:lvl2pPr algn="l">
              <a:defRPr sz="2550" b="1">
                <a:solidFill>
                  <a:srgbClr val="173047"/>
                </a:solidFill>
                <a:latin typeface="Arial"/>
                <a:ea typeface="Arial"/>
                <a:cs typeface="Arial"/>
              </a:defRPr>
            </a:lvl2pPr>
            <a:lvl3pPr algn="l">
              <a:defRPr sz="2550" b="1">
                <a:solidFill>
                  <a:srgbClr val="173047"/>
                </a:solidFill>
                <a:latin typeface="Arial"/>
                <a:ea typeface="Arial"/>
                <a:cs typeface="Arial"/>
              </a:defRPr>
            </a:lvl3pPr>
            <a:lvl4pPr algn="l">
              <a:defRPr sz="2550" b="1">
                <a:solidFill>
                  <a:srgbClr val="173047"/>
                </a:solidFill>
                <a:latin typeface="Arial"/>
                <a:ea typeface="Arial"/>
                <a:cs typeface="Arial"/>
              </a:defRPr>
            </a:lvl4pPr>
            <a:lvl5pPr algn="l">
              <a:defRPr sz="2550" b="1">
                <a:solidFill>
                  <a:srgbClr val="173047"/>
                </a:solidFill>
                <a:latin typeface="Arial"/>
                <a:ea typeface="Arial"/>
                <a:cs typeface="Arial"/>
              </a:defRPr>
            </a:lvl5pPr>
            <a:lvl6pPr algn="l">
              <a:defRPr sz="2550" b="1">
                <a:solidFill>
                  <a:srgbClr val="173047"/>
                </a:solidFill>
                <a:latin typeface="Arial"/>
                <a:ea typeface="Arial"/>
                <a:cs typeface="Arial"/>
              </a:defRPr>
            </a:lvl6pPr>
            <a:lvl7pPr algn="l">
              <a:defRPr sz="2550" b="1">
                <a:solidFill>
                  <a:srgbClr val="173047"/>
                </a:solidFill>
                <a:latin typeface="Arial"/>
                <a:ea typeface="Arial"/>
                <a:cs typeface="Arial"/>
              </a:defRPr>
            </a:lvl7pPr>
            <a:lvl8pPr algn="l">
              <a:defRPr sz="2550" b="1">
                <a:solidFill>
                  <a:srgbClr val="173047"/>
                </a:solidFill>
                <a:latin typeface="Arial"/>
                <a:ea typeface="Arial"/>
                <a:cs typeface="Arial"/>
              </a:defRPr>
            </a:lvl8pPr>
            <a:lvl9pPr algn="l">
              <a:defRPr sz="2550" b="1">
                <a:solidFill>
                  <a:srgbClr val="173047"/>
                </a:solidFill>
                <a:latin typeface="Arial"/>
                <a:ea typeface="Arial"/>
                <a:cs typeface="Arial"/>
              </a:defRPr>
            </a:lvl9pPr>
          </a:lstStyle>
          <a:p>
            <a:pPr algn="l">
              <a:defRPr sz="2550" b="1">
                <a:solidFill>
                  <a:srgbClr val="173047"/>
                </a:solidFill>
                <a:latin typeface="Arial"/>
                <a:ea typeface="Arial"/>
                <a:cs typeface="Arial"/>
              </a:defRPr>
            </a:pPr>
            <a:r>
              <a:rPr sz="2550" b="1">
                <a:solidFill>
                  <a:srgbClr val="173047"/>
                </a:solidFill>
                <a:latin typeface="Arial"/>
                <a:ea typeface="Arial"/>
                <a:cs typeface="Arial"/>
              </a:rPr>
              <a:t>Normal coverage and representative sampling matter</a:t>
            </a:r>
          </a:p>
        </p:txBody>
      </p:sp>
      <p:sp>
        <p:nvSpPr>
          <p:cNvPr id="9" name="text-03">
            <a:extLst>
              <a:ext uri="{FF2B5EF4-FFF2-40B4-BE49-F238E27FC236}">
                <a16:creationId xmlns:a16="http://schemas.microsoft.com/office/drawing/2014/main" id="{434343F5-E5E0-4CEB-A91B-63ADB1D8D028}"/>
              </a:ext>
            </a:extLst>
          </p:cNvPr>
          <p:cNvSpPr>
            <a:spLocks noGrp="1"/>
          </p:cNvSpPr>
          <p:nvPr/>
        </p:nvSpPr>
        <p:spPr>
          <a:xfrm>
            <a:off x="609600" y="3981450"/>
            <a:ext cx="838200" cy="542925"/>
          </a:xfrm>
          <a:prstGeom prst="rect">
            <a:avLst/>
          </a:prstGeom>
          <a:noFill/>
          <a:ln w="0">
            <a:noFill/>
          </a:ln>
        </p:spPr>
        <p:txBody>
          <a:bodyPr wrap="square" lIns="0" tIns="0" rIns="0" bIns="0" anchor="t">
            <a:noAutofit/>
          </a:bodyPr>
          <a:lstStyle>
            <a:defPPr algn="l">
              <a:defRPr sz="2925" b="1">
                <a:solidFill>
                  <a:srgbClr val="C77735"/>
                </a:solidFill>
                <a:latin typeface="Arial"/>
                <a:ea typeface="Arial"/>
                <a:cs typeface="Arial"/>
              </a:defRPr>
            </a:defPPr>
            <a:lvl1pPr algn="l">
              <a:defRPr sz="2925" b="1">
                <a:solidFill>
                  <a:srgbClr val="C77735"/>
                </a:solidFill>
                <a:latin typeface="Arial"/>
                <a:ea typeface="Arial"/>
                <a:cs typeface="Arial"/>
              </a:defRPr>
            </a:lvl1pPr>
            <a:lvl2pPr algn="l">
              <a:defRPr sz="2925" b="1">
                <a:solidFill>
                  <a:srgbClr val="C77735"/>
                </a:solidFill>
                <a:latin typeface="Arial"/>
                <a:ea typeface="Arial"/>
                <a:cs typeface="Arial"/>
              </a:defRPr>
            </a:lvl2pPr>
            <a:lvl3pPr algn="l">
              <a:defRPr sz="2925" b="1">
                <a:solidFill>
                  <a:srgbClr val="C77735"/>
                </a:solidFill>
                <a:latin typeface="Arial"/>
                <a:ea typeface="Arial"/>
                <a:cs typeface="Arial"/>
              </a:defRPr>
            </a:lvl3pPr>
            <a:lvl4pPr algn="l">
              <a:defRPr sz="2925" b="1">
                <a:solidFill>
                  <a:srgbClr val="C77735"/>
                </a:solidFill>
                <a:latin typeface="Arial"/>
                <a:ea typeface="Arial"/>
                <a:cs typeface="Arial"/>
              </a:defRPr>
            </a:lvl4pPr>
            <a:lvl5pPr algn="l">
              <a:defRPr sz="2925" b="1">
                <a:solidFill>
                  <a:srgbClr val="C77735"/>
                </a:solidFill>
                <a:latin typeface="Arial"/>
                <a:ea typeface="Arial"/>
                <a:cs typeface="Arial"/>
              </a:defRPr>
            </a:lvl5pPr>
            <a:lvl6pPr algn="l">
              <a:defRPr sz="2925" b="1">
                <a:solidFill>
                  <a:srgbClr val="C77735"/>
                </a:solidFill>
                <a:latin typeface="Arial"/>
                <a:ea typeface="Arial"/>
                <a:cs typeface="Arial"/>
              </a:defRPr>
            </a:lvl6pPr>
            <a:lvl7pPr algn="l">
              <a:defRPr sz="2925" b="1">
                <a:solidFill>
                  <a:srgbClr val="C77735"/>
                </a:solidFill>
                <a:latin typeface="Arial"/>
                <a:ea typeface="Arial"/>
                <a:cs typeface="Arial"/>
              </a:defRPr>
            </a:lvl7pPr>
            <a:lvl8pPr algn="l">
              <a:defRPr sz="2925" b="1">
                <a:solidFill>
                  <a:srgbClr val="C77735"/>
                </a:solidFill>
                <a:latin typeface="Arial"/>
                <a:ea typeface="Arial"/>
                <a:cs typeface="Arial"/>
              </a:defRPr>
            </a:lvl8pPr>
            <a:lvl9pPr algn="l">
              <a:defRPr sz="2925" b="1">
                <a:solidFill>
                  <a:srgbClr val="C77735"/>
                </a:solidFill>
                <a:latin typeface="Arial"/>
                <a:ea typeface="Arial"/>
                <a:cs typeface="Arial"/>
              </a:defRPr>
            </a:lvl9pPr>
          </a:lstStyle>
          <a:p>
            <a:pPr algn="l">
              <a:defRPr sz="2925" b="1">
                <a:solidFill>
                  <a:srgbClr val="C77735"/>
                </a:solidFill>
                <a:latin typeface="Arial"/>
                <a:ea typeface="Arial"/>
                <a:cs typeface="Arial"/>
              </a:defRPr>
            </a:pPr>
            <a:r>
              <a:rPr sz="2925" b="1">
                <a:solidFill>
                  <a:srgbClr val="C77735"/>
                </a:solidFill>
                <a:latin typeface="Arial"/>
                <a:ea typeface="Arial"/>
                <a:cs typeface="Arial"/>
              </a:rPr>
              <a:t>03</a:t>
            </a:r>
          </a:p>
        </p:txBody>
      </p:sp>
      <p:sp>
        <p:nvSpPr>
          <p:cNvPr id="10" name="text-Calibration and logical anomalie">
            <a:extLst>
              <a:ext uri="{FF2B5EF4-FFF2-40B4-BE49-F238E27FC236}">
                <a16:creationId xmlns:a16="http://schemas.microsoft.com/office/drawing/2014/main" id="{8B82AD59-D686-40E7-A710-02DD7015888B}"/>
              </a:ext>
            </a:extLst>
          </p:cNvPr>
          <p:cNvSpPr>
            <a:spLocks noGrp="1"/>
          </p:cNvSpPr>
          <p:nvPr/>
        </p:nvSpPr>
        <p:spPr>
          <a:xfrm>
            <a:off x="1685925" y="4000500"/>
            <a:ext cx="9896475" cy="800100"/>
          </a:xfrm>
          <a:prstGeom prst="rect">
            <a:avLst/>
          </a:prstGeom>
          <a:noFill/>
          <a:ln w="0">
            <a:noFill/>
          </a:ln>
        </p:spPr>
        <p:txBody>
          <a:bodyPr wrap="square" lIns="0" tIns="0" rIns="0" bIns="0" anchor="t">
            <a:noAutofit/>
          </a:bodyPr>
          <a:lstStyle>
            <a:defPPr algn="l">
              <a:defRPr sz="2550" b="1">
                <a:solidFill>
                  <a:srgbClr val="173047"/>
                </a:solidFill>
                <a:latin typeface="Arial"/>
                <a:ea typeface="Arial"/>
                <a:cs typeface="Arial"/>
              </a:defRPr>
            </a:defPPr>
            <a:lvl1pPr algn="l">
              <a:defRPr sz="2550" b="1">
                <a:solidFill>
                  <a:srgbClr val="173047"/>
                </a:solidFill>
                <a:latin typeface="Arial"/>
                <a:ea typeface="Arial"/>
                <a:cs typeface="Arial"/>
              </a:defRPr>
            </a:lvl1pPr>
            <a:lvl2pPr algn="l">
              <a:defRPr sz="2550" b="1">
                <a:solidFill>
                  <a:srgbClr val="173047"/>
                </a:solidFill>
                <a:latin typeface="Arial"/>
                <a:ea typeface="Arial"/>
                <a:cs typeface="Arial"/>
              </a:defRPr>
            </a:lvl2pPr>
            <a:lvl3pPr algn="l">
              <a:defRPr sz="2550" b="1">
                <a:solidFill>
                  <a:srgbClr val="173047"/>
                </a:solidFill>
                <a:latin typeface="Arial"/>
                <a:ea typeface="Arial"/>
                <a:cs typeface="Arial"/>
              </a:defRPr>
            </a:lvl3pPr>
            <a:lvl4pPr algn="l">
              <a:defRPr sz="2550" b="1">
                <a:solidFill>
                  <a:srgbClr val="173047"/>
                </a:solidFill>
                <a:latin typeface="Arial"/>
                <a:ea typeface="Arial"/>
                <a:cs typeface="Arial"/>
              </a:defRPr>
            </a:lvl4pPr>
            <a:lvl5pPr algn="l">
              <a:defRPr sz="2550" b="1">
                <a:solidFill>
                  <a:srgbClr val="173047"/>
                </a:solidFill>
                <a:latin typeface="Arial"/>
                <a:ea typeface="Arial"/>
                <a:cs typeface="Arial"/>
              </a:defRPr>
            </a:lvl5pPr>
            <a:lvl6pPr algn="l">
              <a:defRPr sz="2550" b="1">
                <a:solidFill>
                  <a:srgbClr val="173047"/>
                </a:solidFill>
                <a:latin typeface="Arial"/>
                <a:ea typeface="Arial"/>
                <a:cs typeface="Arial"/>
              </a:defRPr>
            </a:lvl6pPr>
            <a:lvl7pPr algn="l">
              <a:defRPr sz="2550" b="1">
                <a:solidFill>
                  <a:srgbClr val="173047"/>
                </a:solidFill>
                <a:latin typeface="Arial"/>
                <a:ea typeface="Arial"/>
                <a:cs typeface="Arial"/>
              </a:defRPr>
            </a:lvl7pPr>
            <a:lvl8pPr algn="l">
              <a:defRPr sz="2550" b="1">
                <a:solidFill>
                  <a:srgbClr val="173047"/>
                </a:solidFill>
                <a:latin typeface="Arial"/>
                <a:ea typeface="Arial"/>
                <a:cs typeface="Arial"/>
              </a:defRPr>
            </a:lvl8pPr>
            <a:lvl9pPr algn="l">
              <a:defRPr sz="2550" b="1">
                <a:solidFill>
                  <a:srgbClr val="173047"/>
                </a:solidFill>
                <a:latin typeface="Arial"/>
                <a:ea typeface="Arial"/>
                <a:cs typeface="Arial"/>
              </a:defRPr>
            </a:lvl9pPr>
          </a:lstStyle>
          <a:p>
            <a:pPr algn="l">
              <a:defRPr sz="2550" b="1">
                <a:solidFill>
                  <a:srgbClr val="173047"/>
                </a:solidFill>
                <a:latin typeface="Arial"/>
                <a:ea typeface="Arial"/>
                <a:cs typeface="Arial"/>
              </a:defRPr>
            </a:pPr>
            <a:r>
              <a:rPr sz="2550" b="1">
                <a:solidFill>
                  <a:srgbClr val="173047"/>
                </a:solidFill>
                <a:latin typeface="Arial"/>
                <a:ea typeface="Arial"/>
                <a:cs typeface="Arial"/>
              </a:rPr>
              <a:t>Calibration and logical anomalies remain challenges</a:t>
            </a:r>
          </a:p>
        </p:txBody>
      </p:sp>
      <p:sp>
        <p:nvSpPr>
          <p:cNvPr id="11" name="矩形 10">
            <a:extLst>
              <a:ext uri="{FF2B5EF4-FFF2-40B4-BE49-F238E27FC236}">
                <a16:creationId xmlns:a16="http://schemas.microsoft.com/office/drawing/2014/main" id="{55945EC2-4ED7-4CA5-903B-FB1714D1D7F9}"/>
              </a:ext>
            </a:extLst>
          </p:cNvPr>
          <p:cNvSpPr>
            <a:spLocks noGrp="1"/>
          </p:cNvSpPr>
          <p:nvPr/>
        </p:nvSpPr>
        <p:spPr>
          <a:xfrm>
            <a:off x="1685925" y="5210175"/>
            <a:ext cx="9896475" cy="9525"/>
          </a:xfrm>
          <a:prstGeom prst="rect">
            <a:avLst/>
          </a:prstGeom>
          <a:solidFill>
            <a:srgbClr val="DEE5EB"/>
          </a:solidFill>
          <a:ln w="0">
            <a:noFill/>
          </a:ln>
        </p:spPr>
        <p:txBody>
          <a:bodyPr/>
          <a:lstStyle/>
          <a:p>
            <a:endParaRPr lang="zh-CN" altLang="en-US"/>
          </a:p>
        </p:txBody>
      </p:sp>
      <p:sp>
        <p:nvSpPr>
          <p:cNvPr id="12" name="text-Next: relational modeling and br">
            <a:extLst>
              <a:ext uri="{FF2B5EF4-FFF2-40B4-BE49-F238E27FC236}">
                <a16:creationId xmlns:a16="http://schemas.microsoft.com/office/drawing/2014/main" id="{CF5C4551-40A6-450F-A49E-9760A68C4133}"/>
              </a:ext>
            </a:extLst>
          </p:cNvPr>
          <p:cNvSpPr>
            <a:spLocks noGrp="1"/>
          </p:cNvSpPr>
          <p:nvPr/>
        </p:nvSpPr>
        <p:spPr>
          <a:xfrm>
            <a:off x="1685925" y="5495925"/>
            <a:ext cx="9896475" cy="657225"/>
          </a:xfrm>
          <a:prstGeom prst="rect">
            <a:avLst/>
          </a:prstGeom>
          <a:noFill/>
          <a:ln w="0">
            <a:noFill/>
          </a:ln>
        </p:spPr>
        <p:txBody>
          <a:bodyPr wrap="square" lIns="0" tIns="0" rIns="0" bIns="0" anchor="t">
            <a:noAutofit/>
          </a:bodyPr>
          <a:lstStyle>
            <a:defPPr algn="l">
              <a:defRPr sz="2025" b="0">
                <a:solidFill>
                  <a:srgbClr val="586A79"/>
                </a:solidFill>
                <a:latin typeface="Arial"/>
                <a:ea typeface="Arial"/>
                <a:cs typeface="Arial"/>
              </a:defRPr>
            </a:defPPr>
            <a:lvl1pPr algn="l">
              <a:defRPr sz="2025" b="0">
                <a:solidFill>
                  <a:srgbClr val="586A79"/>
                </a:solidFill>
                <a:latin typeface="Arial"/>
                <a:ea typeface="Arial"/>
                <a:cs typeface="Arial"/>
              </a:defRPr>
            </a:lvl1pPr>
            <a:lvl2pPr algn="l">
              <a:defRPr sz="2025" b="0">
                <a:solidFill>
                  <a:srgbClr val="586A79"/>
                </a:solidFill>
                <a:latin typeface="Arial"/>
                <a:ea typeface="Arial"/>
                <a:cs typeface="Arial"/>
              </a:defRPr>
            </a:lvl2pPr>
            <a:lvl3pPr algn="l">
              <a:defRPr sz="2025" b="0">
                <a:solidFill>
                  <a:srgbClr val="586A79"/>
                </a:solidFill>
                <a:latin typeface="Arial"/>
                <a:ea typeface="Arial"/>
                <a:cs typeface="Arial"/>
              </a:defRPr>
            </a:lvl3pPr>
            <a:lvl4pPr algn="l">
              <a:defRPr sz="2025" b="0">
                <a:solidFill>
                  <a:srgbClr val="586A79"/>
                </a:solidFill>
                <a:latin typeface="Arial"/>
                <a:ea typeface="Arial"/>
                <a:cs typeface="Arial"/>
              </a:defRPr>
            </a:lvl4pPr>
            <a:lvl5pPr algn="l">
              <a:defRPr sz="2025" b="0">
                <a:solidFill>
                  <a:srgbClr val="586A79"/>
                </a:solidFill>
                <a:latin typeface="Arial"/>
                <a:ea typeface="Arial"/>
                <a:cs typeface="Arial"/>
              </a:defRPr>
            </a:lvl5pPr>
            <a:lvl6pPr algn="l">
              <a:defRPr sz="2025" b="0">
                <a:solidFill>
                  <a:srgbClr val="586A79"/>
                </a:solidFill>
                <a:latin typeface="Arial"/>
                <a:ea typeface="Arial"/>
                <a:cs typeface="Arial"/>
              </a:defRPr>
            </a:lvl6pPr>
            <a:lvl7pPr algn="l">
              <a:defRPr sz="2025" b="0">
                <a:solidFill>
                  <a:srgbClr val="586A79"/>
                </a:solidFill>
                <a:latin typeface="Arial"/>
                <a:ea typeface="Arial"/>
                <a:cs typeface="Arial"/>
              </a:defRPr>
            </a:lvl7pPr>
            <a:lvl8pPr algn="l">
              <a:defRPr sz="2025" b="0">
                <a:solidFill>
                  <a:srgbClr val="586A79"/>
                </a:solidFill>
                <a:latin typeface="Arial"/>
                <a:ea typeface="Arial"/>
                <a:cs typeface="Arial"/>
              </a:defRPr>
            </a:lvl8pPr>
            <a:lvl9pPr algn="l">
              <a:defRPr sz="2025" b="0">
                <a:solidFill>
                  <a:srgbClr val="586A79"/>
                </a:solidFill>
                <a:latin typeface="Arial"/>
                <a:ea typeface="Arial"/>
                <a:cs typeface="Arial"/>
              </a:defRPr>
            </a:lvl9pPr>
          </a:lstStyle>
          <a:p>
            <a:pPr algn="l">
              <a:defRPr sz="2025" b="0">
                <a:solidFill>
                  <a:srgbClr val="586A79"/>
                </a:solidFill>
                <a:latin typeface="Arial"/>
                <a:ea typeface="Arial"/>
                <a:cs typeface="Arial"/>
              </a:defRPr>
            </a:pPr>
            <a:r>
              <a:rPr sz="2025" b="0">
                <a:solidFill>
                  <a:srgbClr val="586A79"/>
                </a:solidFill>
                <a:latin typeface="Arial"/>
                <a:ea typeface="Arial"/>
                <a:cs typeface="Arial"/>
              </a:rPr>
              <a:t>Next: relational modeling and broader calibration tests</a:t>
            </a:r>
          </a:p>
        </p:txBody>
      </p:sp>
    </p:spTree>
    <p:extLst>
      <p:ext uri="{BB962C8B-B14F-4D97-AF65-F5344CB8AC3E}">
        <p14:creationId xmlns:p14="http://schemas.microsoft.com/office/powerpoint/2010/main" val="1861084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Hyperparameter Sensitivity">
            <a:extLst>
              <a:ext uri="{FF2B5EF4-FFF2-40B4-BE49-F238E27FC236}">
                <a16:creationId xmlns:a16="http://schemas.microsoft.com/office/drawing/2014/main" id="{85F189B4-65C2-43BC-9F0D-BD363F5BB21B}"/>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Hyperparameter Sensitivity</a:t>
            </a:r>
          </a:p>
        </p:txBody>
      </p:sp>
      <p:sp>
        <p:nvSpPr>
          <p:cNvPr id="2" name="矩形 1">
            <a:extLst>
              <a:ext uri="{FF2B5EF4-FFF2-40B4-BE49-F238E27FC236}">
                <a16:creationId xmlns:a16="http://schemas.microsoft.com/office/drawing/2014/main" id="{7A764025-42DE-42D4-BC67-FBCF0529379F}"/>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64C04EC3-CA98-495E-A599-8A8358A39624}"/>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C    Backup 1">
            <a:extLst>
              <a:ext uri="{FF2B5EF4-FFF2-40B4-BE49-F238E27FC236}">
                <a16:creationId xmlns:a16="http://schemas.microsoft.com/office/drawing/2014/main" id="{C981F443-6581-47B6-9163-4C28175209DA}"/>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Backup 1</a:t>
            </a:r>
          </a:p>
        </p:txBody>
      </p:sp>
      <p:sp>
        <p:nvSpPr>
          <p:cNvPr id="5" name="text-PaDiM feature dimensions">
            <a:extLst>
              <a:ext uri="{FF2B5EF4-FFF2-40B4-BE49-F238E27FC236}">
                <a16:creationId xmlns:a16="http://schemas.microsoft.com/office/drawing/2014/main" id="{6B6727EB-CC67-45E7-A108-850C5674EE1A}"/>
              </a:ext>
            </a:extLst>
          </p:cNvPr>
          <p:cNvSpPr>
            <a:spLocks noGrp="1"/>
          </p:cNvSpPr>
          <p:nvPr/>
        </p:nvSpPr>
        <p:spPr>
          <a:xfrm>
            <a:off x="609600" y="1438275"/>
            <a:ext cx="5257800" cy="361950"/>
          </a:xfrm>
          <a:prstGeom prst="rect">
            <a:avLst/>
          </a:prstGeom>
          <a:noFill/>
          <a:ln w="0">
            <a:noFill/>
          </a:ln>
        </p:spPr>
        <p:txBody>
          <a:bodyPr wrap="square" lIns="0" tIns="0" rIns="0" bIns="0" anchor="t">
            <a:noAutofit/>
          </a:bodyPr>
          <a:lstStyle>
            <a:defPPr algn="l">
              <a:defRPr sz="2025" b="1">
                <a:solidFill>
                  <a:srgbClr val="173047"/>
                </a:solidFill>
                <a:latin typeface="Arial"/>
                <a:ea typeface="Arial"/>
                <a:cs typeface="Arial"/>
              </a:defRPr>
            </a:defPPr>
            <a:lvl1pPr algn="l">
              <a:defRPr sz="2025" b="1">
                <a:solidFill>
                  <a:srgbClr val="173047"/>
                </a:solidFill>
                <a:latin typeface="Arial"/>
                <a:ea typeface="Arial"/>
                <a:cs typeface="Arial"/>
              </a:defRPr>
            </a:lvl1pPr>
            <a:lvl2pPr algn="l">
              <a:defRPr sz="2025" b="1">
                <a:solidFill>
                  <a:srgbClr val="173047"/>
                </a:solidFill>
                <a:latin typeface="Arial"/>
                <a:ea typeface="Arial"/>
                <a:cs typeface="Arial"/>
              </a:defRPr>
            </a:lvl2pPr>
            <a:lvl3pPr algn="l">
              <a:defRPr sz="2025" b="1">
                <a:solidFill>
                  <a:srgbClr val="173047"/>
                </a:solidFill>
                <a:latin typeface="Arial"/>
                <a:ea typeface="Arial"/>
                <a:cs typeface="Arial"/>
              </a:defRPr>
            </a:lvl3pPr>
            <a:lvl4pPr algn="l">
              <a:defRPr sz="2025" b="1">
                <a:solidFill>
                  <a:srgbClr val="173047"/>
                </a:solidFill>
                <a:latin typeface="Arial"/>
                <a:ea typeface="Arial"/>
                <a:cs typeface="Arial"/>
              </a:defRPr>
            </a:lvl4pPr>
            <a:lvl5pPr algn="l">
              <a:defRPr sz="2025" b="1">
                <a:solidFill>
                  <a:srgbClr val="173047"/>
                </a:solidFill>
                <a:latin typeface="Arial"/>
                <a:ea typeface="Arial"/>
                <a:cs typeface="Arial"/>
              </a:defRPr>
            </a:lvl5pPr>
            <a:lvl6pPr algn="l">
              <a:defRPr sz="2025" b="1">
                <a:solidFill>
                  <a:srgbClr val="173047"/>
                </a:solidFill>
                <a:latin typeface="Arial"/>
                <a:ea typeface="Arial"/>
                <a:cs typeface="Arial"/>
              </a:defRPr>
            </a:lvl6pPr>
            <a:lvl7pPr algn="l">
              <a:defRPr sz="2025" b="1">
                <a:solidFill>
                  <a:srgbClr val="173047"/>
                </a:solidFill>
                <a:latin typeface="Arial"/>
                <a:ea typeface="Arial"/>
                <a:cs typeface="Arial"/>
              </a:defRPr>
            </a:lvl7pPr>
            <a:lvl8pPr algn="l">
              <a:defRPr sz="2025" b="1">
                <a:solidFill>
                  <a:srgbClr val="173047"/>
                </a:solidFill>
                <a:latin typeface="Arial"/>
                <a:ea typeface="Arial"/>
                <a:cs typeface="Arial"/>
              </a:defRPr>
            </a:lvl8pPr>
            <a:lvl9pPr algn="l">
              <a:defRPr sz="2025" b="1">
                <a:solidFill>
                  <a:srgbClr val="173047"/>
                </a:solidFill>
                <a:latin typeface="Arial"/>
                <a:ea typeface="Arial"/>
                <a:cs typeface="Arial"/>
              </a:defRPr>
            </a:lvl9pPr>
          </a:lstStyle>
          <a:p>
            <a:pPr algn="l">
              <a:defRPr sz="2025" b="1">
                <a:solidFill>
                  <a:srgbClr val="173047"/>
                </a:solidFill>
                <a:latin typeface="Arial"/>
                <a:ea typeface="Arial"/>
                <a:cs typeface="Arial"/>
              </a:defRPr>
            </a:pPr>
            <a:r>
              <a:rPr sz="2025" b="1" dirty="0" err="1">
                <a:solidFill>
                  <a:srgbClr val="173047"/>
                </a:solidFill>
                <a:latin typeface="Arial"/>
                <a:ea typeface="Arial"/>
                <a:cs typeface="Arial"/>
              </a:rPr>
              <a:t>PaDiM</a:t>
            </a:r>
            <a:r>
              <a:rPr sz="2025" b="1" dirty="0">
                <a:solidFill>
                  <a:srgbClr val="173047"/>
                </a:solidFill>
                <a:latin typeface="Arial"/>
                <a:ea typeface="Arial"/>
                <a:cs typeface="Arial"/>
              </a:rPr>
              <a:t> feature dimensions</a:t>
            </a:r>
          </a:p>
        </p:txBody>
      </p:sp>
      <p:graphicFrame>
        <p:nvGraphicFramePr>
          <p:cNvPr id="6" name="Chart">
            <a:extLst>
              <a:ext uri="{FF2B5EF4-FFF2-40B4-BE49-F238E27FC236}">
                <a16:creationId xmlns:a16="http://schemas.microsoft.com/office/drawing/2014/main" id="{B882EBF5-E2DC-4C45-ABFF-D09DCCD1F5C7}"/>
              </a:ext>
            </a:extLst>
          </p:cNvPr>
          <p:cNvGraphicFramePr/>
          <p:nvPr/>
        </p:nvGraphicFramePr>
        <p:xfrm>
          <a:off x="609600" y="1981200"/>
          <a:ext cx="5257800" cy="351472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PatchCore coreset ratio">
            <a:extLst>
              <a:ext uri="{FF2B5EF4-FFF2-40B4-BE49-F238E27FC236}">
                <a16:creationId xmlns:a16="http://schemas.microsoft.com/office/drawing/2014/main" id="{EB2D2E29-AC21-469D-8607-5C9C948F1C80}"/>
              </a:ext>
            </a:extLst>
          </p:cNvPr>
          <p:cNvSpPr>
            <a:spLocks noGrp="1"/>
          </p:cNvSpPr>
          <p:nvPr/>
        </p:nvSpPr>
        <p:spPr>
          <a:xfrm>
            <a:off x="6229350" y="1438275"/>
            <a:ext cx="5257800" cy="361950"/>
          </a:xfrm>
          <a:prstGeom prst="rect">
            <a:avLst/>
          </a:prstGeom>
          <a:noFill/>
          <a:ln w="0">
            <a:noFill/>
          </a:ln>
        </p:spPr>
        <p:txBody>
          <a:bodyPr wrap="square" lIns="0" tIns="0" rIns="0" bIns="0" anchor="t">
            <a:noAutofit/>
          </a:bodyPr>
          <a:lstStyle>
            <a:defPPr algn="l">
              <a:defRPr sz="2025" b="1">
                <a:solidFill>
                  <a:srgbClr val="173047"/>
                </a:solidFill>
                <a:latin typeface="Arial"/>
                <a:ea typeface="Arial"/>
                <a:cs typeface="Arial"/>
              </a:defRPr>
            </a:defPPr>
            <a:lvl1pPr algn="l">
              <a:defRPr sz="2025" b="1">
                <a:solidFill>
                  <a:srgbClr val="173047"/>
                </a:solidFill>
                <a:latin typeface="Arial"/>
                <a:ea typeface="Arial"/>
                <a:cs typeface="Arial"/>
              </a:defRPr>
            </a:lvl1pPr>
            <a:lvl2pPr algn="l">
              <a:defRPr sz="2025" b="1">
                <a:solidFill>
                  <a:srgbClr val="173047"/>
                </a:solidFill>
                <a:latin typeface="Arial"/>
                <a:ea typeface="Arial"/>
                <a:cs typeface="Arial"/>
              </a:defRPr>
            </a:lvl2pPr>
            <a:lvl3pPr algn="l">
              <a:defRPr sz="2025" b="1">
                <a:solidFill>
                  <a:srgbClr val="173047"/>
                </a:solidFill>
                <a:latin typeface="Arial"/>
                <a:ea typeface="Arial"/>
                <a:cs typeface="Arial"/>
              </a:defRPr>
            </a:lvl3pPr>
            <a:lvl4pPr algn="l">
              <a:defRPr sz="2025" b="1">
                <a:solidFill>
                  <a:srgbClr val="173047"/>
                </a:solidFill>
                <a:latin typeface="Arial"/>
                <a:ea typeface="Arial"/>
                <a:cs typeface="Arial"/>
              </a:defRPr>
            </a:lvl4pPr>
            <a:lvl5pPr algn="l">
              <a:defRPr sz="2025" b="1">
                <a:solidFill>
                  <a:srgbClr val="173047"/>
                </a:solidFill>
                <a:latin typeface="Arial"/>
                <a:ea typeface="Arial"/>
                <a:cs typeface="Arial"/>
              </a:defRPr>
            </a:lvl5pPr>
            <a:lvl6pPr algn="l">
              <a:defRPr sz="2025" b="1">
                <a:solidFill>
                  <a:srgbClr val="173047"/>
                </a:solidFill>
                <a:latin typeface="Arial"/>
                <a:ea typeface="Arial"/>
                <a:cs typeface="Arial"/>
              </a:defRPr>
            </a:lvl6pPr>
            <a:lvl7pPr algn="l">
              <a:defRPr sz="2025" b="1">
                <a:solidFill>
                  <a:srgbClr val="173047"/>
                </a:solidFill>
                <a:latin typeface="Arial"/>
                <a:ea typeface="Arial"/>
                <a:cs typeface="Arial"/>
              </a:defRPr>
            </a:lvl7pPr>
            <a:lvl8pPr algn="l">
              <a:defRPr sz="2025" b="1">
                <a:solidFill>
                  <a:srgbClr val="173047"/>
                </a:solidFill>
                <a:latin typeface="Arial"/>
                <a:ea typeface="Arial"/>
                <a:cs typeface="Arial"/>
              </a:defRPr>
            </a:lvl8pPr>
            <a:lvl9pPr algn="l">
              <a:defRPr sz="2025" b="1">
                <a:solidFill>
                  <a:srgbClr val="173047"/>
                </a:solidFill>
                <a:latin typeface="Arial"/>
                <a:ea typeface="Arial"/>
                <a:cs typeface="Arial"/>
              </a:defRPr>
            </a:lvl9pPr>
          </a:lstStyle>
          <a:p>
            <a:pPr algn="l">
              <a:defRPr sz="2025" b="1">
                <a:solidFill>
                  <a:srgbClr val="173047"/>
                </a:solidFill>
                <a:latin typeface="Arial"/>
                <a:ea typeface="Arial"/>
                <a:cs typeface="Arial"/>
              </a:defRPr>
            </a:pPr>
            <a:r>
              <a:rPr sz="2025" b="1">
                <a:solidFill>
                  <a:srgbClr val="173047"/>
                </a:solidFill>
                <a:latin typeface="Arial"/>
                <a:ea typeface="Arial"/>
                <a:cs typeface="Arial"/>
              </a:rPr>
              <a:t>PatchCore coreset ratio</a:t>
            </a:r>
          </a:p>
        </p:txBody>
      </p:sp>
      <p:graphicFrame>
        <p:nvGraphicFramePr>
          <p:cNvPr id="8" name="Chart">
            <a:extLst>
              <a:ext uri="{FF2B5EF4-FFF2-40B4-BE49-F238E27FC236}">
                <a16:creationId xmlns:a16="http://schemas.microsoft.com/office/drawing/2014/main" id="{CCE5741F-4D3A-43FF-9BF3-C70AA352E6D9}"/>
              </a:ext>
            </a:extLst>
          </p:cNvPr>
          <p:cNvGraphicFramePr/>
          <p:nvPr/>
        </p:nvGraphicFramePr>
        <p:xfrm>
          <a:off x="6229350" y="1981200"/>
          <a:ext cx="5257800" cy="351472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Image AUROC; N = 100, seed 17 on">
            <a:extLst>
              <a:ext uri="{FF2B5EF4-FFF2-40B4-BE49-F238E27FC236}">
                <a16:creationId xmlns:a16="http://schemas.microsoft.com/office/drawing/2014/main" id="{6D48F1D3-936C-489B-AA92-2E9C7D6FA5C0}"/>
              </a:ext>
            </a:extLst>
          </p:cNvPr>
          <p:cNvSpPr>
            <a:spLocks noGrp="1"/>
          </p:cNvSpPr>
          <p:nvPr/>
        </p:nvSpPr>
        <p:spPr>
          <a:xfrm>
            <a:off x="609600" y="5819775"/>
            <a:ext cx="10972800" cy="342900"/>
          </a:xfrm>
          <a:prstGeom prst="rect">
            <a:avLst/>
          </a:prstGeom>
          <a:noFill/>
          <a:ln w="0">
            <a:noFill/>
          </a:ln>
        </p:spPr>
        <p:txBody>
          <a:bodyPr wrap="square" lIns="0" tIns="0" rIns="0" bIns="0" anchor="t">
            <a:noAutofit/>
          </a:bodyPr>
          <a:lstStyle>
            <a:defPPr algn="l">
              <a:defRPr sz="1875" b="0">
                <a:solidFill>
                  <a:srgbClr val="586A79"/>
                </a:solidFill>
                <a:latin typeface="Arial"/>
                <a:ea typeface="Arial"/>
                <a:cs typeface="Arial"/>
              </a:defRPr>
            </a:defPPr>
            <a:lvl1pPr algn="l">
              <a:defRPr sz="1875" b="0">
                <a:solidFill>
                  <a:srgbClr val="586A79"/>
                </a:solidFill>
                <a:latin typeface="Arial"/>
                <a:ea typeface="Arial"/>
                <a:cs typeface="Arial"/>
              </a:defRPr>
            </a:lvl1pPr>
            <a:lvl2pPr algn="l">
              <a:defRPr sz="1875" b="0">
                <a:solidFill>
                  <a:srgbClr val="586A79"/>
                </a:solidFill>
                <a:latin typeface="Arial"/>
                <a:ea typeface="Arial"/>
                <a:cs typeface="Arial"/>
              </a:defRPr>
            </a:lvl2pPr>
            <a:lvl3pPr algn="l">
              <a:defRPr sz="1875" b="0">
                <a:solidFill>
                  <a:srgbClr val="586A79"/>
                </a:solidFill>
                <a:latin typeface="Arial"/>
                <a:ea typeface="Arial"/>
                <a:cs typeface="Arial"/>
              </a:defRPr>
            </a:lvl3pPr>
            <a:lvl4pPr algn="l">
              <a:defRPr sz="1875" b="0">
                <a:solidFill>
                  <a:srgbClr val="586A79"/>
                </a:solidFill>
                <a:latin typeface="Arial"/>
                <a:ea typeface="Arial"/>
                <a:cs typeface="Arial"/>
              </a:defRPr>
            </a:lvl4pPr>
            <a:lvl5pPr algn="l">
              <a:defRPr sz="1875" b="0">
                <a:solidFill>
                  <a:srgbClr val="586A79"/>
                </a:solidFill>
                <a:latin typeface="Arial"/>
                <a:ea typeface="Arial"/>
                <a:cs typeface="Arial"/>
              </a:defRPr>
            </a:lvl5pPr>
            <a:lvl6pPr algn="l">
              <a:defRPr sz="1875" b="0">
                <a:solidFill>
                  <a:srgbClr val="586A79"/>
                </a:solidFill>
                <a:latin typeface="Arial"/>
                <a:ea typeface="Arial"/>
                <a:cs typeface="Arial"/>
              </a:defRPr>
            </a:lvl6pPr>
            <a:lvl7pPr algn="l">
              <a:defRPr sz="1875" b="0">
                <a:solidFill>
                  <a:srgbClr val="586A79"/>
                </a:solidFill>
                <a:latin typeface="Arial"/>
                <a:ea typeface="Arial"/>
                <a:cs typeface="Arial"/>
              </a:defRPr>
            </a:lvl7pPr>
            <a:lvl8pPr algn="l">
              <a:defRPr sz="1875" b="0">
                <a:solidFill>
                  <a:srgbClr val="586A79"/>
                </a:solidFill>
                <a:latin typeface="Arial"/>
                <a:ea typeface="Arial"/>
                <a:cs typeface="Arial"/>
              </a:defRPr>
            </a:lvl8pPr>
            <a:lvl9pPr algn="l">
              <a:defRPr sz="1875" b="0">
                <a:solidFill>
                  <a:srgbClr val="586A79"/>
                </a:solidFill>
                <a:latin typeface="Arial"/>
                <a:ea typeface="Arial"/>
                <a:cs typeface="Arial"/>
              </a:defRPr>
            </a:lvl9pPr>
          </a:lstStyle>
          <a:p>
            <a:pPr algn="l">
              <a:defRPr sz="1875" b="0">
                <a:solidFill>
                  <a:srgbClr val="586A79"/>
                </a:solidFill>
                <a:latin typeface="Arial"/>
                <a:ea typeface="Arial"/>
                <a:cs typeface="Arial"/>
              </a:defRPr>
            </a:pPr>
            <a:r>
              <a:rPr sz="1875" b="0">
                <a:solidFill>
                  <a:srgbClr val="586A79"/>
                </a:solidFill>
                <a:latin typeface="Arial"/>
                <a:ea typeface="Arial"/>
                <a:cs typeface="Arial"/>
              </a:rPr>
              <a:t>Image AUROC; N = 100, seed 17 only. Baselines are reused.</a:t>
            </a:r>
          </a:p>
        </p:txBody>
      </p:sp>
    </p:spTree>
    <p:extLst>
      <p:ext uri="{BB962C8B-B14F-4D97-AF65-F5344CB8AC3E}">
        <p14:creationId xmlns:p14="http://schemas.microsoft.com/office/powerpoint/2010/main" val="828126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Resource Costs on NVIDIA A40">
            <a:extLst>
              <a:ext uri="{FF2B5EF4-FFF2-40B4-BE49-F238E27FC236}">
                <a16:creationId xmlns:a16="http://schemas.microsoft.com/office/drawing/2014/main" id="{4F9F8305-67E1-4BEF-9EB8-6868B522873C}"/>
              </a:ext>
            </a:extLst>
          </p:cNvPr>
          <p:cNvSpPr>
            <a:spLocks noGrp="1"/>
          </p:cNvSpPr>
          <p:nvPr/>
        </p:nvSpPr>
        <p:spPr>
          <a:xfrm>
            <a:off x="609600" y="409575"/>
            <a:ext cx="10972800" cy="819150"/>
          </a:xfrm>
          <a:prstGeom prst="rect">
            <a:avLst/>
          </a:prstGeom>
          <a:noFill/>
          <a:ln w="0">
            <a:noFill/>
          </a:ln>
        </p:spPr>
        <p:txBody>
          <a:bodyPr wrap="square" lIns="0" tIns="0" rIns="0" bIns="0" anchor="t">
            <a:noAutofit/>
          </a:bodyPr>
          <a:lstStyle>
            <a:defPPr algn="l">
              <a:defRPr sz="3300" b="1">
                <a:solidFill>
                  <a:srgbClr val="173047"/>
                </a:solidFill>
                <a:latin typeface="Arial"/>
                <a:ea typeface="Arial"/>
                <a:cs typeface="Arial"/>
              </a:defRPr>
            </a:defPPr>
            <a:lvl1pPr algn="l">
              <a:defRPr sz="3300" b="1">
                <a:solidFill>
                  <a:srgbClr val="173047"/>
                </a:solidFill>
                <a:latin typeface="Arial"/>
                <a:ea typeface="Arial"/>
                <a:cs typeface="Arial"/>
              </a:defRPr>
            </a:lvl1pPr>
            <a:lvl2pPr algn="l">
              <a:defRPr sz="3300" b="1">
                <a:solidFill>
                  <a:srgbClr val="173047"/>
                </a:solidFill>
                <a:latin typeface="Arial"/>
                <a:ea typeface="Arial"/>
                <a:cs typeface="Arial"/>
              </a:defRPr>
            </a:lvl2pPr>
            <a:lvl3pPr algn="l">
              <a:defRPr sz="3300" b="1">
                <a:solidFill>
                  <a:srgbClr val="173047"/>
                </a:solidFill>
                <a:latin typeface="Arial"/>
                <a:ea typeface="Arial"/>
                <a:cs typeface="Arial"/>
              </a:defRPr>
            </a:lvl3pPr>
            <a:lvl4pPr algn="l">
              <a:defRPr sz="3300" b="1">
                <a:solidFill>
                  <a:srgbClr val="173047"/>
                </a:solidFill>
                <a:latin typeface="Arial"/>
                <a:ea typeface="Arial"/>
                <a:cs typeface="Arial"/>
              </a:defRPr>
            </a:lvl4pPr>
            <a:lvl5pPr algn="l">
              <a:defRPr sz="3300" b="1">
                <a:solidFill>
                  <a:srgbClr val="173047"/>
                </a:solidFill>
                <a:latin typeface="Arial"/>
                <a:ea typeface="Arial"/>
                <a:cs typeface="Arial"/>
              </a:defRPr>
            </a:lvl5pPr>
            <a:lvl6pPr algn="l">
              <a:defRPr sz="3300" b="1">
                <a:solidFill>
                  <a:srgbClr val="173047"/>
                </a:solidFill>
                <a:latin typeface="Arial"/>
                <a:ea typeface="Arial"/>
                <a:cs typeface="Arial"/>
              </a:defRPr>
            </a:lvl6pPr>
            <a:lvl7pPr algn="l">
              <a:defRPr sz="3300" b="1">
                <a:solidFill>
                  <a:srgbClr val="173047"/>
                </a:solidFill>
                <a:latin typeface="Arial"/>
                <a:ea typeface="Arial"/>
                <a:cs typeface="Arial"/>
              </a:defRPr>
            </a:lvl7pPr>
            <a:lvl8pPr algn="l">
              <a:defRPr sz="3300" b="1">
                <a:solidFill>
                  <a:srgbClr val="173047"/>
                </a:solidFill>
                <a:latin typeface="Arial"/>
                <a:ea typeface="Arial"/>
                <a:cs typeface="Arial"/>
              </a:defRPr>
            </a:lvl8pPr>
            <a:lvl9pPr algn="l">
              <a:defRPr sz="3300" b="1">
                <a:solidFill>
                  <a:srgbClr val="173047"/>
                </a:solidFill>
                <a:latin typeface="Arial"/>
                <a:ea typeface="Arial"/>
                <a:cs typeface="Arial"/>
              </a:defRPr>
            </a:lvl9pPr>
          </a:lstStyle>
          <a:p>
            <a:pPr algn="l">
              <a:defRPr sz="3300" b="1">
                <a:solidFill>
                  <a:srgbClr val="173047"/>
                </a:solidFill>
                <a:latin typeface="Arial"/>
                <a:ea typeface="Arial"/>
                <a:cs typeface="Arial"/>
              </a:defRPr>
            </a:pPr>
            <a:r>
              <a:rPr sz="3300" b="1">
                <a:solidFill>
                  <a:srgbClr val="173047"/>
                </a:solidFill>
                <a:latin typeface="Arial"/>
                <a:ea typeface="Arial"/>
                <a:cs typeface="Arial"/>
              </a:rPr>
              <a:t>Resource Costs on NVIDIA A40</a:t>
            </a:r>
          </a:p>
        </p:txBody>
      </p:sp>
      <p:sp>
        <p:nvSpPr>
          <p:cNvPr id="2" name="矩形 1">
            <a:extLst>
              <a:ext uri="{FF2B5EF4-FFF2-40B4-BE49-F238E27FC236}">
                <a16:creationId xmlns:a16="http://schemas.microsoft.com/office/drawing/2014/main" id="{F44D937D-FFBE-4B94-B682-D329EE878037}"/>
              </a:ext>
            </a:extLst>
          </p:cNvPr>
          <p:cNvSpPr>
            <a:spLocks noGrp="1"/>
          </p:cNvSpPr>
          <p:nvPr/>
        </p:nvSpPr>
        <p:spPr>
          <a:xfrm>
            <a:off x="609600" y="6334125"/>
            <a:ext cx="10972800" cy="9525"/>
          </a:xfrm>
          <a:prstGeom prst="rect">
            <a:avLst/>
          </a:prstGeom>
          <a:solidFill>
            <a:srgbClr val="DEE5EB"/>
          </a:solidFill>
          <a:ln w="0">
            <a:noFill/>
          </a:ln>
        </p:spPr>
        <p:txBody>
          <a:bodyPr/>
          <a:lstStyle/>
          <a:p>
            <a:endParaRPr lang="zh-CN" altLang="en-US"/>
          </a:p>
        </p:txBody>
      </p:sp>
      <p:sp>
        <p:nvSpPr>
          <p:cNvPr id="3" name="text-CA6129 Computer Vision &amp; Applica">
            <a:extLst>
              <a:ext uri="{FF2B5EF4-FFF2-40B4-BE49-F238E27FC236}">
                <a16:creationId xmlns:a16="http://schemas.microsoft.com/office/drawing/2014/main" id="{6D2F6AD5-3696-4961-8D03-400EE62E34F7}"/>
              </a:ext>
            </a:extLst>
          </p:cNvPr>
          <p:cNvSpPr>
            <a:spLocks noGrp="1"/>
          </p:cNvSpPr>
          <p:nvPr/>
        </p:nvSpPr>
        <p:spPr>
          <a:xfrm>
            <a:off x="609600" y="6467475"/>
            <a:ext cx="7429500" cy="209550"/>
          </a:xfrm>
          <a:prstGeom prst="rect">
            <a:avLst/>
          </a:prstGeom>
          <a:noFill/>
          <a:ln w="0">
            <a:noFill/>
          </a:ln>
        </p:spPr>
        <p:txBody>
          <a:bodyPr wrap="square" lIns="0" tIns="0" rIns="0" bIns="0" anchor="t">
            <a:noAutofit/>
          </a:bodyPr>
          <a:lstStyle>
            <a:defPPr algn="l">
              <a:defRPr sz="1200" b="0">
                <a:solidFill>
                  <a:srgbClr val="586A79"/>
                </a:solidFill>
                <a:latin typeface="Arial"/>
                <a:ea typeface="Arial"/>
                <a:cs typeface="Arial"/>
              </a:defRPr>
            </a:defPPr>
            <a:lvl1pPr algn="l">
              <a:defRPr sz="1200" b="0">
                <a:solidFill>
                  <a:srgbClr val="586A79"/>
                </a:solidFill>
                <a:latin typeface="Arial"/>
                <a:ea typeface="Arial"/>
                <a:cs typeface="Arial"/>
              </a:defRPr>
            </a:lvl1pPr>
            <a:lvl2pPr algn="l">
              <a:defRPr sz="1200" b="0">
                <a:solidFill>
                  <a:srgbClr val="586A79"/>
                </a:solidFill>
                <a:latin typeface="Arial"/>
                <a:ea typeface="Arial"/>
                <a:cs typeface="Arial"/>
              </a:defRPr>
            </a:lvl2pPr>
            <a:lvl3pPr algn="l">
              <a:defRPr sz="1200" b="0">
                <a:solidFill>
                  <a:srgbClr val="586A79"/>
                </a:solidFill>
                <a:latin typeface="Arial"/>
                <a:ea typeface="Arial"/>
                <a:cs typeface="Arial"/>
              </a:defRPr>
            </a:lvl3pPr>
            <a:lvl4pPr algn="l">
              <a:defRPr sz="1200" b="0">
                <a:solidFill>
                  <a:srgbClr val="586A79"/>
                </a:solidFill>
                <a:latin typeface="Arial"/>
                <a:ea typeface="Arial"/>
                <a:cs typeface="Arial"/>
              </a:defRPr>
            </a:lvl4pPr>
            <a:lvl5pPr algn="l">
              <a:defRPr sz="1200" b="0">
                <a:solidFill>
                  <a:srgbClr val="586A79"/>
                </a:solidFill>
                <a:latin typeface="Arial"/>
                <a:ea typeface="Arial"/>
                <a:cs typeface="Arial"/>
              </a:defRPr>
            </a:lvl5pPr>
            <a:lvl6pPr algn="l">
              <a:defRPr sz="1200" b="0">
                <a:solidFill>
                  <a:srgbClr val="586A79"/>
                </a:solidFill>
                <a:latin typeface="Arial"/>
                <a:ea typeface="Arial"/>
                <a:cs typeface="Arial"/>
              </a:defRPr>
            </a:lvl6pPr>
            <a:lvl7pPr algn="l">
              <a:defRPr sz="1200" b="0">
                <a:solidFill>
                  <a:srgbClr val="586A79"/>
                </a:solidFill>
                <a:latin typeface="Arial"/>
                <a:ea typeface="Arial"/>
                <a:cs typeface="Arial"/>
              </a:defRPr>
            </a:lvl7pPr>
            <a:lvl8pPr algn="l">
              <a:defRPr sz="1200" b="0">
                <a:solidFill>
                  <a:srgbClr val="586A79"/>
                </a:solidFill>
                <a:latin typeface="Arial"/>
                <a:ea typeface="Arial"/>
                <a:cs typeface="Arial"/>
              </a:defRPr>
            </a:lvl8pPr>
            <a:lvl9pPr algn="l">
              <a:defRPr sz="1200" b="0">
                <a:solidFill>
                  <a:srgbClr val="586A79"/>
                </a:solidFill>
                <a:latin typeface="Arial"/>
                <a:ea typeface="Arial"/>
                <a:cs typeface="Arial"/>
              </a:defRPr>
            </a:lvl9pPr>
          </a:lstStyle>
          <a:p>
            <a:pPr algn="l">
              <a:defRPr sz="1200" b="0">
                <a:solidFill>
                  <a:srgbClr val="586A79"/>
                </a:solidFill>
                <a:latin typeface="Arial"/>
                <a:ea typeface="Arial"/>
                <a:cs typeface="Arial"/>
              </a:defRPr>
            </a:pPr>
            <a:r>
              <a:rPr sz="1200" b="0">
                <a:solidFill>
                  <a:srgbClr val="586A79"/>
                </a:solidFill>
                <a:latin typeface="Arial"/>
                <a:ea typeface="Arial"/>
                <a:cs typeface="Arial"/>
              </a:rPr>
              <a:t>CA6129 Computer Vision &amp; Applications</a:t>
            </a:r>
          </a:p>
        </p:txBody>
      </p:sp>
      <p:sp>
        <p:nvSpPr>
          <p:cNvPr id="4" name="text-Member C    Backup 2">
            <a:extLst>
              <a:ext uri="{FF2B5EF4-FFF2-40B4-BE49-F238E27FC236}">
                <a16:creationId xmlns:a16="http://schemas.microsoft.com/office/drawing/2014/main" id="{902BD991-E0EB-40DA-8E5E-E40B68F5FCAA}"/>
              </a:ext>
            </a:extLst>
          </p:cNvPr>
          <p:cNvSpPr>
            <a:spLocks noGrp="1"/>
          </p:cNvSpPr>
          <p:nvPr/>
        </p:nvSpPr>
        <p:spPr>
          <a:xfrm>
            <a:off x="9048750" y="6467475"/>
            <a:ext cx="2533650" cy="209550"/>
          </a:xfrm>
          <a:prstGeom prst="rect">
            <a:avLst/>
          </a:prstGeom>
          <a:noFill/>
          <a:ln w="0">
            <a:noFill/>
          </a:ln>
        </p:spPr>
        <p:txBody>
          <a:bodyPr wrap="square" lIns="0" tIns="0" rIns="0" bIns="0" anchor="t">
            <a:noAutofit/>
          </a:bodyPr>
          <a:lstStyle>
            <a:defPPr algn="r">
              <a:defRPr sz="1200" b="0">
                <a:solidFill>
                  <a:srgbClr val="586A79"/>
                </a:solidFill>
                <a:latin typeface="Arial"/>
                <a:ea typeface="Arial"/>
                <a:cs typeface="Arial"/>
              </a:defRPr>
            </a:defPPr>
            <a:lvl1pPr algn="r">
              <a:defRPr sz="1200" b="0">
                <a:solidFill>
                  <a:srgbClr val="586A79"/>
                </a:solidFill>
                <a:latin typeface="Arial"/>
                <a:ea typeface="Arial"/>
                <a:cs typeface="Arial"/>
              </a:defRPr>
            </a:lvl1pPr>
            <a:lvl2pPr algn="r">
              <a:defRPr sz="1200" b="0">
                <a:solidFill>
                  <a:srgbClr val="586A79"/>
                </a:solidFill>
                <a:latin typeface="Arial"/>
                <a:ea typeface="Arial"/>
                <a:cs typeface="Arial"/>
              </a:defRPr>
            </a:lvl2pPr>
            <a:lvl3pPr algn="r">
              <a:defRPr sz="1200" b="0">
                <a:solidFill>
                  <a:srgbClr val="586A79"/>
                </a:solidFill>
                <a:latin typeface="Arial"/>
                <a:ea typeface="Arial"/>
                <a:cs typeface="Arial"/>
              </a:defRPr>
            </a:lvl3pPr>
            <a:lvl4pPr algn="r">
              <a:defRPr sz="1200" b="0">
                <a:solidFill>
                  <a:srgbClr val="586A79"/>
                </a:solidFill>
                <a:latin typeface="Arial"/>
                <a:ea typeface="Arial"/>
                <a:cs typeface="Arial"/>
              </a:defRPr>
            </a:lvl4pPr>
            <a:lvl5pPr algn="r">
              <a:defRPr sz="1200" b="0">
                <a:solidFill>
                  <a:srgbClr val="586A79"/>
                </a:solidFill>
                <a:latin typeface="Arial"/>
                <a:ea typeface="Arial"/>
                <a:cs typeface="Arial"/>
              </a:defRPr>
            </a:lvl5pPr>
            <a:lvl6pPr algn="r">
              <a:defRPr sz="1200" b="0">
                <a:solidFill>
                  <a:srgbClr val="586A79"/>
                </a:solidFill>
                <a:latin typeface="Arial"/>
                <a:ea typeface="Arial"/>
                <a:cs typeface="Arial"/>
              </a:defRPr>
            </a:lvl6pPr>
            <a:lvl7pPr algn="r">
              <a:defRPr sz="1200" b="0">
                <a:solidFill>
                  <a:srgbClr val="586A79"/>
                </a:solidFill>
                <a:latin typeface="Arial"/>
                <a:ea typeface="Arial"/>
                <a:cs typeface="Arial"/>
              </a:defRPr>
            </a:lvl7pPr>
            <a:lvl8pPr algn="r">
              <a:defRPr sz="1200" b="0">
                <a:solidFill>
                  <a:srgbClr val="586A79"/>
                </a:solidFill>
                <a:latin typeface="Arial"/>
                <a:ea typeface="Arial"/>
                <a:cs typeface="Arial"/>
              </a:defRPr>
            </a:lvl8pPr>
            <a:lvl9pPr algn="r">
              <a:defRPr sz="1200" b="0">
                <a:solidFill>
                  <a:srgbClr val="586A79"/>
                </a:solidFill>
                <a:latin typeface="Arial"/>
                <a:ea typeface="Arial"/>
                <a:cs typeface="Arial"/>
              </a:defRPr>
            </a:lvl9pPr>
          </a:lstStyle>
          <a:p>
            <a:pPr algn="r">
              <a:defRPr sz="1200" b="0">
                <a:solidFill>
                  <a:srgbClr val="586A79"/>
                </a:solidFill>
                <a:latin typeface="Arial"/>
                <a:ea typeface="Arial"/>
                <a:cs typeface="Arial"/>
              </a:defRPr>
            </a:pPr>
            <a:r>
              <a:rPr sz="1200" b="0" dirty="0">
                <a:solidFill>
                  <a:srgbClr val="586A79"/>
                </a:solidFill>
                <a:latin typeface="Arial"/>
                <a:ea typeface="Arial"/>
                <a:cs typeface="Arial"/>
              </a:rPr>
              <a:t>Backup 2</a:t>
            </a:r>
          </a:p>
        </p:txBody>
      </p:sp>
      <p:graphicFrame>
        <p:nvGraphicFramePr>
          <p:cNvPr id="5" name="表格 4">
            <a:extLst>
              <a:ext uri="{FF2B5EF4-FFF2-40B4-BE49-F238E27FC236}">
                <a16:creationId xmlns:a16="http://schemas.microsoft.com/office/drawing/2014/main" id="{278FE39B-D722-4622-BA65-B3AFB931DEA5}"/>
              </a:ext>
            </a:extLst>
          </p:cNvPr>
          <p:cNvGraphicFramePr/>
          <p:nvPr/>
        </p:nvGraphicFramePr>
        <p:xfrm>
          <a:off x="609600" y="1866900"/>
          <a:ext cx="10972800" cy="2409825"/>
        </p:xfrm>
        <a:graphic>
          <a:graphicData uri="http://schemas.openxmlformats.org/drawingml/2006/table">
            <a:tbl>
              <a:tblPr/>
              <a:tblGrid>
                <a:gridCol w="24193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gridCol w="3086100">
                  <a:extLst>
                    <a:ext uri="{9D8B030D-6E8A-4147-A177-3AD203B41FA5}">
                      <a16:colId xmlns:a16="http://schemas.microsoft.com/office/drawing/2014/main" val="20003"/>
                    </a:ext>
                  </a:extLst>
                </a:gridCol>
              </a:tblGrid>
              <a:tr h="803275">
                <a:tc>
                  <a:txBody>
                    <a:bodyPr/>
                    <a:lstStyle/>
                    <a:p>
                      <a:pPr algn="l"/>
                      <a:r>
                        <a:rPr sz="1875" b="1">
                          <a:solidFill>
                            <a:srgbClr val="173047"/>
                          </a:solidFill>
                          <a:latin typeface="Arial"/>
                          <a:ea typeface="Arial"/>
                          <a:cs typeface="Arial"/>
                        </a:rPr>
                        <a:t>Method</a:t>
                      </a:r>
                    </a:p>
                  </a:txBody>
                  <a:tcPr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F3F6F8"/>
                    </a:solidFill>
                  </a:tcPr>
                </a:tc>
                <a:tc>
                  <a:txBody>
                    <a:bodyPr/>
                    <a:lstStyle/>
                    <a:p>
                      <a:pPr algn="ctr"/>
                      <a:r>
                        <a:rPr sz="1875" b="1">
                          <a:solidFill>
                            <a:srgbClr val="173047"/>
                          </a:solidFill>
                          <a:latin typeface="Arial"/>
                          <a:ea typeface="Arial"/>
                          <a:cs typeface="Arial"/>
                        </a:rPr>
                        <a:t>Fit time</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3F6F8"/>
                    </a:solidFill>
                  </a:tcPr>
                </a:tc>
                <a:tc>
                  <a:txBody>
                    <a:bodyPr/>
                    <a:lstStyle/>
                    <a:p>
                      <a:pPr algn="ctr"/>
                      <a:r>
                        <a:rPr sz="1875" b="1">
                          <a:solidFill>
                            <a:srgbClr val="173047"/>
                          </a:solidFill>
                          <a:latin typeface="Arial"/>
                          <a:ea typeface="Arial"/>
                          <a:cs typeface="Arial"/>
                        </a:rPr>
                        <a:t>Cached prediction</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3F6F8"/>
                    </a:solidFill>
                  </a:tcPr>
                </a:tc>
                <a:tc>
                  <a:txBody>
                    <a:bodyPr/>
                    <a:lstStyle/>
                    <a:p>
                      <a:pPr algn="ctr"/>
                      <a:r>
                        <a:rPr sz="1875" b="1">
                          <a:solidFill>
                            <a:srgbClr val="173047"/>
                          </a:solidFill>
                          <a:latin typeface="Arial"/>
                          <a:ea typeface="Arial"/>
                          <a:cs typeface="Arial"/>
                        </a:rPr>
                        <a:t>Model tensors</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3F6F8"/>
                    </a:solidFill>
                  </a:tcPr>
                </a:tc>
                <a:extLst>
                  <a:ext uri="{0D108BD9-81ED-4DB2-BD59-A6C34878D82A}">
                    <a16:rowId xmlns:a16="http://schemas.microsoft.com/office/drawing/2014/main" val="10000"/>
                  </a:ext>
                </a:extLst>
              </a:tr>
              <a:tr h="803275">
                <a:tc>
                  <a:txBody>
                    <a:bodyPr/>
                    <a:lstStyle/>
                    <a:p>
                      <a:pPr algn="l"/>
                      <a:r>
                        <a:rPr sz="2100" b="0">
                          <a:solidFill>
                            <a:srgbClr val="173047"/>
                          </a:solidFill>
                          <a:latin typeface="Arial"/>
                          <a:ea typeface="Arial"/>
                          <a:cs typeface="Arial"/>
                        </a:rPr>
                        <a:t>PaDiM</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00" b="0">
                          <a:solidFill>
                            <a:srgbClr val="173047"/>
                          </a:solidFill>
                          <a:latin typeface="Arial"/>
                          <a:ea typeface="Arial"/>
                          <a:cs typeface="Arial"/>
                        </a:rPr>
                        <a:t>0.27 s</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00" b="0">
                          <a:solidFill>
                            <a:srgbClr val="173047"/>
                          </a:solidFill>
                          <a:latin typeface="Arial"/>
                          <a:ea typeface="Arial"/>
                          <a:cs typeface="Arial"/>
                        </a:rPr>
                        <a:t>7.33 ms/image</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00" b="0">
                          <a:solidFill>
                            <a:srgbClr val="173047"/>
                          </a:solidFill>
                          <a:latin typeface="Arial"/>
                          <a:ea typeface="Arial"/>
                          <a:cs typeface="Arial"/>
                        </a:rPr>
                        <a:t>157.81 MiB</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1"/>
                  </a:ext>
                </a:extLst>
              </a:tr>
              <a:tr h="803275">
                <a:tc>
                  <a:txBody>
                    <a:bodyPr/>
                    <a:lstStyle/>
                    <a:p>
                      <a:pPr algn="l"/>
                      <a:r>
                        <a:rPr sz="2100" b="0">
                          <a:solidFill>
                            <a:srgbClr val="173047"/>
                          </a:solidFill>
                          <a:latin typeface="Arial"/>
                          <a:ea typeface="Arial"/>
                          <a:cs typeface="Arial"/>
                        </a:rPr>
                        <a:t>PatchCore</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00" b="0">
                          <a:solidFill>
                            <a:srgbClr val="173047"/>
                          </a:solidFill>
                          <a:latin typeface="Arial"/>
                          <a:ea typeface="Arial"/>
                          <a:cs typeface="Arial"/>
                        </a:rPr>
                        <a:t>10.83 s</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00" b="0">
                          <a:solidFill>
                            <a:srgbClr val="173047"/>
                          </a:solidFill>
                          <a:latin typeface="Arial"/>
                          <a:ea typeface="Arial"/>
                          <a:cs typeface="Arial"/>
                        </a:rPr>
                        <a:t>19.06 ms/image</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ctr"/>
                      <a:r>
                        <a:rPr sz="2100" b="0">
                          <a:solidFill>
                            <a:srgbClr val="173047"/>
                          </a:solidFill>
                          <a:latin typeface="Arial"/>
                          <a:ea typeface="Arial"/>
                          <a:cs typeface="Arial"/>
                        </a:rPr>
                        <a:t>7.50 MiB</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6" name="text-Prediction costs exclude extract">
            <a:extLst>
              <a:ext uri="{FF2B5EF4-FFF2-40B4-BE49-F238E27FC236}">
                <a16:creationId xmlns:a16="http://schemas.microsoft.com/office/drawing/2014/main" id="{000295F3-2BBF-4BCC-8395-B22DB390A199}"/>
              </a:ext>
            </a:extLst>
          </p:cNvPr>
          <p:cNvSpPr>
            <a:spLocks noGrp="1"/>
          </p:cNvSpPr>
          <p:nvPr/>
        </p:nvSpPr>
        <p:spPr>
          <a:xfrm>
            <a:off x="609600" y="4667250"/>
            <a:ext cx="10972800" cy="762000"/>
          </a:xfrm>
          <a:prstGeom prst="rect">
            <a:avLst/>
          </a:prstGeom>
          <a:noFill/>
          <a:ln w="0">
            <a:noFill/>
          </a:ln>
        </p:spPr>
        <p:txBody>
          <a:bodyPr wrap="square" lIns="0" tIns="0" rIns="0" bIns="0" anchor="t">
            <a:noAutofit/>
          </a:bodyPr>
          <a:lstStyle>
            <a:defPPr algn="l">
              <a:defRPr sz="2100" b="1">
                <a:solidFill>
                  <a:srgbClr val="173047"/>
                </a:solidFill>
                <a:latin typeface="Arial"/>
                <a:ea typeface="Arial"/>
                <a:cs typeface="Arial"/>
              </a:defRPr>
            </a:defPPr>
            <a:lvl1pPr algn="l">
              <a:defRPr sz="2100" b="1">
                <a:solidFill>
                  <a:srgbClr val="173047"/>
                </a:solidFill>
                <a:latin typeface="Arial"/>
                <a:ea typeface="Arial"/>
                <a:cs typeface="Arial"/>
              </a:defRPr>
            </a:lvl1pPr>
            <a:lvl2pPr algn="l">
              <a:defRPr sz="2100" b="1">
                <a:solidFill>
                  <a:srgbClr val="173047"/>
                </a:solidFill>
                <a:latin typeface="Arial"/>
                <a:ea typeface="Arial"/>
                <a:cs typeface="Arial"/>
              </a:defRPr>
            </a:lvl2pPr>
            <a:lvl3pPr algn="l">
              <a:defRPr sz="2100" b="1">
                <a:solidFill>
                  <a:srgbClr val="173047"/>
                </a:solidFill>
                <a:latin typeface="Arial"/>
                <a:ea typeface="Arial"/>
                <a:cs typeface="Arial"/>
              </a:defRPr>
            </a:lvl3pPr>
            <a:lvl4pPr algn="l">
              <a:defRPr sz="2100" b="1">
                <a:solidFill>
                  <a:srgbClr val="173047"/>
                </a:solidFill>
                <a:latin typeface="Arial"/>
                <a:ea typeface="Arial"/>
                <a:cs typeface="Arial"/>
              </a:defRPr>
            </a:lvl4pPr>
            <a:lvl5pPr algn="l">
              <a:defRPr sz="2100" b="1">
                <a:solidFill>
                  <a:srgbClr val="173047"/>
                </a:solidFill>
                <a:latin typeface="Arial"/>
                <a:ea typeface="Arial"/>
                <a:cs typeface="Arial"/>
              </a:defRPr>
            </a:lvl5pPr>
            <a:lvl6pPr algn="l">
              <a:defRPr sz="2100" b="1">
                <a:solidFill>
                  <a:srgbClr val="173047"/>
                </a:solidFill>
                <a:latin typeface="Arial"/>
                <a:ea typeface="Arial"/>
                <a:cs typeface="Arial"/>
              </a:defRPr>
            </a:lvl6pPr>
            <a:lvl7pPr algn="l">
              <a:defRPr sz="2100" b="1">
                <a:solidFill>
                  <a:srgbClr val="173047"/>
                </a:solidFill>
                <a:latin typeface="Arial"/>
                <a:ea typeface="Arial"/>
                <a:cs typeface="Arial"/>
              </a:defRPr>
            </a:lvl7pPr>
            <a:lvl8pPr algn="l">
              <a:defRPr sz="2100" b="1">
                <a:solidFill>
                  <a:srgbClr val="173047"/>
                </a:solidFill>
                <a:latin typeface="Arial"/>
                <a:ea typeface="Arial"/>
                <a:cs typeface="Arial"/>
              </a:defRPr>
            </a:lvl8pPr>
            <a:lvl9pPr algn="l">
              <a:defRPr sz="2100" b="1">
                <a:solidFill>
                  <a:srgbClr val="173047"/>
                </a:solidFill>
                <a:latin typeface="Arial"/>
                <a:ea typeface="Arial"/>
                <a:cs typeface="Arial"/>
              </a:defRPr>
            </a:lvl9pPr>
          </a:lstStyle>
          <a:p>
            <a:pPr algn="l">
              <a:defRPr sz="2100" b="1">
                <a:solidFill>
                  <a:srgbClr val="173047"/>
                </a:solidFill>
                <a:latin typeface="Arial"/>
                <a:ea typeface="Arial"/>
                <a:cs typeface="Arial"/>
              </a:defRPr>
            </a:pPr>
            <a:r>
              <a:rPr sz="2100" b="1">
                <a:solidFill>
                  <a:srgbClr val="173047"/>
                </a:solidFill>
                <a:latin typeface="Arial"/>
                <a:ea typeface="Arial"/>
                <a:cs typeface="Arial"/>
              </a:rPr>
              <a:t>Prediction costs exclude extraction, feature I/O,</a:t>
            </a:r>
          </a:p>
          <a:p>
            <a:pPr algn="l">
              <a:defRPr sz="2100" b="1">
                <a:solidFill>
                  <a:srgbClr val="173047"/>
                </a:solidFill>
                <a:latin typeface="Arial"/>
                <a:ea typeface="Arial"/>
                <a:cs typeface="Arial"/>
              </a:defRPr>
            </a:pPr>
            <a:r>
              <a:rPr sz="2100" b="1">
                <a:solidFill>
                  <a:srgbClr val="173047"/>
                </a:solidFill>
                <a:latin typeface="Arial"/>
                <a:ea typeface="Arial"/>
                <a:cs typeface="Arial"/>
              </a:rPr>
              <a:t>warm-up and readback</a:t>
            </a:r>
          </a:p>
        </p:txBody>
      </p:sp>
      <p:sp>
        <p:nvSpPr>
          <p:cNvPr id="7" name="text-Batch 1, 20 warm-ups. Means over">
            <a:extLst>
              <a:ext uri="{FF2B5EF4-FFF2-40B4-BE49-F238E27FC236}">
                <a16:creationId xmlns:a16="http://schemas.microsoft.com/office/drawing/2014/main" id="{9FCDE825-C81F-45EE-81D7-E6BBCEECD075}"/>
              </a:ext>
            </a:extLst>
          </p:cNvPr>
          <p:cNvSpPr>
            <a:spLocks noGrp="1"/>
          </p:cNvSpPr>
          <p:nvPr/>
        </p:nvSpPr>
        <p:spPr>
          <a:xfrm>
            <a:off x="609600" y="5543550"/>
            <a:ext cx="10972800" cy="609600"/>
          </a:xfrm>
          <a:prstGeom prst="rect">
            <a:avLst/>
          </a:prstGeom>
          <a:noFill/>
          <a:ln w="0">
            <a:noFill/>
          </a:ln>
        </p:spPr>
        <p:txBody>
          <a:bodyPr wrap="square" lIns="0" tIns="0" rIns="0" bIns="0" anchor="t">
            <a:noAutofit/>
          </a:bodyPr>
          <a:lstStyle>
            <a:defPPr algn="l">
              <a:defRPr sz="1800" b="0">
                <a:solidFill>
                  <a:srgbClr val="586A79"/>
                </a:solidFill>
                <a:latin typeface="Arial"/>
                <a:ea typeface="Arial"/>
                <a:cs typeface="Arial"/>
              </a:defRPr>
            </a:defPPr>
            <a:lvl1pPr algn="l">
              <a:defRPr sz="1800" b="0">
                <a:solidFill>
                  <a:srgbClr val="586A79"/>
                </a:solidFill>
                <a:latin typeface="Arial"/>
                <a:ea typeface="Arial"/>
                <a:cs typeface="Arial"/>
              </a:defRPr>
            </a:lvl1pPr>
            <a:lvl2pPr algn="l">
              <a:defRPr sz="1800" b="0">
                <a:solidFill>
                  <a:srgbClr val="586A79"/>
                </a:solidFill>
                <a:latin typeface="Arial"/>
                <a:ea typeface="Arial"/>
                <a:cs typeface="Arial"/>
              </a:defRPr>
            </a:lvl2pPr>
            <a:lvl3pPr algn="l">
              <a:defRPr sz="1800" b="0">
                <a:solidFill>
                  <a:srgbClr val="586A79"/>
                </a:solidFill>
                <a:latin typeface="Arial"/>
                <a:ea typeface="Arial"/>
                <a:cs typeface="Arial"/>
              </a:defRPr>
            </a:lvl3pPr>
            <a:lvl4pPr algn="l">
              <a:defRPr sz="1800" b="0">
                <a:solidFill>
                  <a:srgbClr val="586A79"/>
                </a:solidFill>
                <a:latin typeface="Arial"/>
                <a:ea typeface="Arial"/>
                <a:cs typeface="Arial"/>
              </a:defRPr>
            </a:lvl4pPr>
            <a:lvl5pPr algn="l">
              <a:defRPr sz="1800" b="0">
                <a:solidFill>
                  <a:srgbClr val="586A79"/>
                </a:solidFill>
                <a:latin typeface="Arial"/>
                <a:ea typeface="Arial"/>
                <a:cs typeface="Arial"/>
              </a:defRPr>
            </a:lvl5pPr>
            <a:lvl6pPr algn="l">
              <a:defRPr sz="1800" b="0">
                <a:solidFill>
                  <a:srgbClr val="586A79"/>
                </a:solidFill>
                <a:latin typeface="Arial"/>
                <a:ea typeface="Arial"/>
                <a:cs typeface="Arial"/>
              </a:defRPr>
            </a:lvl6pPr>
            <a:lvl7pPr algn="l">
              <a:defRPr sz="1800" b="0">
                <a:solidFill>
                  <a:srgbClr val="586A79"/>
                </a:solidFill>
                <a:latin typeface="Arial"/>
                <a:ea typeface="Arial"/>
                <a:cs typeface="Arial"/>
              </a:defRPr>
            </a:lvl7pPr>
            <a:lvl8pPr algn="l">
              <a:defRPr sz="1800" b="0">
                <a:solidFill>
                  <a:srgbClr val="586A79"/>
                </a:solidFill>
                <a:latin typeface="Arial"/>
                <a:ea typeface="Arial"/>
                <a:cs typeface="Arial"/>
              </a:defRPr>
            </a:lvl8pPr>
            <a:lvl9pPr algn="l">
              <a:defRPr sz="1800" b="0">
                <a:solidFill>
                  <a:srgbClr val="586A79"/>
                </a:solidFill>
                <a:latin typeface="Arial"/>
                <a:ea typeface="Arial"/>
                <a:cs typeface="Arial"/>
              </a:defRPr>
            </a:lvl9pPr>
          </a:lstStyle>
          <a:p>
            <a:pPr algn="l">
              <a:defRPr sz="1800" b="0">
                <a:solidFill>
                  <a:srgbClr val="586A79"/>
                </a:solidFill>
                <a:latin typeface="Arial"/>
                <a:ea typeface="Arial"/>
                <a:cs typeface="Arial"/>
              </a:defRPr>
            </a:pPr>
            <a:r>
              <a:rPr sz="1800" b="0">
                <a:solidFill>
                  <a:srgbClr val="586A79"/>
                </a:solidFill>
                <a:latin typeface="Arial"/>
                <a:ea typeface="Arial"/>
                <a:cs typeface="Arial"/>
              </a:rPr>
              <a:t>Batch 1, 20 warm-ups. Means over six categories × three seeds.</a:t>
            </a:r>
          </a:p>
          <a:p>
            <a:pPr algn="l">
              <a:defRPr sz="1800" b="0">
                <a:solidFill>
                  <a:srgbClr val="586A79"/>
                </a:solidFill>
                <a:latin typeface="Arial"/>
                <a:ea typeface="Arial"/>
                <a:cs typeface="Arial"/>
              </a:defRPr>
            </a:pPr>
            <a:r>
              <a:rPr sz="1800" b="0">
                <a:solidFill>
                  <a:srgbClr val="586A79"/>
                </a:solidFill>
                <a:latin typeface="Arial"/>
                <a:ea typeface="Arial"/>
                <a:cs typeface="Arial"/>
              </a:rPr>
              <a:t>Tensor estimates exclude Python metadata and are not checkpoint sizes.</a:t>
            </a:r>
          </a:p>
        </p:txBody>
      </p:sp>
    </p:spTree>
    <p:extLst>
      <p:ext uri="{BB962C8B-B14F-4D97-AF65-F5344CB8AC3E}">
        <p14:creationId xmlns:p14="http://schemas.microsoft.com/office/powerpoint/2010/main" val="20880318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1543</Words>
  <Application>Microsoft Office PowerPoint</Application>
  <DocSecurity>0</DocSecurity>
  <PresentationFormat>宽屏</PresentationFormat>
  <Paragraphs>188</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#ZHANG CHEN#</cp:lastModifiedBy>
  <cp:revision>3</cp:revision>
  <dcterms:created xsi:type="dcterms:W3CDTF">2026-10-19T19:30:04Z</dcterms:created>
  <dcterms:modified xsi:type="dcterms:W3CDTF">2026-10-20T09:16:51Z</dcterms:modified>
</cp:coreProperties>
</file>